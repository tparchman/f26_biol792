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9" r:id="rId3"/>
    <p:sldId id="301" r:id="rId4"/>
    <p:sldId id="300" r:id="rId5"/>
    <p:sldId id="257" r:id="rId6"/>
    <p:sldId id="260" r:id="rId7"/>
    <p:sldId id="259" r:id="rId8"/>
    <p:sldId id="310" r:id="rId9"/>
    <p:sldId id="321" r:id="rId10"/>
    <p:sldId id="268" r:id="rId11"/>
    <p:sldId id="330" r:id="rId12"/>
    <p:sldId id="311" r:id="rId13"/>
    <p:sldId id="312" r:id="rId14"/>
    <p:sldId id="313" r:id="rId15"/>
    <p:sldId id="314" r:id="rId16"/>
    <p:sldId id="315" r:id="rId17"/>
    <p:sldId id="322" r:id="rId18"/>
    <p:sldId id="317" r:id="rId19"/>
    <p:sldId id="323" r:id="rId20"/>
    <p:sldId id="324" r:id="rId21"/>
    <p:sldId id="325" r:id="rId22"/>
    <p:sldId id="318" r:id="rId23"/>
    <p:sldId id="320" r:id="rId24"/>
    <p:sldId id="326" r:id="rId25"/>
    <p:sldId id="319" r:id="rId26"/>
    <p:sldId id="32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1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CAA56-48F1-B647-9950-02C2DC558F3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E56A80-5CDB-FF45-B68B-53CB8D9DA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77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895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256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87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64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84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513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530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14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034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84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335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5856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12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274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9F8F-75C1-E84F-B51D-F40A696125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2543-C7B8-244A-8EB3-3599ED9E5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B27F7-D0FD-1F40-9BE0-0AAD0A01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73332-EF24-5847-B448-67C5C2A8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01FAB-0417-AE42-9658-AE6643F7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298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3C018-B302-CD43-80E4-CED2D86F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D7201-1978-AB41-AA91-30AEFFF84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662B2-A96C-BC4F-8653-D6C6B472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54A31-367D-BA4C-A8CE-87C4C067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5671-1BBD-2D4C-A138-998A296F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84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2A006-441B-CC4C-B538-DBA62AAC6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C8FDA-1D7F-E74E-A825-FF0F82B07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AB8310-D89F-8D49-806F-B31D9B075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FB21E-DFFB-1D4C-9415-AF1A879E7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6EC99-08D1-074B-B573-592EFB1AC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8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1561B-A927-5C4D-A19A-53DB021D4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86ACA-52E0-9649-A64A-AD8E248655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1FA6B-18BB-F64C-A9CD-47C8D178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225F6-AADD-4443-B18C-F17D2CB24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30BCA-04E8-8347-921E-4EB68FAE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EE31-5717-F24A-AB3A-A4BABCA25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179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04116-6046-F440-AD9D-E2F16CD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A5956-0D32-534D-A089-9E60B5487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D5696-DCE9-4B43-9F81-A987A299B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84BB03-9BD5-1145-9222-8D57C8E1C4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DE9178-F7BE-A744-8E59-4DF44153A5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836B0C-785D-5B41-B6F7-95DAD8F6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75C1AC-F0B0-6043-8791-154D6F70E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5DBBFC-4D2A-824F-B199-B6F46B5C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010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564D2-E662-1C44-871A-BBD7BD0F6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199C7B-D341-C24E-BB03-4F7C01D59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0CCCE-79C9-7A48-86AC-40CD3805E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62B983-4C46-AB4E-850C-B95E466E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02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30E3A-B26C-3942-8C5F-D0F82810A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72F0DA-0B66-8A43-9E66-214DB4CC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2F0FC-6AA2-9D4F-9FEA-5CBBA7FE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377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C90E9-5AE3-9C46-B930-40BBD94E4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CA14A-3292-894E-B957-FE3C7D5C8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61644-5E32-C646-926C-A939E43CB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F8520D-3382-3B41-B1FC-1B10D0CD8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2BC6-15E8-F64B-B39C-B1FA32CC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2CF2B-51FD-4A46-8B9B-A48B45443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78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96399-934F-4945-AF43-645395E5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38F61A-D8FF-AB4E-A0F5-A0D6494AE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A02222-0791-5F4D-8C5B-3B94458FB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9103-9956-FF45-80B8-8BA059DB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C585E-9192-E748-8C90-57C3ED58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B02BD-989C-3E44-B60C-BDED34C3A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08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1BA-6A29-5147-B026-1252E0D2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8D677-40CF-4F4C-A9C1-991230BDD0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25C8A-9E78-B24A-AA9A-D2544FF5C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D6A61-9A0D-9247-9589-D41754732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C8FC6-4227-DD48-A96A-3A979F898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070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12F670-5105-9B45-AF85-EAE7E8FC9F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F20EB-4119-EE44-95AB-6A6D32236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128AC-579F-9C44-9E3A-5EFA26E7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8B6F-BA06-714C-9193-47CCD4FF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7366-BF89-FD45-A35C-032F2BA3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67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9B4727-1F07-084C-AEA4-3324292F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89B84-14AE-CB4A-8AD2-9F0D5425C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F4F2-36F9-DD40-93A5-1611343B92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B48B2-EBF4-394E-A004-5280E230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1ED1A-84B6-974E-91D2-CB46B08AC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23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forbiologists.com/introduc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7938392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</a:t>
            </a:r>
            <a:r>
              <a:rPr lang="en-US" sz="2600" dirty="0">
                <a:latin typeface="Helvetica Light" panose="020B0403020202020204" pitchFamily="34" charset="0"/>
              </a:rPr>
              <a:t>Chapter 7: conceptual framework of programming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</a:t>
            </a:r>
            <a:r>
              <a:rPr lang="en-US" sz="2600" dirty="0">
                <a:latin typeface="Helvetica Light" panose="020B0403020202020204" pitchFamily="34" charset="0"/>
              </a:rPr>
              <a:t>Why Python?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 </a:t>
            </a: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Making sure you have python 3 installed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</a:t>
            </a:r>
            <a:r>
              <a:rPr lang="en-US" sz="2600" dirty="0">
                <a:latin typeface="Helvetica Light" panose="020B0403020202020204" pitchFamily="34" charset="0"/>
              </a:rPr>
              <a:t>First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46546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84839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64385" y="1126044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a. Lets work on the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file from last week.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write the 1st, 3rd,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 from that file to another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$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{'print $1, $3, $5'}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FDE10-E745-8F46-A00C-41F947B2980E}"/>
              </a:ext>
            </a:extLst>
          </p:cNvPr>
          <p:cNvSpPr txBox="1"/>
          <p:nvPr/>
        </p:nvSpPr>
        <p:spPr>
          <a:xfrm>
            <a:off x="3857246" y="210879"/>
            <a:ext cx="4370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From unix_assignment4: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C73CEE-A315-C849-A416-4C799FA367FC}"/>
              </a:ext>
            </a:extLst>
          </p:cNvPr>
          <p:cNvSpPr/>
          <p:nvPr/>
        </p:nvSpPr>
        <p:spPr>
          <a:xfrm>
            <a:off x="964385" y="2995316"/>
            <a:ext cx="1018916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b. The 4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columns of that file represent the starting and ending location on a chromosome of the annotated sequences represented in this file. Write out the first three columns of this file and the LENGTH of each gene to an output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awk {'print $1, $2, $3, $5 - $4'}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&gt;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info_</a:t>
            </a:r>
            <a:r>
              <a:rPr lang="en-US" sz="2200" b="1" err="1">
                <a:latin typeface="Calibri Light" panose="020F0302020204030204" pitchFamily="34" charset="0"/>
                <a:cs typeface="Calibri Light" panose="020F0302020204030204" pitchFamily="34" charset="0"/>
              </a:rPr>
              <a:t>length</a:t>
            </a:r>
            <a:r>
              <a:rPr lang="en-US" sz="2200" b="1">
                <a:latin typeface="Calibri Light" panose="020F0302020204030204" pitchFamily="34" charset="0"/>
                <a:cs typeface="Calibri Light" panose="020F0302020204030204" pitchFamily="34" charset="0"/>
              </a:rPr>
              <a:t>_yeast.txt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D51D8-73CA-A24C-A2E0-2F1754FFDBB4}"/>
              </a:ext>
            </a:extLst>
          </p:cNvPr>
          <p:cNvSpPr/>
          <p:nvPr/>
        </p:nvSpPr>
        <p:spPr>
          <a:xfrm>
            <a:off x="964385" y="4864588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c. Now, lets say we want to do the same thing as above, but only for sequences that are longer than 400 bases in length.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extract that information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{'if ($5 - $4 &gt; 400) print $1, $2, $3, $5 - $4 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83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ign with white text&#10;&#10;Description automatically generated">
            <a:extLst>
              <a:ext uri="{FF2B5EF4-FFF2-40B4-BE49-F238E27FC236}">
                <a16:creationId xmlns:a16="http://schemas.microsoft.com/office/drawing/2014/main" id="{44495BB9-88D1-8C4D-A085-387807630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47"/>
          <a:stretch/>
        </p:blipFill>
        <p:spPr>
          <a:xfrm>
            <a:off x="380829" y="733510"/>
            <a:ext cx="6736663" cy="2355679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29142EF8-04B5-7248-BFF2-7D4FD875A4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126"/>
          <a:stretch/>
        </p:blipFill>
        <p:spPr>
          <a:xfrm>
            <a:off x="380829" y="3855823"/>
            <a:ext cx="6736663" cy="2001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415882-908E-9B45-8817-45F09B6C3CDE}"/>
              </a:ext>
            </a:extLst>
          </p:cNvPr>
          <p:cNvSpPr txBox="1"/>
          <p:nvPr/>
        </p:nvSpPr>
        <p:spPr>
          <a:xfrm>
            <a:off x="7519614" y="1433384"/>
            <a:ext cx="35474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Before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A1DA8D-13F3-0F47-A23D-EDD58F161B9A}"/>
              </a:ext>
            </a:extLst>
          </p:cNvPr>
          <p:cNvSpPr txBox="1"/>
          <p:nvPr/>
        </p:nvSpPr>
        <p:spPr>
          <a:xfrm>
            <a:off x="7519614" y="4295169"/>
            <a:ext cx="4161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unix_1901302108_H7_D_13.txt.txt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After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</p:spTree>
    <p:extLst>
      <p:ext uri="{BB962C8B-B14F-4D97-AF65-F5344CB8AC3E}">
        <p14:creationId xmlns:p14="http://schemas.microsoft.com/office/powerpoint/2010/main" val="377572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91FDE-1247-F64A-BFC5-0E58A6657807}"/>
              </a:ext>
            </a:extLst>
          </p:cNvPr>
          <p:cNvSpPr txBox="1"/>
          <p:nvPr/>
        </p:nvSpPr>
        <p:spPr>
          <a:xfrm>
            <a:off x="601872" y="340539"/>
            <a:ext cx="102515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Shell script to change line </a:t>
            </a:r>
            <a:r>
              <a:rPr lang="en-US" sz="3200" dirty="0">
                <a:latin typeface="Helvetica Light" panose="020B0403020202020204" pitchFamily="34" charset="0"/>
              </a:rPr>
              <a:t>endings</a:t>
            </a:r>
            <a:r>
              <a:rPr lang="en-US" sz="3000" dirty="0">
                <a:latin typeface="Helvetica Light" panose="020B0403020202020204" pitchFamily="34" charset="0"/>
              </a:rPr>
              <a:t> on any number of files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D47716-3A32-5041-BCC2-1F957C9415F5}"/>
              </a:ext>
            </a:extLst>
          </p:cNvPr>
          <p:cNvSpPr/>
          <p:nvPr/>
        </p:nvSpPr>
        <p:spPr>
          <a:xfrm>
            <a:off x="5240821" y="1666431"/>
            <a:ext cx="6014717" cy="440120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#!/bin/</a:t>
            </a:r>
            <a:r>
              <a:rPr lang="en-US" sz="2800" b="1" dirty="0" err="1">
                <a:latin typeface="Helvetica Light" panose="020B0403020202020204" pitchFamily="34" charset="0"/>
              </a:rPr>
              <a:t>zsh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echo $@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$1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$2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for file in $@; do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cat $file | tr '\r' '\n’ &gt; </a:t>
            </a:r>
            <a:r>
              <a:rPr lang="en-US" sz="2800" b="1" dirty="0" err="1">
                <a:latin typeface="Helvetica Light" panose="020B0403020202020204" pitchFamily="34" charset="0"/>
              </a:rPr>
              <a:t>linux</a:t>
            </a:r>
            <a:r>
              <a:rPr lang="en-US" sz="2800" b="1" dirty="0">
                <a:latin typeface="Helvetica Light" panose="020B0403020202020204" pitchFamily="34" charset="0"/>
              </a:rPr>
              <a:t>_$file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done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8562A7-773F-794D-9B9C-135DA10ACEB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498428" y="2015951"/>
            <a:ext cx="662151" cy="75878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45D825-E42E-6245-BAB8-80D2A74E1FC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499984" y="2904715"/>
            <a:ext cx="1492430" cy="33476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890E26-1A8A-7449-B726-FD06CC9E4BF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9469" y="3663947"/>
            <a:ext cx="1435187" cy="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0A521C-9E67-E847-B1D1-318109BDC8FA}"/>
              </a:ext>
            </a:extLst>
          </p:cNvPr>
          <p:cNvSpPr txBox="1"/>
          <p:nvPr/>
        </p:nvSpPr>
        <p:spPr>
          <a:xfrm>
            <a:off x="315310" y="1461953"/>
            <a:ext cx="418311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list of arguments, to confirm input is working as planned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34B234-B071-084D-A695-FBE178D55DD1}"/>
              </a:ext>
            </a:extLst>
          </p:cNvPr>
          <p:cNvSpPr txBox="1"/>
          <p:nvPr/>
        </p:nvSpPr>
        <p:spPr>
          <a:xfrm>
            <a:off x="936462" y="2689271"/>
            <a:ext cx="25635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1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st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D6572-E6D5-E743-9D18-E698F3D968FD}"/>
              </a:ext>
            </a:extLst>
          </p:cNvPr>
          <p:cNvSpPr txBox="1"/>
          <p:nvPr/>
        </p:nvSpPr>
        <p:spPr>
          <a:xfrm>
            <a:off x="903811" y="3448503"/>
            <a:ext cx="263565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2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nd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C840FD-CB3E-1549-B2F8-5BB5D3BA97AA}"/>
              </a:ext>
            </a:extLst>
          </p:cNvPr>
          <p:cNvSpPr txBox="1"/>
          <p:nvPr/>
        </p:nvSpPr>
        <p:spPr>
          <a:xfrm>
            <a:off x="936462" y="4206207"/>
            <a:ext cx="26035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Loops through 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FF3D06-C953-E947-8284-F8A7E133554E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540060" y="4421651"/>
            <a:ext cx="1452354" cy="6677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68BB58-9DE4-B24F-8070-8B086B60EFE2}"/>
              </a:ext>
            </a:extLst>
          </p:cNvPr>
          <p:cNvSpPr txBox="1"/>
          <p:nvPr/>
        </p:nvSpPr>
        <p:spPr>
          <a:xfrm>
            <a:off x="936462" y="4912894"/>
            <a:ext cx="37235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Changes line endings, redirects to file. Name of file starts with </a:t>
            </a:r>
            <a:r>
              <a:rPr lang="en-US" sz="2200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linux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_, and ends with the name of the input argument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F4D187-4F75-0D42-85A2-9F3B32AFD097}"/>
              </a:ext>
            </a:extLst>
          </p:cNvPr>
          <p:cNvCxnSpPr>
            <a:cxnSpLocks/>
          </p:cNvCxnSpPr>
          <p:nvPr/>
        </p:nvCxnSpPr>
        <p:spPr>
          <a:xfrm flipV="1">
            <a:off x="4179986" y="4933442"/>
            <a:ext cx="862547" cy="19449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720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48EEA-9595-1B41-A96E-2F9FE7BD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4962" y="273526"/>
            <a:ext cx="10515600" cy="1325563"/>
          </a:xfrm>
        </p:spPr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Chapter 7: Practical Computing for Biologists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A64D6-B84B-7E42-969B-BE31357A4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512" y="1501553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Data structures and workflow control concepts are similar 	across programming languages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Understanding these elements (</a:t>
            </a:r>
            <a:r>
              <a:rPr lang="en-US" i="1" dirty="0">
                <a:latin typeface="Helvetica Light" panose="020B0403020202020204" pitchFamily="34" charset="0"/>
                <a:cs typeface="Calibri Light" panose="020F0302020204030204" pitchFamily="34" charset="0"/>
              </a:rPr>
              <a:t>without necessarily having to think about syntax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) will aid your approach to any programming language (even if you rely on AI)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Think about your data as a series of programmable          	tasks, </a:t>
            </a:r>
            <a:r>
              <a:rPr lang="en-US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abstractable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 as ‘pseudocode’</a:t>
            </a:r>
          </a:p>
        </p:txBody>
      </p:sp>
      <p:sp>
        <p:nvSpPr>
          <p:cNvPr id="4" name="AutoShape 2" descr="Practical Computing for Biologists (for Rent) 1st edition by Haddock, Steven H. D.; Dunn, Casey W. 9780878933914 textbook">
            <a:extLst>
              <a:ext uri="{FF2B5EF4-FFF2-40B4-BE49-F238E27FC236}">
                <a16:creationId xmlns:a16="http://schemas.microsoft.com/office/drawing/2014/main" id="{FE8E1120-C8BC-DB4E-AB65-6E9F2C306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07000" y="2362200"/>
            <a:ext cx="17780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Helvetica Light" panose="020B040302020202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77644B-1E9F-5A4F-BC1A-E62173C9C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1" y="3639312"/>
            <a:ext cx="268224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26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383D9-5056-CA4C-8ED1-CE7C6207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E9A26-673A-214D-86A2-996C9179B9E6}"/>
              </a:ext>
            </a:extLst>
          </p:cNvPr>
          <p:cNvSpPr txBox="1"/>
          <p:nvPr/>
        </p:nvSpPr>
        <p:spPr>
          <a:xfrm>
            <a:off x="838200" y="1855219"/>
            <a:ext cx="1088836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Cover basic concepts of programming to guide your thinking with python and other languages.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Terminology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Variable types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Control structures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 err="1">
                <a:latin typeface="Helvetica Light" panose="020B0403020202020204" pitchFamily="34" charset="0"/>
              </a:rPr>
              <a:t>Input/Output</a:t>
            </a: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61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7F41-5E86-8645-9FFB-AA59BAAA8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914"/>
            <a:ext cx="10515600" cy="1325563"/>
          </a:xfrm>
        </p:spPr>
        <p:txBody>
          <a:bodyPr>
            <a:norm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Compiled vs. Interpreted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A1B3E-F8F4-E647-8392-D8527DEF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859" y="1579477"/>
            <a:ext cx="9929602" cy="22608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Helvetica Light" panose="020B0403020202020204" pitchFamily="34" charset="0"/>
              </a:rPr>
              <a:t>Compiled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C, C+, Java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Translated from human readable code (source code) to computer   	understandable instructions – must be compiled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62E82-60ED-8A4B-975B-8E8E63466990}"/>
              </a:ext>
            </a:extLst>
          </p:cNvPr>
          <p:cNvSpPr txBox="1"/>
          <p:nvPr/>
        </p:nvSpPr>
        <p:spPr>
          <a:xfrm>
            <a:off x="954860" y="3840330"/>
            <a:ext cx="1060906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Interpreted (or scripting languages) 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</a:t>
            </a:r>
            <a:r>
              <a:rPr lang="en-US" sz="2400" dirty="0" err="1">
                <a:latin typeface="Helvetica Light" panose="020B0403020202020204" pitchFamily="34" charset="0"/>
              </a:rPr>
              <a:t>perl</a:t>
            </a:r>
            <a:r>
              <a:rPr lang="en-US" sz="2400" dirty="0">
                <a:latin typeface="Helvetica Light" panose="020B0403020202020204" pitchFamily="34" charset="0"/>
              </a:rPr>
              <a:t>, python, ruby, R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Processed by an interpreter each time they run – don’t have to compile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Program itself is the source code, easy to modify and can be run on 	any machine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BASH was our interpreter for the shell scripts you wrote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079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951471" y="3295984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Statement</a:t>
            </a:r>
            <a:r>
              <a:rPr lang="en-US" sz="2400" dirty="0">
                <a:latin typeface="Helvetica Light" panose="020B0403020202020204" pitchFamily="34" charset="0"/>
              </a:rPr>
              <a:t> – a line of a program or script which can assign a value, do a comparison or perform other operations. 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(“ATCGGGC”)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576858"/>
            <a:ext cx="821250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Arguments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programs or functions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$ bash mac2unix.sh *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macfiles.txt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05FC-1A0B-BF4E-9369-FA11D584C686}"/>
              </a:ext>
            </a:extLst>
          </p:cNvPr>
          <p:cNvSpPr/>
          <p:nvPr/>
        </p:nvSpPr>
        <p:spPr>
          <a:xfrm>
            <a:off x="5469394" y="1992356"/>
            <a:ext cx="2416456" cy="478145"/>
          </a:xfrm>
          <a:prstGeom prst="rect">
            <a:avLst/>
          </a:prstGeom>
          <a:noFill/>
          <a:ln w="222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28769B-3B0A-634E-AE2D-B475794A6B93}"/>
              </a:ext>
            </a:extLst>
          </p:cNvPr>
          <p:cNvSpPr/>
          <p:nvPr/>
        </p:nvSpPr>
        <p:spPr>
          <a:xfrm>
            <a:off x="872924" y="5384441"/>
            <a:ext cx="887935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Parameters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a function when it is called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No_A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DNAseq.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307873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894827" y="3582688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Return</a:t>
            </a:r>
            <a:r>
              <a:rPr lang="en-US" sz="2400" dirty="0">
                <a:latin typeface="Helvetica Light" panose="020B0403020202020204" pitchFamily="34" charset="0"/>
              </a:rPr>
              <a:t> – the value created and sent back from a function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705652"/>
            <a:ext cx="108245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Function</a:t>
            </a:r>
            <a:r>
              <a:rPr lang="en-US" sz="2400" dirty="0">
                <a:latin typeface="Helvetica Light" panose="020B0403020202020204" pitchFamily="34" charset="0"/>
              </a:rPr>
              <a:t> – a subprogram used to repeatedly to perform the same task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020D4E-623A-5A49-8185-FF86AFF08485}"/>
              </a:ext>
            </a:extLst>
          </p:cNvPr>
          <p:cNvSpPr/>
          <p:nvPr/>
        </p:nvSpPr>
        <p:spPr>
          <a:xfrm>
            <a:off x="894827" y="5433879"/>
            <a:ext cx="972122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Parse</a:t>
            </a:r>
            <a:r>
              <a:rPr lang="en-US" sz="2400" dirty="0">
                <a:latin typeface="Helvetica Light" panose="020B0403020202020204" pitchFamily="34" charset="0"/>
              </a:rPr>
              <a:t> – To extract particular data elements from a larger set</a:t>
            </a:r>
          </a:p>
        </p:txBody>
      </p:sp>
    </p:spTree>
    <p:extLst>
      <p:ext uri="{BB962C8B-B14F-4D97-AF65-F5344CB8AC3E}">
        <p14:creationId xmlns:p14="http://schemas.microsoft.com/office/powerpoint/2010/main" val="3360492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5873C-453B-0649-8FC6-1C9F1A72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How to write a program – four questions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DFC731-3854-DF46-9912-B63A520DFAAE}"/>
              </a:ext>
            </a:extLst>
          </p:cNvPr>
          <p:cNvSpPr/>
          <p:nvPr/>
        </p:nvSpPr>
        <p:spPr>
          <a:xfrm>
            <a:off x="838200" y="2190512"/>
            <a:ext cx="425148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What do you want to do?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26AF5-8E79-9940-8CE4-D360A0BB676C}"/>
              </a:ext>
            </a:extLst>
          </p:cNvPr>
          <p:cNvSpPr/>
          <p:nvPr/>
        </p:nvSpPr>
        <p:spPr>
          <a:xfrm>
            <a:off x="838198" y="2967335"/>
            <a:ext cx="9931402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How will you control input and output? And what variables do you want to make/use?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6EF0F0-9E42-1B4A-8FB7-9A6E3B47062B}"/>
              </a:ext>
            </a:extLst>
          </p:cNvPr>
          <p:cNvSpPr/>
          <p:nvPr/>
        </p:nvSpPr>
        <p:spPr>
          <a:xfrm>
            <a:off x="838198" y="4125642"/>
            <a:ext cx="9776256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3. What will the workflow be? How will you conduct operations on 	your variables?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DF379F-0661-EB4E-A6CB-04E3AEC8FF57}"/>
              </a:ext>
            </a:extLst>
          </p:cNvPr>
          <p:cNvSpPr/>
          <p:nvPr/>
        </p:nvSpPr>
        <p:spPr>
          <a:xfrm>
            <a:off x="838198" y="5339248"/>
            <a:ext cx="57743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4. What should you return at the end?</a:t>
            </a:r>
          </a:p>
        </p:txBody>
      </p:sp>
    </p:spTree>
    <p:extLst>
      <p:ext uri="{BB962C8B-B14F-4D97-AF65-F5344CB8AC3E}">
        <p14:creationId xmlns:p14="http://schemas.microsoft.com/office/powerpoint/2010/main" val="246532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44A8D-B5E2-EF53-1FEF-9A0372D144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900" b="1" dirty="0" err="1">
                <a:latin typeface="Helvetica Light" panose="020B0403020202020204" pitchFamily="34" charset="0"/>
              </a:rPr>
              <a:t>Psuedocode</a:t>
            </a:r>
            <a:r>
              <a:rPr lang="en-US" sz="3900" b="1" dirty="0">
                <a:latin typeface="Helvetica Light" panose="020B0403020202020204" pitchFamily="34" charset="0"/>
              </a:rPr>
              <a:t>: </a:t>
            </a:r>
          </a:p>
          <a:p>
            <a:r>
              <a:rPr lang="en-US" sz="3300" dirty="0">
                <a:latin typeface="Helvetica Light" panose="020B0403020202020204" pitchFamily="34" charset="0"/>
              </a:rPr>
              <a:t>thinking and mapping out what you need you code to do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965F7-7A2F-0E62-F4F6-2BBF92832F18}"/>
              </a:ext>
            </a:extLst>
          </p:cNvPr>
          <p:cNvSpPr/>
          <p:nvPr/>
        </p:nvSpPr>
        <p:spPr>
          <a:xfrm>
            <a:off x="860432" y="1944290"/>
            <a:ext cx="10471136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A plain language outline of the goal, and the logic of how to solve it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7E6672-9B62-179D-45BC-62824BFF1E30}"/>
              </a:ext>
            </a:extLst>
          </p:cNvPr>
          <p:cNvSpPr/>
          <p:nvPr/>
        </p:nvSpPr>
        <p:spPr>
          <a:xfrm>
            <a:off x="838200" y="2930531"/>
            <a:ext cx="11154103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Why? 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Clarifies your thinking before getting bogged down in syntax details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Breaks big problems into more achievable chunks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Especially valuable for conceiving loops and functions in more complex problems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005D5-BE28-90D4-E4BB-6347B48A7830}"/>
              </a:ext>
            </a:extLst>
          </p:cNvPr>
          <p:cNvSpPr txBox="1"/>
          <p:nvPr/>
        </p:nvSpPr>
        <p:spPr>
          <a:xfrm>
            <a:off x="754117" y="5671097"/>
            <a:ext cx="1085981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Don’t underestimate the value of planning</a:t>
            </a:r>
          </a:p>
        </p:txBody>
      </p:sp>
    </p:spTree>
    <p:extLst>
      <p:ext uri="{BB962C8B-B14F-4D97-AF65-F5344CB8AC3E}">
        <p14:creationId xmlns:p14="http://schemas.microsoft.com/office/powerpoint/2010/main" val="670941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04718F-31B7-6F43-A50D-E9F3D3CD5D4F}"/>
              </a:ext>
            </a:extLst>
          </p:cNvPr>
          <p:cNvSpPr txBox="1"/>
          <p:nvPr/>
        </p:nvSpPr>
        <p:spPr>
          <a:xfrm>
            <a:off x="1388439" y="560756"/>
            <a:ext cx="466506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Variable types: Scalars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78202E-B97D-C940-8B71-71BD7E260CCE}"/>
              </a:ext>
            </a:extLst>
          </p:cNvPr>
          <p:cNvSpPr txBox="1"/>
          <p:nvPr/>
        </p:nvSpPr>
        <p:spPr>
          <a:xfrm>
            <a:off x="1485542" y="1581282"/>
            <a:ext cx="34403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Integer</a:t>
            </a:r>
            <a:r>
              <a:rPr lang="en-US" sz="2400" dirty="0">
                <a:latin typeface="Helvetica Light" panose="020B0403020202020204" pitchFamily="34" charset="0"/>
              </a:rPr>
              <a:t>: whole numbers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- 1, 3, 5, 99,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EC56EF-A29C-A04A-A46E-998133FDD00E}"/>
              </a:ext>
            </a:extLst>
          </p:cNvPr>
          <p:cNvSpPr txBox="1"/>
          <p:nvPr/>
        </p:nvSpPr>
        <p:spPr>
          <a:xfrm>
            <a:off x="1489551" y="2729002"/>
            <a:ext cx="68772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Float</a:t>
            </a:r>
            <a:r>
              <a:rPr lang="en-US" sz="2400" dirty="0">
                <a:latin typeface="Helvetica Light" panose="020B0403020202020204" pitchFamily="34" charset="0"/>
              </a:rPr>
              <a:t>: any number, with decimal (“floating point”)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- 11.23, 0.0222, 3 x 10</a:t>
            </a:r>
            <a:r>
              <a:rPr lang="en-US" sz="2400" baseline="30000" dirty="0">
                <a:latin typeface="Helvetica Light" panose="020B0403020202020204" pitchFamily="34" charset="0"/>
              </a:rPr>
              <a:t>-10</a:t>
            </a:r>
            <a:r>
              <a:rPr lang="en-US" sz="2400" dirty="0">
                <a:latin typeface="Helvetica Light" panose="020B0403020202020204" pitchFamily="34" charset="0"/>
              </a:rPr>
              <a:t>, 3e12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5289F7-F1C4-4943-9AB5-D565ECC557D2}"/>
              </a:ext>
            </a:extLst>
          </p:cNvPr>
          <p:cNvSpPr txBox="1"/>
          <p:nvPr/>
        </p:nvSpPr>
        <p:spPr>
          <a:xfrm>
            <a:off x="1485542" y="3871068"/>
            <a:ext cx="52533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String</a:t>
            </a:r>
            <a:r>
              <a:rPr lang="en-US" sz="2400" dirty="0">
                <a:latin typeface="Helvetica Light" panose="020B0403020202020204" pitchFamily="34" charset="0"/>
              </a:rPr>
              <a:t>: sequence of text characters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“ACGGGTTAACCCTTT”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“Western Conference Finals”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“3.14159 approximates Pi”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ADFFC-5A37-E447-BDCD-359CE6EDD267}"/>
              </a:ext>
            </a:extLst>
          </p:cNvPr>
          <p:cNvSpPr txBox="1"/>
          <p:nvPr/>
        </p:nvSpPr>
        <p:spPr>
          <a:xfrm>
            <a:off x="1485542" y="5751797"/>
            <a:ext cx="32848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Boolean</a:t>
            </a:r>
            <a:r>
              <a:rPr lang="en-US" sz="2400" dirty="0">
                <a:latin typeface="Helvetica Light" panose="020B0403020202020204" pitchFamily="34" charset="0"/>
              </a:rPr>
              <a:t>: True or False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1341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A74A57-FAE7-AF46-829E-8E09B838D2F5}"/>
              </a:ext>
            </a:extLst>
          </p:cNvPr>
          <p:cNvSpPr txBox="1"/>
          <p:nvPr/>
        </p:nvSpPr>
        <p:spPr>
          <a:xfrm>
            <a:off x="1060056" y="501706"/>
            <a:ext cx="571823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Variables as Containers  - lists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3C1067-3166-C44E-9DEA-FBDC09F3105E}"/>
              </a:ext>
            </a:extLst>
          </p:cNvPr>
          <p:cNvSpPr txBox="1"/>
          <p:nvPr/>
        </p:nvSpPr>
        <p:spPr>
          <a:xfrm>
            <a:off x="898216" y="1544468"/>
            <a:ext cx="1079333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One dimensional array (a list)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(‘blue’, ‘red’, ‘green’, ‘violet’, ‘orange’ 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(‘9’, ‘83’, ‘85’, ‘11’, ‘52’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940D2-E366-BE41-AFE0-3F2D7BFE0A16}"/>
              </a:ext>
            </a:extLst>
          </p:cNvPr>
          <p:cNvSpPr txBox="1"/>
          <p:nvPr/>
        </p:nvSpPr>
        <p:spPr>
          <a:xfrm>
            <a:off x="898216" y="3066544"/>
            <a:ext cx="926407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Lists are ordered, with 0 as first element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 = ‘blue’;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[4] = ‘orange’;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2C5125-FDC8-5949-9C33-CBDC75A46D1E}"/>
              </a:ext>
            </a:extLst>
          </p:cNvPr>
          <p:cNvSpPr txBox="1"/>
          <p:nvPr/>
        </p:nvSpPr>
        <p:spPr>
          <a:xfrm>
            <a:off x="898215" y="4328095"/>
            <a:ext cx="8704627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Multidimensional arrays (e.g., rows of columns, or a 2-d array)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ColorNum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7BEF3-68AA-E340-92EE-D14F41597DD7}"/>
              </a:ext>
            </a:extLst>
          </p:cNvPr>
          <p:cNvSpPr txBox="1"/>
          <p:nvPr/>
        </p:nvSpPr>
        <p:spPr>
          <a:xfrm>
            <a:off x="898215" y="5525297"/>
            <a:ext cx="8836504" cy="83099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Useful, and often used: can ‘loop’ through lists rapidly, performing the same set of actions on each element</a:t>
            </a:r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71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8D4FE3-5024-914B-A084-82F000791C62}"/>
              </a:ext>
            </a:extLst>
          </p:cNvPr>
          <p:cNvSpPr txBox="1"/>
          <p:nvPr/>
        </p:nvSpPr>
        <p:spPr>
          <a:xfrm>
            <a:off x="922492" y="567556"/>
            <a:ext cx="99437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Associative arrays (</a:t>
            </a:r>
            <a:r>
              <a:rPr lang="en-US" sz="3200" b="1" dirty="0">
                <a:latin typeface="Helvetica Light" panose="020B0403020202020204" pitchFamily="34" charset="0"/>
              </a:rPr>
              <a:t>Dictionary</a:t>
            </a:r>
            <a:r>
              <a:rPr lang="en-US" sz="3200" dirty="0">
                <a:latin typeface="Helvetica Light" panose="020B0403020202020204" pitchFamily="34" charset="0"/>
              </a:rPr>
              <a:t> in python, </a:t>
            </a:r>
            <a:r>
              <a:rPr lang="en-US" sz="3200" b="1" dirty="0">
                <a:latin typeface="Helvetica Light" panose="020B0403020202020204" pitchFamily="34" charset="0"/>
              </a:rPr>
              <a:t>hash</a:t>
            </a:r>
            <a:r>
              <a:rPr lang="en-US" sz="3200" dirty="0">
                <a:latin typeface="Helvetica Light" panose="020B0403020202020204" pitchFamily="34" charset="0"/>
              </a:rPr>
              <a:t> in </a:t>
            </a:r>
            <a:r>
              <a:rPr lang="en-US" sz="3200" dirty="0" err="1">
                <a:latin typeface="Helvetica Light" panose="020B0403020202020204" pitchFamily="34" charset="0"/>
              </a:rPr>
              <a:t>perl</a:t>
            </a:r>
            <a:r>
              <a:rPr lang="en-US" sz="32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2ACF3-EBB2-6548-8D0D-75305EFC53B8}"/>
              </a:ext>
            </a:extLst>
          </p:cNvPr>
          <p:cNvSpPr txBox="1"/>
          <p:nvPr/>
        </p:nvSpPr>
        <p:spPr>
          <a:xfrm>
            <a:off x="922492" y="1561763"/>
            <a:ext cx="10891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Unordered sets of </a:t>
            </a:r>
            <a:r>
              <a:rPr lang="en-US" sz="2400" b="1" dirty="0" err="1">
                <a:latin typeface="Helvetica Light" panose="020B0403020202020204" pitchFamily="34" charset="0"/>
              </a:rPr>
              <a:t>key:value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efficient because they allow more rapid access to paired information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EE04A-5D79-9E43-BB0A-9F1A88B89D28}"/>
              </a:ext>
            </a:extLst>
          </p:cNvPr>
          <p:cNvSpPr txBox="1"/>
          <p:nvPr/>
        </p:nvSpPr>
        <p:spPr>
          <a:xfrm>
            <a:off x="922492" y="2777722"/>
            <a:ext cx="11269508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In python, called </a:t>
            </a:r>
            <a:r>
              <a:rPr lang="en-US" sz="2400" b="1" dirty="0">
                <a:latin typeface="Helvetica Light" panose="020B0403020202020204" pitchFamily="34" charset="0"/>
              </a:rPr>
              <a:t>dictionaries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</a:t>
            </a:r>
            <a:r>
              <a:rPr lang="en-US" sz="2400" b="1" dirty="0" err="1">
                <a:solidFill>
                  <a:srgbClr val="C00000"/>
                </a:solidFill>
                <a:latin typeface="Helvetica Light" panose="020B0403020202020204" pitchFamily="34" charset="0"/>
              </a:rPr>
              <a:t>key</a:t>
            </a:r>
            <a:r>
              <a:rPr lang="en-US" sz="2400" b="1" dirty="0" err="1">
                <a:latin typeface="Helvetica Light" panose="020B0403020202020204" pitchFamily="34" charset="0"/>
              </a:rPr>
              <a:t>:</a:t>
            </a:r>
            <a:r>
              <a:rPr lang="en-US" sz="2400" b="1" dirty="0" err="1">
                <a:solidFill>
                  <a:srgbClr val="002060"/>
                </a:solidFill>
                <a:latin typeface="Helvetica Light" panose="020B0403020202020204" pitchFamily="34" charset="0"/>
              </a:rPr>
              <a:t>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pairs, multiple keys can have same value, keys must be 	unique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[Loc12]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[Loc19]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[0.32]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[Loc15]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580B1-4153-C948-BCF4-D5733BFF6642}"/>
              </a:ext>
            </a:extLst>
          </p:cNvPr>
          <p:cNvSpPr txBox="1"/>
          <p:nvPr/>
        </p:nvSpPr>
        <p:spPr>
          <a:xfrm>
            <a:off x="922492" y="5549787"/>
            <a:ext cx="10891880" cy="120032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Functions in python facilitate work with dictionaries. Like arrays, we can ‘loop’ through dictionaries to perform the same set of code action on each </a:t>
            </a:r>
            <a:r>
              <a:rPr lang="en-US" sz="2400" b="1" dirty="0">
                <a:latin typeface="Helvetica Light" panose="020B0403020202020204" pitchFamily="34" charset="0"/>
              </a:rPr>
              <a:t>element</a:t>
            </a:r>
            <a:r>
              <a:rPr lang="en-US" sz="2400" dirty="0">
                <a:latin typeface="Helvetica Light" panose="020B0403020202020204" pitchFamily="34" charset="0"/>
              </a:rPr>
              <a:t> and or on each </a:t>
            </a:r>
            <a:r>
              <a:rPr lang="en-US" sz="2400" b="1" dirty="0">
                <a:latin typeface="Helvetica Light" panose="020B0403020202020204" pitchFamily="34" charset="0"/>
              </a:rPr>
              <a:t>key</a:t>
            </a:r>
            <a:r>
              <a:rPr lang="en-US" sz="2400" dirty="0">
                <a:latin typeface="Helvetica Light" panose="020B04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31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4DE48-ABD7-F84E-9617-23B321257D64}"/>
              </a:ext>
            </a:extLst>
          </p:cNvPr>
          <p:cNvSpPr txBox="1"/>
          <p:nvPr/>
        </p:nvSpPr>
        <p:spPr>
          <a:xfrm>
            <a:off x="1060056" y="614994"/>
            <a:ext cx="4511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Control structures, flow: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DF371-9272-0149-AB22-5A9D25FFF05D}"/>
              </a:ext>
            </a:extLst>
          </p:cNvPr>
          <p:cNvSpPr txBox="1"/>
          <p:nvPr/>
        </p:nvSpPr>
        <p:spPr>
          <a:xfrm>
            <a:off x="1375646" y="1911631"/>
            <a:ext cx="757130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if	</a:t>
            </a:r>
            <a:r>
              <a:rPr lang="en-US" sz="3200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	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if-else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endParaRPr lang="en-US" sz="2600" b="1" dirty="0">
              <a:latin typeface="Helvetica Light" panose="020B0403020202020204" pitchFamily="34" charset="0"/>
            </a:endParaRP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for		</a:t>
            </a:r>
            <a:r>
              <a:rPr lang="en-US" sz="2600" dirty="0">
                <a:latin typeface="Helvetica Light" panose="020B0403020202020204" pitchFamily="34" charset="0"/>
              </a:rPr>
              <a:t>repeating operations in a loop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while 	</a:t>
            </a:r>
            <a:r>
              <a:rPr lang="en-US" sz="2600" dirty="0">
                <a:latin typeface="Helvetica Light" panose="020B0403020202020204" pitchFamily="34" charset="0"/>
              </a:rPr>
              <a:t>open ended loop</a:t>
            </a:r>
          </a:p>
        </p:txBody>
      </p:sp>
    </p:spTree>
    <p:extLst>
      <p:ext uri="{BB962C8B-B14F-4D97-AF65-F5344CB8AC3E}">
        <p14:creationId xmlns:p14="http://schemas.microsoft.com/office/powerpoint/2010/main" val="185840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6767639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E53BD-95A4-9D49-BD20-32321062DD6A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5B4606-68DD-3B4F-98CC-7C01BAE0746B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87F172-5C04-904D-AC3C-3496CC8E74F0}"/>
              </a:ext>
            </a:extLst>
          </p:cNvPr>
          <p:cNvSpPr txBox="1"/>
          <p:nvPr/>
        </p:nvSpPr>
        <p:spPr>
          <a:xfrm>
            <a:off x="3536219" y="3566001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4C11B4-3770-2A4D-9B57-E0D191D60337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E36A95-7D2F-AE47-843E-80A33A1AF6F2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8114D8-3F76-9D42-A77B-AFBF8AFBA2EA}"/>
              </a:ext>
            </a:extLst>
          </p:cNvPr>
          <p:cNvCxnSpPr>
            <a:cxnSpLocks/>
          </p:cNvCxnSpPr>
          <p:nvPr/>
        </p:nvCxnSpPr>
        <p:spPr>
          <a:xfrm>
            <a:off x="4755918" y="4057494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0922E5-5D20-9C40-81B6-60415FA1A2E9}"/>
              </a:ext>
            </a:extLst>
          </p:cNvPr>
          <p:cNvCxnSpPr>
            <a:cxnSpLocks/>
          </p:cNvCxnSpPr>
          <p:nvPr/>
        </p:nvCxnSpPr>
        <p:spPr>
          <a:xfrm>
            <a:off x="3345295" y="4200452"/>
            <a:ext cx="610948" cy="141687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EED08F4-5AE7-1A4A-A8BC-D7E8616CB86A}"/>
              </a:ext>
            </a:extLst>
          </p:cNvPr>
          <p:cNvSpPr txBox="1"/>
          <p:nvPr/>
        </p:nvSpPr>
        <p:spPr>
          <a:xfrm>
            <a:off x="2027231" y="4340438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D9586F-A4EB-9647-88DE-5707439DE510}"/>
              </a:ext>
            </a:extLst>
          </p:cNvPr>
          <p:cNvSpPr txBox="1"/>
          <p:nvPr/>
        </p:nvSpPr>
        <p:spPr>
          <a:xfrm>
            <a:off x="4943134" y="4325212"/>
            <a:ext cx="1740286" cy="830997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  <a:r>
              <a:rPr lang="en-US" sz="2400" dirty="0">
                <a:latin typeface="Helvetica Light" panose="020B0403020202020204" pitchFamily="34" charset="0"/>
              </a:rPr>
              <a:t>: do something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5FA2BF-6FE0-D94A-93FB-CE7483769CAA}"/>
              </a:ext>
            </a:extLst>
          </p:cNvPr>
          <p:cNvCxnSpPr>
            <a:cxnSpLocks/>
          </p:cNvCxnSpPr>
          <p:nvPr/>
        </p:nvCxnSpPr>
        <p:spPr>
          <a:xfrm flipH="1">
            <a:off x="5202329" y="5257405"/>
            <a:ext cx="445912" cy="50828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2D0A6E-FF7E-9B49-8C97-C3A89509A86F}"/>
              </a:ext>
            </a:extLst>
          </p:cNvPr>
          <p:cNvSpPr txBox="1"/>
          <p:nvPr/>
        </p:nvSpPr>
        <p:spPr>
          <a:xfrm>
            <a:off x="2977743" y="5912459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19488" y="220249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19488" y="3091124"/>
            <a:ext cx="4759636" cy="954107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</p:txBody>
      </p:sp>
    </p:spTree>
    <p:extLst>
      <p:ext uri="{BB962C8B-B14F-4D97-AF65-F5344CB8AC3E}">
        <p14:creationId xmlns:p14="http://schemas.microsoft.com/office/powerpoint/2010/main" val="3272104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if-else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48868" y="1800852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48868" y="2689486"/>
            <a:ext cx="4974439" cy="1815882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&lt;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("positive”)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6803D-5CDB-0A47-BAEC-FCBF593FC73B}"/>
              </a:ext>
            </a:extLst>
          </p:cNvPr>
          <p:cNvSpPr txBox="1"/>
          <p:nvPr/>
        </p:nvSpPr>
        <p:spPr>
          <a:xfrm>
            <a:off x="2615428" y="1386336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5ECC2D-E085-B444-9460-A57839F46449}"/>
              </a:ext>
            </a:extLst>
          </p:cNvPr>
          <p:cNvSpPr txBox="1"/>
          <p:nvPr/>
        </p:nvSpPr>
        <p:spPr>
          <a:xfrm>
            <a:off x="2157400" y="2389905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1BBD1A-D421-0848-8107-FD8C4855EF4E}"/>
              </a:ext>
            </a:extLst>
          </p:cNvPr>
          <p:cNvSpPr txBox="1"/>
          <p:nvPr/>
        </p:nvSpPr>
        <p:spPr>
          <a:xfrm>
            <a:off x="2948799" y="3500098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D85EED1-8391-2743-A094-A8A0A0B25AA4}"/>
              </a:ext>
            </a:extLst>
          </p:cNvPr>
          <p:cNvCxnSpPr>
            <a:cxnSpLocks/>
          </p:cNvCxnSpPr>
          <p:nvPr/>
        </p:nvCxnSpPr>
        <p:spPr>
          <a:xfrm>
            <a:off x="3493663" y="199655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113FB7-4AD3-A24A-8FED-3EB759F7A46C}"/>
              </a:ext>
            </a:extLst>
          </p:cNvPr>
          <p:cNvCxnSpPr>
            <a:cxnSpLocks/>
          </p:cNvCxnSpPr>
          <p:nvPr/>
        </p:nvCxnSpPr>
        <p:spPr>
          <a:xfrm>
            <a:off x="3485571" y="303840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B4BA391-6E45-404D-B9DA-A1761EF0CEA8}"/>
              </a:ext>
            </a:extLst>
          </p:cNvPr>
          <p:cNvCxnSpPr>
            <a:cxnSpLocks/>
          </p:cNvCxnSpPr>
          <p:nvPr/>
        </p:nvCxnSpPr>
        <p:spPr>
          <a:xfrm>
            <a:off x="4168498" y="3991591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7B1F8C-567A-A64B-B282-ABFB05525412}"/>
              </a:ext>
            </a:extLst>
          </p:cNvPr>
          <p:cNvCxnSpPr>
            <a:cxnSpLocks/>
          </p:cNvCxnSpPr>
          <p:nvPr/>
        </p:nvCxnSpPr>
        <p:spPr>
          <a:xfrm flipH="1">
            <a:off x="2390323" y="4134549"/>
            <a:ext cx="367552" cy="26910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B6A256-25FD-6B46-8546-2A3755D499E5}"/>
              </a:ext>
            </a:extLst>
          </p:cNvPr>
          <p:cNvSpPr txBox="1"/>
          <p:nvPr/>
        </p:nvSpPr>
        <p:spPr>
          <a:xfrm>
            <a:off x="1017589" y="374287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9BBEA0-99EC-0B46-B656-D1544ECA0BDD}"/>
              </a:ext>
            </a:extLst>
          </p:cNvPr>
          <p:cNvSpPr txBox="1"/>
          <p:nvPr/>
        </p:nvSpPr>
        <p:spPr>
          <a:xfrm>
            <a:off x="4308263" y="4367042"/>
            <a:ext cx="2117914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do something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80DB83B-E65A-794F-AF8C-CB6292CCCCC2}"/>
              </a:ext>
            </a:extLst>
          </p:cNvPr>
          <p:cNvCxnSpPr>
            <a:cxnSpLocks/>
          </p:cNvCxnSpPr>
          <p:nvPr/>
        </p:nvCxnSpPr>
        <p:spPr>
          <a:xfrm flipH="1">
            <a:off x="4308263" y="4961311"/>
            <a:ext cx="492262" cy="56868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A7F59C1-CCD8-EA4F-AF0A-E75ECE5E18D9}"/>
              </a:ext>
            </a:extLst>
          </p:cNvPr>
          <p:cNvSpPr txBox="1"/>
          <p:nvPr/>
        </p:nvSpPr>
        <p:spPr>
          <a:xfrm>
            <a:off x="2390323" y="5846556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71A2C9-CBA7-9343-A130-52EA207D69E7}"/>
              </a:ext>
            </a:extLst>
          </p:cNvPr>
          <p:cNvSpPr txBox="1"/>
          <p:nvPr/>
        </p:nvSpPr>
        <p:spPr>
          <a:xfrm>
            <a:off x="4132438" y="390019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1A3-4590-1647-B339-D6AE75D19FE0}"/>
              </a:ext>
            </a:extLst>
          </p:cNvPr>
          <p:cNvSpPr txBox="1"/>
          <p:nvPr/>
        </p:nvSpPr>
        <p:spPr>
          <a:xfrm>
            <a:off x="1384338" y="4443975"/>
            <a:ext cx="1089728" cy="46166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else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0DA49-066B-F447-AA96-E9CC9E0E5FE3}"/>
              </a:ext>
            </a:extLst>
          </p:cNvPr>
          <p:cNvCxnSpPr>
            <a:cxnSpLocks/>
          </p:cNvCxnSpPr>
          <p:nvPr/>
        </p:nvCxnSpPr>
        <p:spPr>
          <a:xfrm>
            <a:off x="2219922" y="5035213"/>
            <a:ext cx="420614" cy="49478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53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4592924" cy="3293209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Num in range(10):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print(Num *10)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Name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print(Name)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Base in ‘ACTGCCC’: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print(Base)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816028" y="3566001"/>
            <a:ext cx="2601314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For each item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for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79454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2989921" cy="1292662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while X &lt; 100: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X = X + 2	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print(X)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691951" y="3562369"/>
            <a:ext cx="2778263" cy="892552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latin typeface="Helvetica Light" panose="020B0403020202020204" pitchFamily="34" charset="0"/>
              </a:rPr>
              <a:t>while </a:t>
            </a:r>
          </a:p>
          <a:p>
            <a:pPr algn="ctr"/>
            <a:r>
              <a:rPr lang="en-US" sz="2600" dirty="0">
                <a:latin typeface="Helvetica Light" panose="020B0403020202020204" pitchFamily="34" charset="0"/>
              </a:rPr>
              <a:t>(condition is true)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while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87407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2C3A7-9D04-7D4D-8D49-C10A93131485}"/>
              </a:ext>
            </a:extLst>
          </p:cNvPr>
          <p:cNvSpPr txBox="1"/>
          <p:nvPr/>
        </p:nvSpPr>
        <p:spPr>
          <a:xfrm>
            <a:off x="4277162" y="678878"/>
            <a:ext cx="253466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4CEF9-8B7D-AC4A-842B-E210353E36AC}"/>
              </a:ext>
            </a:extLst>
          </p:cNvPr>
          <p:cNvSpPr txBox="1"/>
          <p:nvPr/>
        </p:nvSpPr>
        <p:spPr>
          <a:xfrm>
            <a:off x="772999" y="1923068"/>
            <a:ext cx="1063072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process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from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D4770-6C50-644C-B0CF-470988DE7D1D}"/>
              </a:ext>
            </a:extLst>
          </p:cNvPr>
          <p:cNvSpPr txBox="1"/>
          <p:nvPr/>
        </p:nvSpPr>
        <p:spPr>
          <a:xfrm>
            <a:off x="772999" y="3429000"/>
            <a:ext cx="980262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write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to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0E54A4-CE4D-2A4B-A94A-DBCDD423FDF2}"/>
              </a:ext>
            </a:extLst>
          </p:cNvPr>
          <p:cNvSpPr txBox="1"/>
          <p:nvPr/>
        </p:nvSpPr>
        <p:spPr>
          <a:xfrm>
            <a:off x="772998" y="4657125"/>
            <a:ext cx="101357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Sometimes this will involve one file at a time; often it will involve many (which can be just as easy) </a:t>
            </a:r>
          </a:p>
        </p:txBody>
      </p:sp>
    </p:spTree>
    <p:extLst>
      <p:ext uri="{BB962C8B-B14F-4D97-AF65-F5344CB8AC3E}">
        <p14:creationId xmlns:p14="http://schemas.microsoft.com/office/powerpoint/2010/main" val="511004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EC7FB8-F28C-3049-9D95-317AA02DF52B}"/>
              </a:ext>
            </a:extLst>
          </p:cNvPr>
          <p:cNvSpPr txBox="1"/>
          <p:nvPr/>
        </p:nvSpPr>
        <p:spPr>
          <a:xfrm>
            <a:off x="3888504" y="426277"/>
            <a:ext cx="441499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r>
              <a:rPr lang="en-US" sz="3300" dirty="0">
                <a:latin typeface="Helvetica Light" panose="020B0403020202020204" pitchFamily="34" charset="0"/>
              </a:rPr>
              <a:t> in Python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3BAB5-56BC-E14C-BDEF-778ED572538D}"/>
              </a:ext>
            </a:extLst>
          </p:cNvPr>
          <p:cNvSpPr txBox="1"/>
          <p:nvPr/>
        </p:nvSpPr>
        <p:spPr>
          <a:xfrm>
            <a:off x="1104980" y="2038233"/>
            <a:ext cx="8295861" cy="156966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file_from_working_directory.txt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79ED2C-B997-3248-89ED-002D171AEA55}"/>
              </a:ext>
            </a:extLst>
          </p:cNvPr>
          <p:cNvSpPr/>
          <p:nvPr/>
        </p:nvSpPr>
        <p:spPr>
          <a:xfrm>
            <a:off x="1104980" y="129258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Input example: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1C2E5-D1E4-0642-996C-D74F09D25FB8}"/>
              </a:ext>
            </a:extLst>
          </p:cNvPr>
          <p:cNvSpPr txBox="1"/>
          <p:nvPr/>
        </p:nvSpPr>
        <p:spPr>
          <a:xfrm>
            <a:off x="1104980" y="4780587"/>
            <a:ext cx="8848897" cy="1200329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output_to_working_directory.txt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OutFile.</a:t>
            </a:r>
            <a:r>
              <a:rPr lang="en-US" sz="2400" b="1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49F65D-5D75-7D4B-98F8-182DBE056691}"/>
              </a:ext>
            </a:extLst>
          </p:cNvPr>
          <p:cNvSpPr/>
          <p:nvPr/>
        </p:nvSpPr>
        <p:spPr>
          <a:xfrm>
            <a:off x="1104980" y="4034937"/>
            <a:ext cx="2861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Output example:</a:t>
            </a:r>
          </a:p>
        </p:txBody>
      </p:sp>
    </p:spTree>
    <p:extLst>
      <p:ext uri="{BB962C8B-B14F-4D97-AF65-F5344CB8AC3E}">
        <p14:creationId xmlns:p14="http://schemas.microsoft.com/office/powerpoint/2010/main" val="52590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20B4F-105B-954F-BF7B-F3FB31A67296}"/>
              </a:ext>
            </a:extLst>
          </p:cNvPr>
          <p:cNvSpPr txBox="1"/>
          <p:nvPr/>
        </p:nvSpPr>
        <p:spPr>
          <a:xfrm>
            <a:off x="981432" y="626914"/>
            <a:ext cx="25539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Why Python?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05A53-5305-5D45-82E7-85A901F3E3AB}"/>
              </a:ext>
            </a:extLst>
          </p:cNvPr>
          <p:cNvSpPr txBox="1"/>
          <p:nvPr/>
        </p:nvSpPr>
        <p:spPr>
          <a:xfrm>
            <a:off x="958607" y="1616119"/>
            <a:ext cx="1091241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It is one of the most common languages used in biology and other sciences. 	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Thus, you will find a lot of documentation and examples online.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10BFB6-0132-9E43-8181-94CB34A19F8D}"/>
              </a:ext>
            </a:extLst>
          </p:cNvPr>
          <p:cNvSpPr txBox="1"/>
          <p:nvPr/>
        </p:nvSpPr>
        <p:spPr>
          <a:xfrm>
            <a:off x="958601" y="2880403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Excellent for text manipulation, well suited to bioinformatics and data science.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046FC5-BED7-3342-A952-AFD3B74529F5}"/>
              </a:ext>
            </a:extLst>
          </p:cNvPr>
          <p:cNvSpPr txBox="1"/>
          <p:nvPr/>
        </p:nvSpPr>
        <p:spPr>
          <a:xfrm>
            <a:off x="958603" y="3805918"/>
            <a:ext cx="1113898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It uses consistent syntax, which makes learning specific code relatively easy.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50B2A-B383-6741-ACA7-DD2066A31AA2}"/>
              </a:ext>
            </a:extLst>
          </p:cNvPr>
          <p:cNvSpPr txBox="1"/>
          <p:nvPr/>
        </p:nvSpPr>
        <p:spPr>
          <a:xfrm>
            <a:off x="981432" y="4703537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Many built-in libraries/functions to facilitate common tasks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72F9E-EDF9-9044-97C0-476E2277DD5E}"/>
              </a:ext>
            </a:extLst>
          </p:cNvPr>
          <p:cNvSpPr txBox="1"/>
          <p:nvPr/>
        </p:nvSpPr>
        <p:spPr>
          <a:xfrm>
            <a:off x="981432" y="5613663"/>
            <a:ext cx="6024406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Widely used, across science and industry. </a:t>
            </a:r>
          </a:p>
        </p:txBody>
      </p:sp>
    </p:spTree>
    <p:extLst>
      <p:ext uri="{BB962C8B-B14F-4D97-AF65-F5344CB8AC3E}">
        <p14:creationId xmlns:p14="http://schemas.microsoft.com/office/powerpoint/2010/main" val="4931562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19098-BCF8-7F47-9A53-B988D35650AB}"/>
              </a:ext>
            </a:extLst>
          </p:cNvPr>
          <p:cNvSpPr txBox="1"/>
          <p:nvPr/>
        </p:nvSpPr>
        <p:spPr>
          <a:xfrm>
            <a:off x="544223" y="609655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Before next week: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194C2E-1163-644D-9D6E-D89FA9A5C7CF}"/>
              </a:ext>
            </a:extLst>
          </p:cNvPr>
          <p:cNvSpPr txBox="1"/>
          <p:nvPr/>
        </p:nvSpPr>
        <p:spPr>
          <a:xfrm>
            <a:off x="544223" y="1924084"/>
            <a:ext cx="1110355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latin typeface="Helvetica Light" panose="020B0403020202020204" pitchFamily="34" charset="0"/>
              </a:rPr>
              <a:t>Go through short week5_primer.md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2. Go through </a:t>
            </a:r>
            <a:r>
              <a:rPr lang="en-US" sz="3200" dirty="0" err="1">
                <a:solidFill>
                  <a:srgbClr val="121212"/>
                </a:solidFill>
                <a:effectLst/>
                <a:latin typeface="Menlo" panose="020B0609030804020204" pitchFamily="49" charset="0"/>
              </a:rPr>
              <a:t>jupyter_getting_started.md</a:t>
            </a:r>
            <a:r>
              <a:rPr lang="en-US" sz="3200" dirty="0">
                <a:solidFill>
                  <a:srgbClr val="121212"/>
                </a:solidFill>
                <a:latin typeface="Menlo" panose="020B0609030804020204" pitchFamily="49" charset="0"/>
              </a:rPr>
              <a:t> 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(under </a:t>
            </a:r>
            <a:r>
              <a:rPr lang="en-US" sz="3200" dirty="0" err="1">
                <a:solidFill>
                  <a:srgbClr val="121212"/>
                </a:solidFill>
                <a:latin typeface="Helvetica Light" panose="020B0403020202020204" pitchFamily="34" charset="0"/>
              </a:rPr>
              <a:t>jupyter_start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)</a:t>
            </a:r>
            <a:endParaRPr lang="en-US" sz="3200" dirty="0">
              <a:latin typeface="Helvetica Light" panose="020B0403020202020204" pitchFamily="34" charset="0"/>
            </a:endParaRPr>
          </a:p>
          <a:p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3. Converse about independent project ideas if needed</a:t>
            </a:r>
          </a:p>
        </p:txBody>
      </p:sp>
    </p:spTree>
    <p:extLst>
      <p:ext uri="{BB962C8B-B14F-4D97-AF65-F5344CB8AC3E}">
        <p14:creationId xmlns:p14="http://schemas.microsoft.com/office/powerpoint/2010/main" val="299710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0A132-F479-7B4D-90DF-92D2042E73B8}"/>
              </a:ext>
            </a:extLst>
          </p:cNvPr>
          <p:cNvSpPr txBox="1"/>
          <p:nvPr/>
        </p:nvSpPr>
        <p:spPr>
          <a:xfrm>
            <a:off x="341745" y="840511"/>
            <a:ext cx="11600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1. Make sure you have python 3 installed (follow 	week5_primer.md)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EACCF-7E0D-8A4F-9D6C-B787233F3FA7}"/>
              </a:ext>
            </a:extLst>
          </p:cNvPr>
          <p:cNvSpPr txBox="1"/>
          <p:nvPr/>
        </p:nvSpPr>
        <p:spPr>
          <a:xfrm>
            <a:off x="369454" y="2590802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2. Write </a:t>
            </a:r>
            <a:r>
              <a:rPr lang="en-US" sz="3000">
                <a:latin typeface="Helvetica Light" panose="020B0403020202020204" pitchFamily="34" charset="0"/>
              </a:rPr>
              <a:t>your first</a:t>
            </a:r>
            <a:r>
              <a:rPr lang="en-US" sz="3000" dirty="0">
                <a:latin typeface="Helvetica Light" panose="020B0403020202020204" pitchFamily="34" charset="0"/>
              </a:rPr>
              <a:t>, and simplest possible, python program (follow 	week5_primer.md)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A4EA31-EF2A-F045-A761-D6ECF013E8E0}"/>
              </a:ext>
            </a:extLst>
          </p:cNvPr>
          <p:cNvSpPr txBox="1"/>
          <p:nvPr/>
        </p:nvSpPr>
        <p:spPr>
          <a:xfrm>
            <a:off x="369454" y="4318247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3. Be sure you have Anaconda Navigator installed, and that you are have tested out </a:t>
            </a:r>
            <a:r>
              <a:rPr lang="en-US" sz="3000" dirty="0" err="1">
                <a:latin typeface="Helvetica Light" panose="020B0403020202020204" pitchFamily="34" charset="0"/>
              </a:rPr>
              <a:t>Jupyter</a:t>
            </a:r>
            <a:r>
              <a:rPr lang="en-US" sz="3000">
                <a:latin typeface="Helvetica Light" panose="020B0403020202020204" pitchFamily="34" charset="0"/>
              </a:rPr>
              <a:t> notebooks.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06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015567-784C-3746-9A0D-D952302611BC}"/>
              </a:ext>
            </a:extLst>
          </p:cNvPr>
          <p:cNvSpPr txBox="1"/>
          <p:nvPr/>
        </p:nvSpPr>
        <p:spPr>
          <a:xfrm>
            <a:off x="1345542" y="311603"/>
            <a:ext cx="8448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Useful resources to explore and keep nearby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9F5914-295B-B540-B3B3-2858C5F8C89F}"/>
              </a:ext>
            </a:extLst>
          </p:cNvPr>
          <p:cNvSpPr/>
          <p:nvPr/>
        </p:nvSpPr>
        <p:spPr>
          <a:xfrm>
            <a:off x="771225" y="1150237"/>
            <a:ext cx="917636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300" b="1" dirty="0">
                <a:effectLst/>
                <a:latin typeface="Helvetica Light" panose="020B0403020202020204" pitchFamily="34" charset="0"/>
              </a:rPr>
              <a:t>Python documentation: </a:t>
            </a:r>
            <a:endParaRPr lang="en-US" sz="2300" b="1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https://</a:t>
            </a:r>
            <a:r>
              <a:rPr lang="en-US" sz="2300" u="sng" dirty="0" err="1">
                <a:effectLst/>
                <a:latin typeface="Helvetica Light" panose="020B0403020202020204" pitchFamily="34" charset="0"/>
              </a:rPr>
              <a:t>www.python.org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/doc/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br>
              <a:rPr lang="en-US" sz="2300" dirty="0">
                <a:effectLst/>
                <a:latin typeface="Helvetica Light" panose="020B0403020202020204" pitchFamily="34" charset="0"/>
              </a:rPr>
            </a:br>
            <a:r>
              <a:rPr lang="en-US" sz="2300" b="1" dirty="0">
                <a:effectLst/>
                <a:latin typeface="Helvetica Light" panose="020B0403020202020204" pitchFamily="34" charset="0"/>
              </a:rPr>
              <a:t>Python for Biologists online materials:</a:t>
            </a:r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  <a:hlinkClick r:id="rId3"/>
              </a:rPr>
              <a:t>https://pythonforbiologists.com/introduction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b="1" dirty="0">
                <a:latin typeface="Helvetica Light" panose="020B0403020202020204" pitchFamily="34" charset="0"/>
              </a:rPr>
              <a:t>Learn Python Interactive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www.learnpython.org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has a built in interpreter, so you can test code or play with code under the tutorial examples. Excellent resource.</a:t>
            </a:r>
          </a:p>
          <a:p>
            <a:br>
              <a:rPr lang="en-US" sz="2300" dirty="0">
                <a:latin typeface="Helvetica Light" panose="020B0403020202020204" pitchFamily="34" charset="0"/>
              </a:rPr>
            </a:br>
            <a:r>
              <a:rPr lang="en-US" sz="2300" b="1" dirty="0">
                <a:latin typeface="Helvetica Light" panose="020B0403020202020204" pitchFamily="34" charset="0"/>
              </a:rPr>
              <a:t>Python guru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thepythonguru.com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also has a built in </a:t>
            </a:r>
            <a:r>
              <a:rPr lang="en-US" sz="2300" dirty="0" err="1">
                <a:latin typeface="Helvetica Light" panose="020B0403020202020204" pitchFamily="34" charset="0"/>
              </a:rPr>
              <a:t>interpretter</a:t>
            </a:r>
            <a:r>
              <a:rPr lang="en-US" sz="2300" dirty="0">
                <a:latin typeface="Helvetica Light" panose="020B0403020202020204" pitchFamily="34" charset="0"/>
              </a:rPr>
              <a:t>, so you can test code or play with code under the tutorial examples. Excellent resource.</a:t>
            </a:r>
          </a:p>
          <a:p>
            <a:br>
              <a:rPr lang="en-US" sz="2300" dirty="0"/>
            </a:br>
            <a:endParaRPr lang="en-US" sz="2300" dirty="0"/>
          </a:p>
          <a:p>
            <a:endParaRPr lang="en-US" sz="2300" dirty="0">
              <a:effectLst/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7022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EB9D57-508E-FDD9-C9F8-0B9820F90B55}"/>
              </a:ext>
            </a:extLst>
          </p:cNvPr>
          <p:cNvSpPr txBox="1"/>
          <p:nvPr/>
        </p:nvSpPr>
        <p:spPr>
          <a:xfrm>
            <a:off x="2522483" y="6200368"/>
            <a:ext cx="71470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https://</a:t>
            </a:r>
            <a:r>
              <a:rPr lang="en-US" sz="2400" dirty="0" err="1"/>
              <a:t>docs.anaconda.com</a:t>
            </a:r>
            <a:r>
              <a:rPr lang="en-US" sz="2400" dirty="0"/>
              <a:t>/anaconda/navigator/</a:t>
            </a:r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6B00920-F8F7-1472-4683-CE8647CC0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340" y="257852"/>
            <a:ext cx="9545320" cy="579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21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39006</TotalTime>
  <Words>1746</Words>
  <Application>Microsoft Macintosh PowerPoint</Application>
  <PresentationFormat>Widescreen</PresentationFormat>
  <Paragraphs>240</Paragraphs>
  <Slides>26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Courier New</vt:lpstr>
      <vt:lpstr>Helvetica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Chapter 7: Practical Computing for Biologists</vt:lpstr>
      <vt:lpstr>Overview:</vt:lpstr>
      <vt:lpstr>Compiled vs. Interpreted Languages</vt:lpstr>
      <vt:lpstr>PowerPoint Presentation</vt:lpstr>
      <vt:lpstr>PowerPoint Presentation</vt:lpstr>
      <vt:lpstr>How to write a program – four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107</cp:revision>
  <dcterms:created xsi:type="dcterms:W3CDTF">2020-09-19T21:18:57Z</dcterms:created>
  <dcterms:modified xsi:type="dcterms:W3CDTF">2026-09-23T02:20:08Z</dcterms:modified>
</cp:coreProperties>
</file>