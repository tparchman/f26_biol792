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307" r:id="rId3"/>
    <p:sldId id="321" r:id="rId4"/>
    <p:sldId id="323" r:id="rId5"/>
    <p:sldId id="309" r:id="rId6"/>
    <p:sldId id="310" r:id="rId7"/>
    <p:sldId id="322" r:id="rId8"/>
    <p:sldId id="325" r:id="rId9"/>
    <p:sldId id="314" r:id="rId10"/>
    <p:sldId id="311" r:id="rId11"/>
    <p:sldId id="316" r:id="rId12"/>
    <p:sldId id="324" r:id="rId13"/>
    <p:sldId id="317" r:id="rId14"/>
    <p:sldId id="318" r:id="rId15"/>
    <p:sldId id="308" r:id="rId16"/>
    <p:sldId id="286" r:id="rId17"/>
    <p:sldId id="32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105"/>
    <p:restoredTop sz="94744"/>
  </p:normalViewPr>
  <p:slideViewPr>
    <p:cSldViewPr snapToGrid="0" snapToObjects="1">
      <p:cViewPr varScale="1">
        <p:scale>
          <a:sx n="111" d="100"/>
          <a:sy n="111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D77398-3147-2349-91B4-8DD464C64BCA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3CC19-939B-124D-AEB5-0A0C0D7EEB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650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09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C3CC19-939B-124D-AEB5-0A0C0D7EEB8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6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2AC52-CB45-1649-A5EB-B5CF5A3F0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F78E9D-C946-7A4C-BF8A-A3EBB35FF7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D6166-02E5-7E48-ABFF-46975656F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09ADA-4759-6640-8030-BF59E32DD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92F1B-E422-FA4E-BB44-06168A50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079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5E69-8338-254E-8CB3-0AD781CE3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F2BA0-BB82-FB41-9875-80607573B4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96E44-51FF-E448-BB1A-64D69E30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B8095-2CFE-2142-BCE0-53D0AB86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2C08A-3E24-3A48-BAF0-6ED32C6F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76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01160-8C44-AD4D-A8FC-A902B52C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43547-0854-2A48-A8E4-49C0F08D6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012E7-A8B9-4C4D-A582-46905F3BF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DBFC0-F547-ED45-BC46-EE531F25B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2DE46-4008-C740-A5E6-4751DAAE4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662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52C79-C0DA-5D4A-B623-F86683A42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528E3-584E-5446-AB18-C41851557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23828-D36F-5A4B-9531-29AB9D2BD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6A7106-EF07-6944-9C4D-9E64A5E45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1C1322-F2CE-4F40-95E4-6002A2D89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D561D-479C-ED4B-A607-89A07A372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7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E64-87ED-074A-885A-47F4550D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1EE5E-23A8-6F46-9416-FB3F27D13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E83D5-ECA7-9241-AB62-5865B02EBF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6B87C9-900D-6441-80BF-16A24478F6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5A0EC-8846-B84C-B1A8-519BA673D4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8976A-FB57-2C47-8B02-41354D20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A014E1-B8E5-504F-9082-9661A937E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58CF4-6692-FB49-851F-8CD767ED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0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9AB3-B693-8C43-B380-3032E709B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4042C3-7D43-1C46-A244-6ED4676FC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A0058E-E573-E747-A4EB-43FAE07D4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8892F4-45F0-7F4F-AF80-C9763503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0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4FB97-29A8-BB4F-8E88-EC94F4D0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849ED1-F055-DC43-B449-BEE1EDFA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1FC88B-D1BC-C848-933C-25838CEC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7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4B21D-B04E-CD47-820A-933D2B92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99CA-70A6-674F-9AA5-C6E33C2011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0C7BD-1368-8F4D-89A8-581FAF8C7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00B65-5B56-EA4E-822C-12938824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F5739-E635-AB42-A028-B278F6302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9AFFE-663D-0F46-97B4-1971EAE3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140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5B5F-093B-7D4E-99F7-F87CCCA38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5AB09E-5DDD-9447-B3CC-06C03ACD29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8B95A2-5B04-554A-824D-CF2D2FD63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C7B56-1408-4B46-A30D-3FD6FCC4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10950-AC5D-4543-A022-8E6C21CE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5C943-2D9A-3246-A7C7-125F15E8B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85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4A5C-C2B1-D849-AAE4-4633476E6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6A700-22C5-BE41-A1C7-C61E5CA1A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6B2EE-11C3-BF4F-84CA-D3029C011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55669-F17E-BE42-9E3C-BFEB4F483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F1771-419A-5840-AD78-695F0CE0B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61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0CADF0-14B8-DE4F-8F9E-7C49F5DB84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41B6C-9A82-1049-9B44-0E5CF50E10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112F-A19D-284F-B6AE-3D78ED141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AB3CD-1B48-4F48-9786-422BB15A6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A4695-26F4-D741-B753-A435D632F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43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A9701-7235-5043-BD0A-3A8DAB29D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C5391-72DC-D047-9FD1-4B9549494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38E62-EECD-A847-9806-E9C1757CAD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DF0107-2D27-914A-9F22-DFB09E04F050}" type="datetimeFigureOut">
              <a:rPr lang="en-US" smtClean="0"/>
              <a:t>9/28/26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70979-A224-D14F-989C-CB295CC8BB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95D838-C43C-8B4C-9943-2B0BEFEFB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A2164-EFF0-F047-9918-FD3CD1649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60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8EFA14-657C-6645-A65E-C8CB45925376}"/>
              </a:ext>
            </a:extLst>
          </p:cNvPr>
          <p:cNvSpPr txBox="1"/>
          <p:nvPr/>
        </p:nvSpPr>
        <p:spPr>
          <a:xfrm>
            <a:off x="1507948" y="1122425"/>
            <a:ext cx="6058069" cy="52937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I.  </a:t>
            </a:r>
            <a:r>
              <a:rPr lang="en-US" sz="2600" dirty="0">
                <a:latin typeface="Helvetica Light" panose="020B0403020202020204" pitchFamily="34" charset="0"/>
              </a:rPr>
              <a:t>Scalar types: strings, floats, integers</a:t>
            </a:r>
          </a:p>
          <a:p>
            <a:pPr marL="571500" indent="-571500">
              <a:buFontTx/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II. </a:t>
            </a:r>
            <a:r>
              <a:rPr lang="en-US" sz="2600" dirty="0">
                <a:latin typeface="Helvetica Light" panose="020B0403020202020204" pitchFamily="34" charset="0"/>
              </a:rPr>
              <a:t>String functions</a:t>
            </a:r>
          </a:p>
          <a:p>
            <a:pPr marL="571500" indent="-571500">
              <a:buFontTx/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III. </a:t>
            </a:r>
            <a:r>
              <a:rPr lang="en-US" sz="2600" dirty="0">
                <a:latin typeface="Helvetica Light" panose="020B0403020202020204" pitchFamily="34" charset="0"/>
              </a:rPr>
              <a:t>Type conversion</a:t>
            </a:r>
          </a:p>
          <a:p>
            <a:pPr marL="571500" indent="-571500">
              <a:buAutoNum type="romanUcPeriod"/>
            </a:pPr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IV.  f</a:t>
            </a:r>
            <a:r>
              <a:rPr lang="en-US" sz="2600" dirty="0">
                <a:latin typeface="Helvetica Light" panose="020B0403020202020204" pitchFamily="34" charset="0"/>
              </a:rPr>
              <a:t>-strings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V. </a:t>
            </a:r>
            <a:r>
              <a:rPr lang="en-US" sz="2600" dirty="0">
                <a:latin typeface="Helvetica Light" panose="020B0403020202020204" pitchFamily="34" charset="0"/>
              </a:rPr>
              <a:t>Interactive Python/Jupyter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r>
              <a:rPr lang="en-US" sz="2600" b="1" dirty="0">
                <a:latin typeface="Helvetica Light" panose="020B0403020202020204" pitchFamily="34" charset="0"/>
              </a:rPr>
              <a:t>VI</a:t>
            </a:r>
            <a:r>
              <a:rPr lang="en-US" sz="2600" dirty="0">
                <a:latin typeface="Helvetica Light" panose="020B0403020202020204" pitchFamily="34" charset="0"/>
              </a:rPr>
              <a:t>. input()</a:t>
            </a:r>
          </a:p>
          <a:p>
            <a:endParaRPr lang="en-US" sz="2600" dirty="0">
              <a:latin typeface="Helvetica Light" panose="020B0403020202020204" pitchFamily="34" charset="0"/>
            </a:endParaRPr>
          </a:p>
          <a:p>
            <a:pPr marL="285750" indent="-285750">
              <a:buFontTx/>
              <a:buChar char="-"/>
            </a:pPr>
            <a:endParaRPr lang="en-US" sz="2600" dirty="0">
              <a:latin typeface="Helvetica Light" panose="020B0403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186E08-8C57-D048-B2A8-4EC03A58BADC}"/>
              </a:ext>
            </a:extLst>
          </p:cNvPr>
          <p:cNvSpPr txBox="1"/>
          <p:nvPr/>
        </p:nvSpPr>
        <p:spPr>
          <a:xfrm>
            <a:off x="3115267" y="288627"/>
            <a:ext cx="650851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>
                <a:latin typeface="Helvetica Light" panose="020B0403020202020204" pitchFamily="34" charset="0"/>
              </a:rPr>
              <a:t>Week 6: </a:t>
            </a:r>
            <a:r>
              <a:rPr lang="en-US" sz="3300" dirty="0">
                <a:latin typeface="Helvetica Light" panose="020B0403020202020204" pitchFamily="34" charset="0"/>
              </a:rPr>
              <a:t>Getting started in python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B22C78-12BF-8049-A004-AD24A12D54C7}"/>
              </a:ext>
            </a:extLst>
          </p:cNvPr>
          <p:cNvSpPr txBox="1"/>
          <p:nvPr/>
        </p:nvSpPr>
        <p:spPr>
          <a:xfrm>
            <a:off x="8049555" y="3913166"/>
            <a:ext cx="3789820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 err="1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Python_I_primer.ipynb</a:t>
            </a:r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, </a:t>
            </a:r>
          </a:p>
          <a:p>
            <a:r>
              <a:rPr lang="en-US" sz="2400" b="1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assignment_python1.md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5F610B-DD7D-DB4C-8F25-DCD1DFF45D17}"/>
              </a:ext>
            </a:extLst>
          </p:cNvPr>
          <p:cNvSpPr txBox="1"/>
          <p:nvPr/>
        </p:nvSpPr>
        <p:spPr>
          <a:xfrm>
            <a:off x="8049555" y="2833935"/>
            <a:ext cx="208422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n>
                  <a:solidFill>
                    <a:schemeClr val="tx1"/>
                  </a:solidFill>
                </a:ln>
                <a:latin typeface="Helvetica Light" panose="020B0403020202020204" pitchFamily="34" charset="0"/>
              </a:rPr>
              <a:t>For this week:</a:t>
            </a:r>
          </a:p>
        </p:txBody>
      </p:sp>
    </p:spTree>
    <p:extLst>
      <p:ext uri="{BB962C8B-B14F-4D97-AF65-F5344CB8AC3E}">
        <p14:creationId xmlns:p14="http://schemas.microsoft.com/office/powerpoint/2010/main" val="3189975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E847A6-122F-D744-AC71-CABE3ECDFD5B}"/>
              </a:ext>
            </a:extLst>
          </p:cNvPr>
          <p:cNvSpPr txBox="1"/>
          <p:nvPr/>
        </p:nvSpPr>
        <p:spPr>
          <a:xfrm>
            <a:off x="3724867" y="362200"/>
            <a:ext cx="3570208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dirty="0">
                <a:latin typeface="Helvetica Light" panose="020B0403020202020204" pitchFamily="34" charset="0"/>
              </a:rPr>
              <a:t>First python 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187775-7986-AA41-B214-319438F36EFA}"/>
              </a:ext>
            </a:extLst>
          </p:cNvPr>
          <p:cNvSpPr/>
          <p:nvPr/>
        </p:nvSpPr>
        <p:spPr>
          <a:xfrm>
            <a:off x="815547" y="1254261"/>
            <a:ext cx="10589740" cy="2308324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#!/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usr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/bin/env python3</a:t>
            </a:r>
          </a:p>
          <a:p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#this is a comment: testing my first program with a simple print statement</a:t>
            </a:r>
          </a:p>
          <a:p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("I’m ready to learn python, and this is step 1")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2F382C-760A-0840-9B1A-3C1167D7F25E}"/>
              </a:ext>
            </a:extLst>
          </p:cNvPr>
          <p:cNvSpPr/>
          <p:nvPr/>
        </p:nvSpPr>
        <p:spPr>
          <a:xfrm>
            <a:off x="786713" y="3952153"/>
            <a:ext cx="10589740" cy="2308324"/>
          </a:xfrm>
          <a:prstGeom prst="rect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From the command line:</a:t>
            </a:r>
          </a:p>
          <a:p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python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chmod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u+x</a:t>
            </a:r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 ./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first_python.py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14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A66B956-6130-C71B-18EF-5B3D2F39A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17" y="1039876"/>
            <a:ext cx="11766566" cy="519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56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DD074F-442B-A0A6-965E-EEEBCBAD3D73}"/>
              </a:ext>
            </a:extLst>
          </p:cNvPr>
          <p:cNvSpPr txBox="1"/>
          <p:nvPr/>
        </p:nvSpPr>
        <p:spPr>
          <a:xfrm>
            <a:off x="644324" y="307145"/>
            <a:ext cx="109033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200" b="1" dirty="0">
                <a:latin typeface="HELVETICA LIGHT" panose="020B0403020202020204" pitchFamily="34" charset="0"/>
              </a:rPr>
              <a:t>Three ways to run python</a:t>
            </a:r>
          </a:p>
          <a:p>
            <a:pPr algn="ctr">
              <a:buNone/>
            </a:pPr>
            <a:r>
              <a:rPr lang="en-US" sz="2800" dirty="0">
                <a:latin typeface="Helvetica Light" panose="020B0403020202020204" pitchFamily="34" charset="0"/>
              </a:rPr>
              <a:t>Same code, used in different environments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B980A-4BB5-4CB8-6F41-B727D147E848}"/>
              </a:ext>
            </a:extLst>
          </p:cNvPr>
          <p:cNvSpPr txBox="1"/>
          <p:nvPr/>
        </p:nvSpPr>
        <p:spPr>
          <a:xfrm>
            <a:off x="748496" y="1585195"/>
            <a:ext cx="10903352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1. Python scripts (.</a:t>
            </a:r>
            <a:r>
              <a:rPr lang="en-US" sz="2600" b="1" dirty="0" err="1">
                <a:latin typeface="HELVETICA LIGHT" panose="020B0403020202020204" pitchFamily="34" charset="0"/>
              </a:rPr>
              <a:t>py</a:t>
            </a:r>
            <a:r>
              <a:rPr lang="en-US" sz="2600" b="1" dirty="0">
                <a:latin typeface="HELVETICA LIGHT" panose="020B0403020202020204" pitchFamily="34" charset="0"/>
              </a:rPr>
              <a:t>)</a:t>
            </a:r>
            <a:br>
              <a:rPr lang="en-US" sz="26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Write and save a complete program, run it from the terminal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FB7288-C4A7-E9A3-9CA8-5C37FB28A153}"/>
              </a:ext>
            </a:extLst>
          </p:cNvPr>
          <p:cNvSpPr txBox="1"/>
          <p:nvPr/>
        </p:nvSpPr>
        <p:spPr>
          <a:xfrm>
            <a:off x="780580" y="3370999"/>
            <a:ext cx="10903352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00" b="1" dirty="0">
                <a:latin typeface="HELVETICA LIGHT" panose="020B0403020202020204" pitchFamily="34" charset="0"/>
              </a:rPr>
              <a:t>2. Interactive Python</a:t>
            </a:r>
            <a:br>
              <a:rPr lang="en-US" sz="28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Start Python from the terminal or </a:t>
            </a:r>
            <a:r>
              <a:rPr lang="en-US" sz="2400" dirty="0" err="1">
                <a:latin typeface="Helvetica Light" panose="020B0403020202020204" pitchFamily="34" charset="0"/>
              </a:rPr>
              <a:t>Ipy</a:t>
            </a:r>
            <a:r>
              <a:rPr lang="en-US" sz="2400" dirty="0">
                <a:latin typeface="Helvetica Light" panose="020B0403020202020204" pitchFamily="34" charset="0"/>
              </a:rPr>
              <a:t> and execute commands one at a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EF8AE9-67B1-24C1-82C4-4841F5F4CB1C}"/>
              </a:ext>
            </a:extLst>
          </p:cNvPr>
          <p:cNvSpPr txBox="1"/>
          <p:nvPr/>
        </p:nvSpPr>
        <p:spPr>
          <a:xfrm>
            <a:off x="2239701" y="2643883"/>
            <a:ext cx="3856299" cy="44627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python3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my_script.py</a:t>
            </a:r>
            <a:endParaRPr lang="en-US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69301B-431C-932D-D3CB-FF7FD1388F19}"/>
              </a:ext>
            </a:extLst>
          </p:cNvPr>
          <p:cNvSpPr txBox="1"/>
          <p:nvPr/>
        </p:nvSpPr>
        <p:spPr>
          <a:xfrm>
            <a:off x="2239701" y="4296941"/>
            <a:ext cx="3647752" cy="115416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python3</a:t>
            </a:r>
          </a:p>
          <a:p>
            <a:pP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seq = "ATGCGTA"</a:t>
            </a:r>
          </a:p>
          <a:p>
            <a:pP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(seq)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588EF-8D18-CC89-4761-5F2B70ED32FC}"/>
              </a:ext>
            </a:extLst>
          </p:cNvPr>
          <p:cNvSpPr txBox="1"/>
          <p:nvPr/>
        </p:nvSpPr>
        <p:spPr>
          <a:xfrm>
            <a:off x="748496" y="5560745"/>
            <a:ext cx="1049153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600" b="1" dirty="0">
                <a:latin typeface="HELVETICA LIGHT" panose="020B0403020202020204" pitchFamily="34" charset="0"/>
              </a:rPr>
              <a:t>3. Jupyter notebooks**</a:t>
            </a:r>
            <a:br>
              <a:rPr lang="en-US" sz="2600" dirty="0">
                <a:latin typeface="Helvetica Light" panose="020B0403020202020204" pitchFamily="34" charset="0"/>
              </a:rPr>
            </a:br>
            <a:r>
              <a:rPr lang="en-US" sz="2400" dirty="0">
                <a:latin typeface="Helvetica Light" panose="020B0403020202020204" pitchFamily="34" charset="0"/>
              </a:rPr>
              <a:t>Run Python in code cells, with code, output, and explanatory text together.</a:t>
            </a:r>
          </a:p>
        </p:txBody>
      </p:sp>
    </p:spTree>
    <p:extLst>
      <p:ext uri="{BB962C8B-B14F-4D97-AF65-F5344CB8AC3E}">
        <p14:creationId xmlns:p14="http://schemas.microsoft.com/office/powerpoint/2010/main" val="1913646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1070112" y="2790054"/>
            <a:ext cx="10111410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team = "lakers"</a:t>
            </a:r>
          </a:p>
          <a:p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actgaaa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seq3 = '</a:t>
            </a:r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atcGGGC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' # single or double quotes</a:t>
            </a:r>
          </a:p>
          <a:p>
            <a:r>
              <a:rPr lang="en-US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= '11.2' 	#something that looks like a float</a:t>
            </a:r>
          </a:p>
          <a:p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sentence = "Joe Burrow is the real deal" </a:t>
            </a:r>
          </a:p>
          <a:p>
            <a:endParaRPr lang="en-US" sz="2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5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4545735" y="367748"/>
            <a:ext cx="310052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strings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1070112" y="1674347"/>
            <a:ext cx="10637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Assigning </a:t>
            </a:r>
            <a:r>
              <a:rPr lang="en-US" sz="2800" b="1" dirty="0">
                <a:latin typeface="Helvetica Light" panose="020B0403020202020204" pitchFamily="34" charset="0"/>
              </a:rPr>
              <a:t>strings</a:t>
            </a:r>
            <a:r>
              <a:rPr lang="en-US" sz="2800" dirty="0">
                <a:latin typeface="Helvetica Light" panose="020B0403020202020204" pitchFamily="34" charset="0"/>
              </a:rPr>
              <a:t> to variables (requires single or double quotes):</a:t>
            </a:r>
          </a:p>
        </p:txBody>
      </p:sp>
    </p:spTree>
    <p:extLst>
      <p:ext uri="{BB962C8B-B14F-4D97-AF65-F5344CB8AC3E}">
        <p14:creationId xmlns:p14="http://schemas.microsoft.com/office/powerpoint/2010/main" val="3597356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629478" y="2098933"/>
            <a:ext cx="1048578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team = "lakers"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cap_team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team.upper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 #change lakers to LAKERS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actgaaa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seq_one.replace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('a', 't')	# replaces a with t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new_seq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seq_one.count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('A') 	# returns a count of match</a:t>
            </a:r>
          </a:p>
          <a:p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24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1934432" y="397565"/>
            <a:ext cx="78758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built in string functions/methods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3614530" y="1286721"/>
            <a:ext cx="4395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 Light" panose="020B0403020202020204" pitchFamily="34" charset="0"/>
              </a:rPr>
              <a:t>string_name.</a:t>
            </a:r>
            <a:r>
              <a:rPr lang="en-US" sz="2800" b="1" dirty="0" err="1">
                <a:latin typeface="Helvetica Light" panose="020B0403020202020204" pitchFamily="34" charset="0"/>
              </a:rPr>
              <a:t>functionname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1742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BEB290-A9D9-A94B-8702-E860D8F938B4}"/>
              </a:ext>
            </a:extLst>
          </p:cNvPr>
          <p:cNvSpPr/>
          <p:nvPr/>
        </p:nvSpPr>
        <p:spPr>
          <a:xfrm>
            <a:off x="874170" y="2228671"/>
            <a:ext cx="9846017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seq = 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  </a:t>
            </a:r>
            <a:r>
              <a:rPr lang="en-US" sz="3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atgctagCGATCGGctaacggttATGC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\n"</a:t>
            </a:r>
          </a:p>
          <a:p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seq =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seq.strip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seq =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seq.upper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print(seq)</a:t>
            </a:r>
          </a:p>
          <a:p>
            <a:endParaRPr lang="en-US" sz="3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ADF43A-5881-B345-A303-7A2840F28C4F}"/>
              </a:ext>
            </a:extLst>
          </p:cNvPr>
          <p:cNvSpPr txBox="1"/>
          <p:nvPr/>
        </p:nvSpPr>
        <p:spPr>
          <a:xfrm>
            <a:off x="1934432" y="397565"/>
            <a:ext cx="78758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built in string functions/methods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2A06A-2B68-2340-8CE4-3FB2C6417880}"/>
              </a:ext>
            </a:extLst>
          </p:cNvPr>
          <p:cNvSpPr txBox="1"/>
          <p:nvPr/>
        </p:nvSpPr>
        <p:spPr>
          <a:xfrm>
            <a:off x="3614530" y="1286721"/>
            <a:ext cx="43652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Helvetica Light" panose="020B0403020202020204" pitchFamily="34" charset="0"/>
              </a:rPr>
              <a:t>StringName.</a:t>
            </a:r>
            <a:r>
              <a:rPr lang="en-US" sz="2800" b="1" dirty="0" err="1">
                <a:latin typeface="Helvetica Light" panose="020B0403020202020204" pitchFamily="34" charset="0"/>
              </a:rPr>
              <a:t>functionname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59F22E-3FE7-4F94-C711-C4F57E11A9F6}"/>
              </a:ext>
            </a:extLst>
          </p:cNvPr>
          <p:cNvSpPr txBox="1"/>
          <p:nvPr/>
        </p:nvSpPr>
        <p:spPr>
          <a:xfrm>
            <a:off x="874170" y="4431886"/>
            <a:ext cx="10366164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.strip() strips specified character(s) from string. Default will strip whitespace. Commonly used to strip line endings: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seq =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seq.strip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("\n"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2800" b="1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2053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8F9A-FA44-C77D-FBAB-2D20AA87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05BB7E-AF8F-4DA3-BE41-110DC50E0E8E}"/>
              </a:ext>
            </a:extLst>
          </p:cNvPr>
          <p:cNvSpPr/>
          <p:nvPr/>
        </p:nvSpPr>
        <p:spPr>
          <a:xfrm>
            <a:off x="949360" y="2228671"/>
            <a:ext cx="9846017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data = </a:t>
            </a:r>
            <a:r>
              <a:rPr lang="en-US" sz="3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"wolf,12,24.5,Nevada"</a:t>
            </a:r>
          </a:p>
          <a:p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fields = </a:t>
            </a:r>
            <a:r>
              <a:rPr lang="en-US" sz="3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data.split</a:t>
            </a:r>
            <a:r>
              <a:rPr lang="en-US" sz="3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3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rint(</a:t>
            </a:r>
            <a:r>
              <a:rPr lang="en-US" sz="30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fields</a:t>
            </a:r>
            <a:r>
              <a:rPr lang="en-US" sz="2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30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0E736-9B3A-0F45-1901-886656F69818}"/>
              </a:ext>
            </a:extLst>
          </p:cNvPr>
          <p:cNvSpPr txBox="1"/>
          <p:nvPr/>
        </p:nvSpPr>
        <p:spPr>
          <a:xfrm>
            <a:off x="1934432" y="397565"/>
            <a:ext cx="7875874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built in string functions/methods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FC8846-8B05-DCC4-F2D2-0BD171DFF340}"/>
              </a:ext>
            </a:extLst>
          </p:cNvPr>
          <p:cNvSpPr txBox="1"/>
          <p:nvPr/>
        </p:nvSpPr>
        <p:spPr>
          <a:xfrm>
            <a:off x="3045345" y="1089980"/>
            <a:ext cx="73388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Turning Strings into data (or lists) with .split()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DE882-917E-06DA-16D9-04AA419D3963}"/>
              </a:ext>
            </a:extLst>
          </p:cNvPr>
          <p:cNvSpPr/>
          <p:nvPr/>
        </p:nvSpPr>
        <p:spPr>
          <a:xfrm>
            <a:off x="949360" y="4033408"/>
            <a:ext cx="984601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  <a:cs typeface="Courier New" panose="02070309020205020404" pitchFamily="49" charset="0"/>
              </a:rPr>
              <a:t>The above will return a list, which can then be controlled in a loop:</a:t>
            </a:r>
          </a:p>
          <a:p>
            <a:endParaRPr lang="en-US" sz="320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['wolf', '12', '24.5', 'Nevada']</a:t>
            </a:r>
          </a:p>
        </p:txBody>
      </p:sp>
    </p:spTree>
    <p:extLst>
      <p:ext uri="{BB962C8B-B14F-4D97-AF65-F5344CB8AC3E}">
        <p14:creationId xmlns:p14="http://schemas.microsoft.com/office/powerpoint/2010/main" val="186261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2E549D-C5D8-4941-91DE-9E7F6C8AD071}"/>
              </a:ext>
            </a:extLst>
          </p:cNvPr>
          <p:cNvSpPr txBox="1"/>
          <p:nvPr/>
        </p:nvSpPr>
        <p:spPr>
          <a:xfrm>
            <a:off x="3512066" y="516835"/>
            <a:ext cx="535114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300" b="1" dirty="0">
                <a:latin typeface="Helvetica Light" panose="020B0403020202020204" pitchFamily="34" charset="0"/>
              </a:rPr>
              <a:t>Scalars: integers and floats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530E4-B768-AC4D-ACDC-62B63BD9B4B2}"/>
              </a:ext>
            </a:extLst>
          </p:cNvPr>
          <p:cNvSpPr txBox="1"/>
          <p:nvPr/>
        </p:nvSpPr>
        <p:spPr>
          <a:xfrm>
            <a:off x="911326" y="1702907"/>
            <a:ext cx="62215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Integers</a:t>
            </a:r>
            <a:r>
              <a:rPr lang="en-US" sz="2800" dirty="0">
                <a:latin typeface="Helvetica Light" panose="020B0403020202020204" pitchFamily="34" charset="0"/>
              </a:rPr>
              <a:t>: whole numbers (1, 3, 7, -99)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1FAC05-8BA8-6C48-83CD-B0B7FDC5B165}"/>
              </a:ext>
            </a:extLst>
          </p:cNvPr>
          <p:cNvSpPr txBox="1"/>
          <p:nvPr/>
        </p:nvSpPr>
        <p:spPr>
          <a:xfrm>
            <a:off x="911326" y="2487595"/>
            <a:ext cx="1137042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dig1 = 13		# no quotes for integers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dig2 = '111'		# quotes make this a string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type(dig2)	# will return var type, float in this case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BCE885-7FD3-D144-B706-093579F655EE}"/>
              </a:ext>
            </a:extLst>
          </p:cNvPr>
          <p:cNvSpPr txBox="1"/>
          <p:nvPr/>
        </p:nvSpPr>
        <p:spPr>
          <a:xfrm>
            <a:off x="921264" y="4051855"/>
            <a:ext cx="10459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Helvetica Light" panose="020B0403020202020204" pitchFamily="34" charset="0"/>
              </a:rPr>
              <a:t>Floats</a:t>
            </a:r>
            <a:r>
              <a:rPr lang="en-US" sz="2800" dirty="0">
                <a:latin typeface="Helvetica Light" panose="020B0403020202020204" pitchFamily="34" charset="0"/>
              </a:rPr>
              <a:t>: ' floating’ decimal point (simply means there is a decimal)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A3D566-DF7F-7847-B3E9-7C8801F43BBB}"/>
              </a:ext>
            </a:extLst>
          </p:cNvPr>
          <p:cNvSpPr txBox="1"/>
          <p:nvPr/>
        </p:nvSpPr>
        <p:spPr>
          <a:xfrm>
            <a:off x="884334" y="4802357"/>
            <a:ext cx="1069074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F1 = 1.3333		# no quotes for floats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F2 = '.111'		# quotes make this a string</a:t>
            </a:r>
          </a:p>
          <a:p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F3 = float(F2)	# float function converts to float</a:t>
            </a:r>
          </a:p>
        </p:txBody>
      </p:sp>
    </p:spTree>
    <p:extLst>
      <p:ext uri="{BB962C8B-B14F-4D97-AF65-F5344CB8AC3E}">
        <p14:creationId xmlns:p14="http://schemas.microsoft.com/office/powerpoint/2010/main" val="2160985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3CF459-0F89-D345-AA63-7A331BEB4ACC}"/>
              </a:ext>
            </a:extLst>
          </p:cNvPr>
          <p:cNvSpPr txBox="1"/>
          <p:nvPr/>
        </p:nvSpPr>
        <p:spPr>
          <a:xfrm>
            <a:off x="793218" y="490037"/>
            <a:ext cx="9781845" cy="10310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300" b="1" dirty="0">
                <a:latin typeface="HELVETICA LIGHT" panose="020B0403020202020204" pitchFamily="34" charset="0"/>
              </a:rPr>
              <a:t>Formatting Output with f-strings</a:t>
            </a:r>
          </a:p>
          <a:p>
            <a:r>
              <a:rPr lang="en-US" sz="2800" dirty="0">
                <a:latin typeface="Helvetica Light" panose="020B0403020202020204" pitchFamily="34" charset="0"/>
              </a:rPr>
              <a:t>Combine text and variables to create clear, readable output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1DA4CF-8554-4D33-D1A5-5027321464FF}"/>
              </a:ext>
            </a:extLst>
          </p:cNvPr>
          <p:cNvSpPr txBox="1"/>
          <p:nvPr/>
        </p:nvSpPr>
        <p:spPr>
          <a:xfrm>
            <a:off x="1275145" y="2310471"/>
            <a:ext cx="964171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name =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"Lebron"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points =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{name}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scored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{points} 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points"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029943-87FF-3E04-C158-D8D4A44F8A26}"/>
              </a:ext>
            </a:extLst>
          </p:cNvPr>
          <p:cNvSpPr txBox="1"/>
          <p:nvPr/>
        </p:nvSpPr>
        <p:spPr>
          <a:xfrm>
            <a:off x="1275145" y="4646895"/>
            <a:ext cx="96417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value = 2 / 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28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f"Value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{value:</a:t>
            </a: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.3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f}</a:t>
            </a:r>
            <a:r>
              <a:rPr lang="en-US" sz="2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9023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0BC4A2-9B62-A242-A5D4-64C574932116}"/>
              </a:ext>
            </a:extLst>
          </p:cNvPr>
          <p:cNvSpPr txBox="1"/>
          <p:nvPr/>
        </p:nvSpPr>
        <p:spPr>
          <a:xfrm>
            <a:off x="2643370" y="237965"/>
            <a:ext cx="74558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Exploring python: type(), help() and </a:t>
            </a:r>
            <a:r>
              <a:rPr lang="en-US" sz="3200" b="1" dirty="0" err="1">
                <a:latin typeface="Helvetica Light" panose="020B0403020202020204" pitchFamily="34" charset="0"/>
              </a:rPr>
              <a:t>dir</a:t>
            </a:r>
            <a:r>
              <a:rPr lang="en-US" sz="3200" b="1" dirty="0">
                <a:latin typeface="Helvetica Light" panose="020B0403020202020204" pitchFamily="34" charset="0"/>
              </a:rPr>
              <a:t>()</a:t>
            </a:r>
          </a:p>
          <a:p>
            <a:pPr algn="ctr"/>
            <a:r>
              <a:rPr lang="en-US" sz="2800" b="1" dirty="0">
                <a:latin typeface="Helvetica Light" panose="020B0403020202020204" pitchFamily="34" charset="0"/>
              </a:rPr>
              <a:t>What is an object, and what can I do with it?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8A9B3A-DE19-0F8D-A034-DBD39392B0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8306326"/>
              </p:ext>
            </p:extLst>
          </p:nvPr>
        </p:nvGraphicFramePr>
        <p:xfrm>
          <a:off x="545431" y="1532824"/>
          <a:ext cx="11101137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00379">
                  <a:extLst>
                    <a:ext uri="{9D8B030D-6E8A-4147-A177-3AD203B41FA5}">
                      <a16:colId xmlns:a16="http://schemas.microsoft.com/office/drawing/2014/main" val="2630499926"/>
                    </a:ext>
                  </a:extLst>
                </a:gridCol>
                <a:gridCol w="3700379">
                  <a:extLst>
                    <a:ext uri="{9D8B030D-6E8A-4147-A177-3AD203B41FA5}">
                      <a16:colId xmlns:a16="http://schemas.microsoft.com/office/drawing/2014/main" val="3140850162"/>
                    </a:ext>
                  </a:extLst>
                </a:gridCol>
                <a:gridCol w="3700379">
                  <a:extLst>
                    <a:ext uri="{9D8B030D-6E8A-4147-A177-3AD203B41FA5}">
                      <a16:colId xmlns:a16="http://schemas.microsoft.com/office/drawing/2014/main" val="16199923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i="0" dirty="0">
                          <a:effectLst/>
                          <a:latin typeface="Helvetica Light" panose="020B0403020202020204" pitchFamily="34" charset="0"/>
                        </a:rPr>
                        <a:t>What is it?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i="0">
                          <a:effectLst/>
                          <a:latin typeface="Helvetica Light" panose="020B0403020202020204" pitchFamily="34" charset="0"/>
                        </a:rPr>
                        <a:t>What can it do?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i="0" dirty="0">
                          <a:effectLst/>
                          <a:latin typeface="Helvetica Light" panose="020B0403020202020204" pitchFamily="34" charset="0"/>
                        </a:rPr>
                        <a:t>How does it work?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3643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dir()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help()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94221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 dirty="0">
                          <a:effectLst/>
                          <a:latin typeface="Helvetica Light" panose="020B0403020202020204" pitchFamily="34" charset="0"/>
                        </a:rPr>
                        <a:t>Identify the type of an object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>
                          <a:effectLst/>
                          <a:latin typeface="Helvetica Light" panose="020B0403020202020204" pitchFamily="34" charset="0"/>
                        </a:rPr>
                        <a:t>See available methods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>
                          <a:effectLst/>
                          <a:latin typeface="Helvetica Light" panose="020B0403020202020204" pitchFamily="34" charset="0"/>
                        </a:rPr>
                        <a:t>Learn how a method works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18136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type(seq)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dir(seq)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help(</a:t>
                      </a:r>
                      <a:r>
                        <a:rPr lang="en-US" sz="2200" b="0" i="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seq.count</a:t>
                      </a:r>
                      <a:r>
                        <a:rPr lang="en-US" sz="2200" b="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56765172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A0A7BE7D-1CED-F4D1-F088-B5EFC5A3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203"/>
          <a:stretch>
            <a:fillRect/>
          </a:stretch>
        </p:blipFill>
        <p:spPr>
          <a:xfrm>
            <a:off x="4176294" y="4098020"/>
            <a:ext cx="3518568" cy="27049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547DC5-0399-350D-D79D-79DA92AA7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7406" y="4237783"/>
            <a:ext cx="4066030" cy="14063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E7E7A95-521D-284A-D3BE-9008AF2862D2}"/>
              </a:ext>
            </a:extLst>
          </p:cNvPr>
          <p:cNvSpPr txBox="1"/>
          <p:nvPr/>
        </p:nvSpPr>
        <p:spPr>
          <a:xfrm>
            <a:off x="545431" y="4098020"/>
            <a:ext cx="32177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Helvetica Light" panose="020B0403020202020204" pitchFamily="34" charset="0"/>
              </a:rPr>
              <a:t>To change type of an object, you can apply:</a:t>
            </a:r>
          </a:p>
          <a:p>
            <a:endParaRPr lang="en-US" sz="2400" dirty="0">
              <a:latin typeface="Helvetica Light" panose="020B0403020202020204" pitchFamily="34" charset="0"/>
            </a:endParaRP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float(var)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string(var)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int(var)</a:t>
            </a:r>
          </a:p>
        </p:txBody>
      </p:sp>
    </p:spTree>
    <p:extLst>
      <p:ext uri="{BB962C8B-B14F-4D97-AF65-F5344CB8AC3E}">
        <p14:creationId xmlns:p14="http://schemas.microsoft.com/office/powerpoint/2010/main" val="1300954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2D95E-5FD7-29EB-067C-917529C1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392883-1339-07F7-DC2D-86C3E7D64BB1}"/>
              </a:ext>
            </a:extLst>
          </p:cNvPr>
          <p:cNvSpPr txBox="1"/>
          <p:nvPr/>
        </p:nvSpPr>
        <p:spPr>
          <a:xfrm>
            <a:off x="2643370" y="237965"/>
            <a:ext cx="70278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Helvetica Light" panose="020B0403020202020204" pitchFamily="34" charset="0"/>
              </a:rPr>
              <a:t>Jupyter: tab autocomplete helps a ton</a:t>
            </a:r>
            <a:endParaRPr lang="en-US" sz="2800" b="1" dirty="0">
              <a:latin typeface="Helvetica Light" panose="020B0403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E78523-5F24-9B39-642F-D5000EFE9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671" y="2251235"/>
            <a:ext cx="5391645" cy="32822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652D9E-5869-1FAE-B785-82D640E84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532" y="2251235"/>
            <a:ext cx="5054600" cy="4368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BE508F8-8A53-4755-9351-64C818B3F05B}"/>
              </a:ext>
            </a:extLst>
          </p:cNvPr>
          <p:cNvSpPr txBox="1"/>
          <p:nvPr/>
        </p:nvSpPr>
        <p:spPr>
          <a:xfrm>
            <a:off x="376671" y="1549072"/>
            <a:ext cx="35221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List stored variables: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C895A6-3569-2929-D0FC-CED9F64D6DCF}"/>
              </a:ext>
            </a:extLst>
          </p:cNvPr>
          <p:cNvSpPr txBox="1"/>
          <p:nvPr/>
        </p:nvSpPr>
        <p:spPr>
          <a:xfrm>
            <a:off x="6400481" y="1549072"/>
            <a:ext cx="50193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List methods by variable type:</a:t>
            </a:r>
          </a:p>
        </p:txBody>
      </p:sp>
    </p:spTree>
    <p:extLst>
      <p:ext uri="{BB962C8B-B14F-4D97-AF65-F5344CB8AC3E}">
        <p14:creationId xmlns:p14="http://schemas.microsoft.com/office/powerpoint/2010/main" val="470968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C28B14-71D3-284A-B530-F620DCCC2513}"/>
              </a:ext>
            </a:extLst>
          </p:cNvPr>
          <p:cNvSpPr txBox="1"/>
          <p:nvPr/>
        </p:nvSpPr>
        <p:spPr>
          <a:xfrm>
            <a:off x="1762813" y="191687"/>
            <a:ext cx="5808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Helvetica Light" panose="020B0403020202020204" pitchFamily="34" charset="0"/>
              </a:rPr>
              <a:t>Interactive python: </a:t>
            </a:r>
            <a:r>
              <a:rPr lang="en-US" sz="3200" dirty="0" err="1">
                <a:latin typeface="Helvetica Light" panose="020B0403020202020204" pitchFamily="34" charset="0"/>
              </a:rPr>
              <a:t>Ipy</a:t>
            </a:r>
            <a:r>
              <a:rPr lang="en-US" sz="3200" dirty="0">
                <a:latin typeface="Helvetica Light" panose="020B0403020202020204" pitchFamily="34" charset="0"/>
              </a:rPr>
              <a:t> console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A3819C-7CA5-BF45-9CD1-3A9F60B3CBBF}"/>
              </a:ext>
            </a:extLst>
          </p:cNvPr>
          <p:cNvSpPr txBox="1"/>
          <p:nvPr/>
        </p:nvSpPr>
        <p:spPr>
          <a:xfrm>
            <a:off x="9422296" y="1576781"/>
            <a:ext cx="2769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Light" panose="020B0403020202020204" pitchFamily="34" charset="0"/>
              </a:rPr>
              <a:t>Launch </a:t>
            </a:r>
            <a:r>
              <a:rPr lang="en-US" b="1" dirty="0" err="1">
                <a:latin typeface="Helvetica Light" panose="020B0403020202020204" pitchFamily="34" charset="0"/>
              </a:rPr>
              <a:t>Jupyter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b="1" dirty="0" err="1">
                <a:latin typeface="Helvetica Light" panose="020B0403020202020204" pitchFamily="34" charset="0"/>
              </a:rPr>
              <a:t>Qtconsole</a:t>
            </a:r>
            <a:r>
              <a:rPr lang="en-US" b="1" dirty="0">
                <a:latin typeface="Helvetica Light" panose="020B0403020202020204" pitchFamily="34" charset="0"/>
              </a:rPr>
              <a:t> </a:t>
            </a:r>
            <a:r>
              <a:rPr lang="en-US" dirty="0">
                <a:latin typeface="Helvetica Light" panose="020B0403020202020204" pitchFamily="34" charset="0"/>
              </a:rPr>
              <a:t>from Anaconda navigator</a:t>
            </a:r>
            <a:endParaRPr lang="en-US" dirty="0"/>
          </a:p>
        </p:txBody>
      </p:sp>
      <p:pic>
        <p:nvPicPr>
          <p:cNvPr id="8" name="Picture 7" descr="Text&#10;&#10;Description automatically generated with low confidence">
            <a:extLst>
              <a:ext uri="{FF2B5EF4-FFF2-40B4-BE49-F238E27FC236}">
                <a16:creationId xmlns:a16="http://schemas.microsoft.com/office/drawing/2014/main" id="{74D1C905-9C60-E144-8711-9CB9C8FFF4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0974"/>
          <a:stretch/>
        </p:blipFill>
        <p:spPr>
          <a:xfrm>
            <a:off x="775648" y="1051034"/>
            <a:ext cx="4426974" cy="5436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EB4600-4550-CB41-A5C9-110785544103}"/>
              </a:ext>
            </a:extLst>
          </p:cNvPr>
          <p:cNvSpPr txBox="1"/>
          <p:nvPr/>
        </p:nvSpPr>
        <p:spPr>
          <a:xfrm>
            <a:off x="5399633" y="3229556"/>
            <a:ext cx="317949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Functions dually as a terminal window and python interactive prompt, tab complete functionality</a:t>
            </a:r>
            <a:endParaRPr lang="en-U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6067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C2B915-E064-284F-A5DB-4F28686FADAB}"/>
              </a:ext>
            </a:extLst>
          </p:cNvPr>
          <p:cNvSpPr/>
          <p:nvPr/>
        </p:nvSpPr>
        <p:spPr>
          <a:xfrm>
            <a:off x="1397876" y="1836321"/>
            <a:ext cx="7924800" cy="129266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latin typeface="Courier" pitchFamily="2" charset="0"/>
              </a:rPr>
              <a:t>name3 = input("Enter a string: ")</a:t>
            </a:r>
          </a:p>
          <a:p>
            <a:endParaRPr lang="en-US" sz="2600" dirty="0">
              <a:latin typeface="Courier" pitchFamily="2" charset="0"/>
            </a:endParaRPr>
          </a:p>
          <a:p>
            <a:r>
              <a:rPr lang="en-US" sz="2600" dirty="0">
                <a:latin typeface="Courier" pitchFamily="2" charset="0"/>
              </a:rPr>
              <a:t>print(name3)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46C60C-2780-A249-BFE2-FA1D120D6DB6}"/>
              </a:ext>
            </a:extLst>
          </p:cNvPr>
          <p:cNvSpPr/>
          <p:nvPr/>
        </p:nvSpPr>
        <p:spPr>
          <a:xfrm>
            <a:off x="1397876" y="4140640"/>
            <a:ext cx="7924800" cy="209288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‘Enter a string: ‘ prompt will appear at command line. Type a string</a:t>
            </a:r>
          </a:p>
          <a:p>
            <a:endParaRPr lang="en-US" sz="2600" dirty="0">
              <a:solidFill>
                <a:srgbClr val="002060"/>
              </a:solidFill>
              <a:latin typeface="Courier" pitchFamily="2" charset="0"/>
            </a:endParaRPr>
          </a:p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If ‘Burrow’ is typed and Enter hit,</a:t>
            </a:r>
          </a:p>
          <a:p>
            <a:r>
              <a:rPr lang="en-US" sz="2600" dirty="0">
                <a:solidFill>
                  <a:srgbClr val="002060"/>
                </a:solidFill>
                <a:latin typeface="Courier" pitchFamily="2" charset="0"/>
              </a:rPr>
              <a:t>‘Burrow’ should print to screen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9BBFBD-9BEB-1243-BC42-5A02EA92B35E}"/>
              </a:ext>
            </a:extLst>
          </p:cNvPr>
          <p:cNvSpPr/>
          <p:nvPr/>
        </p:nvSpPr>
        <p:spPr>
          <a:xfrm>
            <a:off x="1332303" y="364500"/>
            <a:ext cx="9910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333333"/>
                </a:solidFill>
                <a:latin typeface="HELVETICA LIGHT" panose="020B0403020202020204" pitchFamily="34" charset="0"/>
              </a:rPr>
              <a:t>Pulling raw input from the command line </a:t>
            </a:r>
            <a:r>
              <a:rPr lang="en-US" sz="3200" b="1" dirty="0">
                <a:solidFill>
                  <a:srgbClr val="333333"/>
                </a:solidFill>
                <a:latin typeface="Courier" pitchFamily="2" charset="0"/>
              </a:rPr>
              <a:t>(input())</a:t>
            </a:r>
            <a:endParaRPr lang="en-US" sz="3200" b="1" dirty="0">
              <a:solidFill>
                <a:srgbClr val="333333"/>
              </a:solidFill>
              <a:effectLst/>
              <a:latin typeface="Courier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C82C0-485D-454E-AE1B-2D525EBB7573}"/>
              </a:ext>
            </a:extLst>
          </p:cNvPr>
          <p:cNvSpPr txBox="1"/>
          <p:nvPr/>
        </p:nvSpPr>
        <p:spPr>
          <a:xfrm>
            <a:off x="1332303" y="1302050"/>
            <a:ext cx="167065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latin typeface="Helvetica Light" panose="020B0403020202020204" pitchFamily="34" charset="0"/>
              </a:rPr>
              <a:t>In Python: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8DC85D-EDA8-5C43-BF1B-DCEEE2CD8A89}"/>
              </a:ext>
            </a:extLst>
          </p:cNvPr>
          <p:cNvSpPr txBox="1"/>
          <p:nvPr/>
        </p:nvSpPr>
        <p:spPr>
          <a:xfrm>
            <a:off x="1332303" y="3648197"/>
            <a:ext cx="396775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dirty="0">
                <a:solidFill>
                  <a:srgbClr val="002060"/>
                </a:solidFill>
                <a:latin typeface="Helvetica Light" panose="020B0403020202020204" pitchFamily="34" charset="0"/>
              </a:rPr>
              <a:t>At command line prompt:</a:t>
            </a:r>
          </a:p>
        </p:txBody>
      </p:sp>
    </p:spTree>
    <p:extLst>
      <p:ext uri="{BB962C8B-B14F-4D97-AF65-F5344CB8AC3E}">
        <p14:creationId xmlns:p14="http://schemas.microsoft.com/office/powerpoint/2010/main" val="206937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DC5892-0CFC-524E-BB4E-0851726A9AE2}"/>
              </a:ext>
            </a:extLst>
          </p:cNvPr>
          <p:cNvSpPr/>
          <p:nvPr/>
        </p:nvSpPr>
        <p:spPr>
          <a:xfrm>
            <a:off x="457200" y="399030"/>
            <a:ext cx="10849232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Helvetica Light" panose="020B0403020202020204" pitchFamily="34" charset="0"/>
              </a:rPr>
              <a:t>Practice script 3. </a:t>
            </a:r>
            <a:r>
              <a:rPr lang="en-US" sz="2200" dirty="0">
                <a:latin typeface="Helvetica Light" panose="020B0403020202020204" pitchFamily="34" charset="0"/>
              </a:rPr>
              <a:t>Write a python script to calculate expected genotype frequencies in a population under Hardy Weinberg Equilibrium based on known allele frequencies at a gene with TWO alleles. As a reminder, a population under Hardy-Weinberg equilibrium has genotype frequencies predictable from allele frequencies (</a:t>
            </a:r>
            <a:r>
              <a:rPr lang="en-US" sz="2200" b="1" dirty="0">
                <a:latin typeface="Helvetica Light" panose="020B0403020202020204" pitchFamily="34" charset="0"/>
              </a:rPr>
              <a:t>p</a:t>
            </a:r>
            <a:r>
              <a:rPr lang="en-US" sz="2200" dirty="0">
                <a:latin typeface="Helvetica Light" panose="020B0403020202020204" pitchFamily="34" charset="0"/>
              </a:rPr>
              <a:t> and </a:t>
            </a:r>
            <a:r>
              <a:rPr lang="en-US" sz="2200" b="1" dirty="0">
                <a:latin typeface="Helvetica Light" panose="020B0403020202020204" pitchFamily="34" charset="0"/>
              </a:rPr>
              <a:t>q</a:t>
            </a:r>
            <a:r>
              <a:rPr lang="en-US" sz="2200" dirty="0">
                <a:latin typeface="Helvetica Light" panose="020B0403020202020204" pitchFamily="34" charset="0"/>
              </a:rPr>
              <a:t>):</a:t>
            </a:r>
          </a:p>
          <a:p>
            <a:r>
              <a:rPr lang="en-US" sz="2200" dirty="0">
                <a:latin typeface="Helvetica Light" panose="020B0403020202020204" pitchFamily="34" charset="0"/>
              </a:rPr>
              <a:t> 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p**2 + 2pq + q**2 = 1</a:t>
            </a:r>
          </a:p>
          <a:p>
            <a:endParaRPr lang="en-US" sz="2200" b="1" dirty="0">
              <a:latin typeface="Helvetica Light" panose="020B0403020202020204" pitchFamily="34" charset="0"/>
            </a:endParaRPr>
          </a:p>
          <a:p>
            <a:r>
              <a:rPr lang="en-US" sz="2200" dirty="0">
                <a:latin typeface="Helvetica Light" panose="020B0403020202020204" pitchFamily="34" charset="0"/>
              </a:rPr>
              <a:t>So, your script needs to return three values: The AA genotype </a:t>
            </a:r>
            <a:r>
              <a:rPr lang="en-US" sz="2200" dirty="0" err="1">
                <a:latin typeface="Helvetica Light" panose="020B0403020202020204" pitchFamily="34" charset="0"/>
              </a:rPr>
              <a:t>freq</a:t>
            </a:r>
            <a:r>
              <a:rPr lang="en-US" sz="2200" dirty="0">
                <a:latin typeface="Helvetica Light" panose="020B0403020202020204" pitchFamily="34" charset="0"/>
              </a:rPr>
              <a:t>: </a:t>
            </a:r>
            <a:r>
              <a:rPr lang="en-US" sz="2200" b="1" dirty="0">
                <a:latin typeface="Helvetica Light" panose="020B0403020202020204" pitchFamily="34" charset="0"/>
              </a:rPr>
              <a:t>p**2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					 The </a:t>
            </a:r>
            <a:r>
              <a:rPr lang="en-US" sz="2200" dirty="0">
                <a:latin typeface="Helvetica Light" panose="020B0403020202020204" pitchFamily="34" charset="0"/>
              </a:rPr>
              <a:t>Aa genotype freq.: </a:t>
            </a:r>
            <a:r>
              <a:rPr lang="en-US" sz="2200" b="1" dirty="0">
                <a:latin typeface="Helvetica Light" panose="020B0403020202020204" pitchFamily="34" charset="0"/>
              </a:rPr>
              <a:t>2pq</a:t>
            </a:r>
          </a:p>
          <a:p>
            <a:r>
              <a:rPr lang="en-US" sz="2200" b="1" dirty="0">
                <a:latin typeface="Helvetica Light" panose="020B0403020202020204" pitchFamily="34" charset="0"/>
              </a:rPr>
              <a:t>						 The</a:t>
            </a:r>
            <a:r>
              <a:rPr lang="en-US" sz="2200" dirty="0">
                <a:latin typeface="Helvetica Light" panose="020B0403020202020204" pitchFamily="34" charset="0"/>
              </a:rPr>
              <a:t> aa genotype freq.: </a:t>
            </a:r>
            <a:r>
              <a:rPr lang="en-US" sz="2200" b="1" dirty="0">
                <a:latin typeface="Helvetica Light" panose="020B0403020202020204" pitchFamily="34" charset="0"/>
              </a:rPr>
              <a:t>q**2 = 1)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CE7FB-2AD3-1348-8710-44B629CDD5A3}"/>
              </a:ext>
            </a:extLst>
          </p:cNvPr>
          <p:cNvSpPr/>
          <p:nvPr/>
        </p:nvSpPr>
        <p:spPr>
          <a:xfrm>
            <a:off x="362465" y="4215459"/>
            <a:ext cx="11372335" cy="2339102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000" b="1" dirty="0">
                <a:latin typeface="Helvetica Light" panose="020B0403020202020204" pitchFamily="34" charset="0"/>
              </a:rPr>
              <a:t>Points (hints)</a:t>
            </a: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The program should use the </a:t>
            </a:r>
            <a:r>
              <a:rPr lang="en-US" b="1" dirty="0">
                <a:latin typeface="Helvetica Light" panose="020B0403020202020204" pitchFamily="34" charset="0"/>
              </a:rPr>
              <a:t>input() </a:t>
            </a:r>
            <a:r>
              <a:rPr lang="en-US" dirty="0">
                <a:latin typeface="Helvetica Light" panose="020B0403020202020204" pitchFamily="34" charset="0"/>
              </a:rPr>
              <a:t>function to prompt a user to enter a value for p (or q) from the command line.</a:t>
            </a:r>
          </a:p>
          <a:p>
            <a:pPr marL="342900" indent="-342900">
              <a:buFontTx/>
              <a:buChar char="-"/>
            </a:pPr>
            <a:endParaRPr lang="en-US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A value provided from command line will be treated as a string. So, before doing math you will need to convert to float </a:t>
            </a:r>
            <a:r>
              <a:rPr lang="en-US" b="1" dirty="0">
                <a:latin typeface="Helvetica Light" panose="020B0403020202020204" pitchFamily="34" charset="0"/>
              </a:rPr>
              <a:t>(A = float(</a:t>
            </a:r>
            <a:r>
              <a:rPr lang="en-US" b="1" dirty="0" err="1">
                <a:latin typeface="Helvetica Light" panose="020B0403020202020204" pitchFamily="34" charset="0"/>
              </a:rPr>
              <a:t>Inputvalue</a:t>
            </a:r>
            <a:r>
              <a:rPr lang="en-US" b="1" dirty="0">
                <a:latin typeface="Helvetica Light" panose="020B0403020202020204" pitchFamily="34" charset="0"/>
              </a:rPr>
              <a:t>))</a:t>
            </a:r>
          </a:p>
          <a:p>
            <a:pPr marL="342900" indent="-342900">
              <a:buFontTx/>
              <a:buChar char="-"/>
            </a:pPr>
            <a:endParaRPr lang="en-US" b="1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dirty="0">
                <a:latin typeface="Helvetica Light" panose="020B0403020202020204" pitchFamily="34" charset="0"/>
              </a:rPr>
              <a:t>As part of this exercise, you will need to control the precision of the floats printed (e.g., </a:t>
            </a:r>
            <a:r>
              <a:rPr lang="en-US">
                <a:latin typeface="Helvetica Light" panose="020B0403020202020204" pitchFamily="34" charset="0"/>
              </a:rPr>
              <a:t>using f-string)</a:t>
            </a:r>
            <a:endParaRPr lang="en-US" b="1" dirty="0">
              <a:latin typeface="Helvetica Light" panose="020B0403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2FFC77-425C-444A-AB1A-BECD6F3B54C9}"/>
              </a:ext>
            </a:extLst>
          </p:cNvPr>
          <p:cNvSpPr txBox="1"/>
          <p:nvPr/>
        </p:nvSpPr>
        <p:spPr>
          <a:xfrm>
            <a:off x="13234086" y="3484605"/>
            <a:ext cx="18473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357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882925" y="433160"/>
            <a:ext cx="207140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This week: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6A57C-3E55-AB49-8F7A-BD8712B63F69}"/>
              </a:ext>
            </a:extLst>
          </p:cNvPr>
          <p:cNvSpPr txBox="1"/>
          <p:nvPr/>
        </p:nvSpPr>
        <p:spPr>
          <a:xfrm>
            <a:off x="782563" y="1541156"/>
            <a:ext cx="1026712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python_1_primer.ipynb</a:t>
            </a:r>
          </a:p>
          <a:p>
            <a:pPr marL="514350" indent="-514350">
              <a:buAutoNum type="arabicPeriod"/>
            </a:pPr>
            <a:endParaRPr lang="en-US" sz="2600" dirty="0">
              <a:latin typeface="Helvetica Light" panose="020B0403020202020204" pitchFamily="34" charset="0"/>
            </a:endParaRPr>
          </a:p>
          <a:p>
            <a:pPr marL="514350" indent="-514350">
              <a:buFontTx/>
              <a:buAutoNum type="arabicPeriod"/>
            </a:pPr>
            <a:r>
              <a:rPr lang="en-US" sz="2600" dirty="0">
                <a:latin typeface="Helvetica Light" panose="020B0403020202020204" pitchFamily="34" charset="0"/>
              </a:rPr>
              <a:t>assignment_python1.md</a:t>
            </a:r>
          </a:p>
          <a:p>
            <a:pPr lvl="1"/>
            <a:endParaRPr lang="en-US" sz="2600" dirty="0">
              <a:latin typeface="Helvetica Light" panose="020B0403020202020204" pitchFamily="34" charset="0"/>
            </a:endParaRPr>
          </a:p>
          <a:p>
            <a:pPr lvl="1"/>
            <a:r>
              <a:rPr lang="en-US" sz="2600" b="1" dirty="0">
                <a:latin typeface="Helvetica Light" panose="020B0403020202020204" pitchFamily="34" charset="0"/>
              </a:rPr>
              <a:t>Email me </a:t>
            </a:r>
            <a:r>
              <a:rPr lang="en-US" sz="2600" b="1" dirty="0" err="1">
                <a:latin typeface="Helvetica Light" panose="020B0403020202020204" pitchFamily="34" charset="0"/>
              </a:rPr>
              <a:t>jupyter</a:t>
            </a:r>
            <a:r>
              <a:rPr lang="en-US" sz="2600" b="1" dirty="0">
                <a:latin typeface="Helvetica Light" panose="020B0403020202020204" pitchFamily="34" charset="0"/>
              </a:rPr>
              <a:t> notebook or scripts for 1, 2, 3.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F650B-8D6C-4741-BB29-74826F1F6CC7}"/>
              </a:ext>
            </a:extLst>
          </p:cNvPr>
          <p:cNvSpPr txBox="1"/>
          <p:nvPr/>
        </p:nvSpPr>
        <p:spPr>
          <a:xfrm>
            <a:off x="882924" y="5069129"/>
            <a:ext cx="21579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Next week: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384E4-4E42-FA41-BC9C-1CEB2899F41A}"/>
              </a:ext>
            </a:extLst>
          </p:cNvPr>
          <p:cNvSpPr txBox="1"/>
          <p:nvPr/>
        </p:nvSpPr>
        <p:spPr>
          <a:xfrm>
            <a:off x="882924" y="5623127"/>
            <a:ext cx="10267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Helvetica Light" panose="020B0403020202020204" pitchFamily="34" charset="0"/>
              </a:rPr>
              <a:t>lists, conditionals, loops </a:t>
            </a:r>
          </a:p>
        </p:txBody>
      </p:sp>
    </p:spTree>
    <p:extLst>
      <p:ext uri="{BB962C8B-B14F-4D97-AF65-F5344CB8AC3E}">
        <p14:creationId xmlns:p14="http://schemas.microsoft.com/office/powerpoint/2010/main" val="1633021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506A35-DA43-FB4C-BEF3-FE4EEC3D95B4}"/>
              </a:ext>
            </a:extLst>
          </p:cNvPr>
          <p:cNvSpPr txBox="1"/>
          <p:nvPr/>
        </p:nvSpPr>
        <p:spPr>
          <a:xfrm>
            <a:off x="882925" y="262338"/>
            <a:ext cx="351570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latin typeface="Helvetica Light" panose="020B0403020202020204" pitchFamily="34" charset="0"/>
              </a:rPr>
              <a:t>Notes on schedule: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6A57C-3E55-AB49-8F7A-BD8712B63F69}"/>
              </a:ext>
            </a:extLst>
          </p:cNvPr>
          <p:cNvSpPr txBox="1"/>
          <p:nvPr/>
        </p:nvSpPr>
        <p:spPr>
          <a:xfrm>
            <a:off x="496276" y="1002094"/>
            <a:ext cx="113909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>
                <a:latin typeface="Helvetica Light" panose="020B0403020202020204" pitchFamily="34" charset="0"/>
              </a:rPr>
              <a:t>I.1-2 pager independent project description by mid October</a:t>
            </a:r>
          </a:p>
          <a:p>
            <a:pPr marL="514350" indent="-514350">
              <a:buAutoNum type="arabicPeriod"/>
            </a:pPr>
            <a:endParaRPr lang="en-US" sz="2300" dirty="0">
              <a:latin typeface="Helvetica Light" panose="020B0403020202020204" pitchFamily="34" charset="0"/>
            </a:endParaRPr>
          </a:p>
          <a:p>
            <a:r>
              <a:rPr lang="en-US" sz="2300" dirty="0">
                <a:latin typeface="Helvetica Light" panose="020B0403020202020204" pitchFamily="34" charset="0"/>
              </a:rPr>
              <a:t>If you don’t have datasets or specific ideas related to your research, other options might include: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Build a </a:t>
            </a:r>
            <a:r>
              <a:rPr lang="en-US" sz="2000" b="1" dirty="0" err="1">
                <a:latin typeface="Helvetica Light" panose="020B0403020202020204" pitchFamily="34" charset="0"/>
              </a:rPr>
              <a:t>jupyter</a:t>
            </a:r>
            <a:r>
              <a:rPr lang="en-US" sz="2000" b="1" dirty="0">
                <a:latin typeface="Helvetica Light" panose="020B0403020202020204" pitchFamily="34" charset="0"/>
              </a:rPr>
              <a:t> notebook </a:t>
            </a:r>
            <a:r>
              <a:rPr lang="en-US" sz="2000" dirty="0">
                <a:latin typeface="Helvetica Light" panose="020B0403020202020204" pitchFamily="34" charset="0"/>
              </a:rPr>
              <a:t>or </a:t>
            </a:r>
            <a:r>
              <a:rPr lang="en-US" sz="2000" b="1" dirty="0" err="1">
                <a:latin typeface="Helvetica Light" panose="020B0403020202020204" pitchFamily="34" charset="0"/>
              </a:rPr>
              <a:t>Rmd</a:t>
            </a:r>
            <a:r>
              <a:rPr lang="en-US" sz="2000" dirty="0">
                <a:latin typeface="Helvetica Light" panose="020B0403020202020204" pitchFamily="34" charset="0"/>
              </a:rPr>
              <a:t> tutorial or demo for a specific python module (package) that you have an interest in learning in more detail or applying in your future work (we will cover R markdown in detail later in the semester, syllabus modifications pending).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Demo a </a:t>
            </a:r>
            <a:r>
              <a:rPr lang="en-US" sz="2000" dirty="0" err="1">
                <a:latin typeface="Helvetica Light" panose="020B0403020202020204" pitchFamily="34" charset="0"/>
              </a:rPr>
              <a:t>linux</a:t>
            </a:r>
            <a:r>
              <a:rPr lang="en-US" sz="2000" dirty="0">
                <a:latin typeface="Helvetica Light" panose="020B0403020202020204" pitchFamily="34" charset="0"/>
              </a:rPr>
              <a:t> based analysis workflow for analyses central to your research focus (example, </a:t>
            </a:r>
            <a:r>
              <a:rPr lang="en-US" sz="2000" dirty="0" err="1">
                <a:latin typeface="Helvetica Light" panose="020B0403020202020204" pitchFamily="34" charset="0"/>
              </a:rPr>
              <a:t>MetaPhlAl</a:t>
            </a:r>
            <a:r>
              <a:rPr lang="en-US" sz="2000" dirty="0">
                <a:latin typeface="Helvetica Light" panose="020B0403020202020204" pitchFamily="34" charset="0"/>
              </a:rPr>
              <a:t> workflow for metagenomic data; https://</a:t>
            </a:r>
            <a:r>
              <a:rPr lang="en-US" sz="2000" dirty="0" err="1">
                <a:latin typeface="Helvetica Light" panose="020B0403020202020204" pitchFamily="34" charset="0"/>
              </a:rPr>
              <a:t>huttenhower.sph.harvard.edu</a:t>
            </a:r>
            <a:r>
              <a:rPr lang="en-US" sz="2000" dirty="0">
                <a:latin typeface="Helvetica Light" panose="020B0403020202020204" pitchFamily="34" charset="0"/>
              </a:rPr>
              <a:t>/</a:t>
            </a:r>
            <a:r>
              <a:rPr lang="en-US" sz="2000" dirty="0" err="1">
                <a:latin typeface="Helvetica Light" panose="020B0403020202020204" pitchFamily="34" charset="0"/>
              </a:rPr>
              <a:t>metaphlan</a:t>
            </a:r>
            <a:r>
              <a:rPr lang="en-US" sz="1200" dirty="0">
                <a:latin typeface="Helvetica Light" panose="020B0403020202020204" pitchFamily="34" charset="0"/>
              </a:rPr>
              <a:t>/</a:t>
            </a:r>
            <a:r>
              <a:rPr lang="en-US" sz="1600" dirty="0">
                <a:latin typeface="Helvetica Light" panose="020B0403020202020204" pitchFamily="34" charset="0"/>
              </a:rPr>
              <a:t>).</a:t>
            </a:r>
          </a:p>
          <a:p>
            <a:endParaRPr lang="en-US" sz="2000" dirty="0">
              <a:latin typeface="Helvetica Light" panose="020B0403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sz="2000" dirty="0">
                <a:latin typeface="Helvetica Light" panose="020B0403020202020204" pitchFamily="34" charset="0"/>
              </a:rPr>
              <a:t>Design something new to automate commonly required tasks for your labs research workflow.</a:t>
            </a:r>
          </a:p>
          <a:p>
            <a:pPr marL="342900" indent="-342900">
              <a:buFontTx/>
              <a:buChar char="-"/>
            </a:pPr>
            <a:endParaRPr lang="en-US" sz="2000" dirty="0">
              <a:latin typeface="Helvetica Light" panose="020B0403020202020204" pitchFamily="34" charset="0"/>
            </a:endParaRPr>
          </a:p>
          <a:p>
            <a:endParaRPr lang="en-US" sz="24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714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26470</TotalTime>
  <Words>1208</Words>
  <Application>Microsoft Macintosh PowerPoint</Application>
  <PresentationFormat>Widescreen</PresentationFormat>
  <Paragraphs>155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Calibri Light</vt:lpstr>
      <vt:lpstr>Courier</vt:lpstr>
      <vt:lpstr>Courier New</vt:lpstr>
      <vt:lpstr>Helvetica Light</vt:lpstr>
      <vt:lpstr>Helvetica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Thomas L Parchman</dc:creator>
  <cp:lastModifiedBy>Thomas L Parchman</cp:lastModifiedBy>
  <cp:revision>170</cp:revision>
  <dcterms:created xsi:type="dcterms:W3CDTF">2020-09-07T19:19:57Z</dcterms:created>
  <dcterms:modified xsi:type="dcterms:W3CDTF">2026-09-29T20:36:58Z</dcterms:modified>
</cp:coreProperties>
</file>