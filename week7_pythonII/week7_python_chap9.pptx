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23" r:id="rId2"/>
    <p:sldId id="337" r:id="rId3"/>
    <p:sldId id="312" r:id="rId4"/>
    <p:sldId id="325" r:id="rId5"/>
    <p:sldId id="330" r:id="rId6"/>
    <p:sldId id="338" r:id="rId7"/>
    <p:sldId id="339" r:id="rId8"/>
    <p:sldId id="340" r:id="rId9"/>
    <p:sldId id="326" r:id="rId10"/>
    <p:sldId id="331" r:id="rId11"/>
    <p:sldId id="315" r:id="rId12"/>
    <p:sldId id="333" r:id="rId13"/>
    <p:sldId id="322" r:id="rId14"/>
    <p:sldId id="328" r:id="rId15"/>
    <p:sldId id="334" r:id="rId16"/>
    <p:sldId id="341" r:id="rId17"/>
    <p:sldId id="342" r:id="rId18"/>
    <p:sldId id="343" r:id="rId19"/>
    <p:sldId id="336" r:id="rId20"/>
    <p:sldId id="344" r:id="rId21"/>
    <p:sldId id="345" r:id="rId22"/>
    <p:sldId id="346" r:id="rId23"/>
    <p:sldId id="347" r:id="rId24"/>
    <p:sldId id="33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7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30"/>
    <p:restoredTop sz="94882"/>
  </p:normalViewPr>
  <p:slideViewPr>
    <p:cSldViewPr snapToGrid="0" snapToObjects="1">
      <p:cViewPr varScale="1">
        <p:scale>
          <a:sx n="96" d="100"/>
          <a:sy n="96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AFC6F-2922-2443-A2A7-8FC41FA455C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D292F-4A4E-7444-8AE2-A048A0C0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3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Last week was largely about individual variables and strings. This week we start organizing collections of data, making decisions based on values, and repeating operations across those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1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70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D292F-4A4E-7444-8AE2-A048A0C012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93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85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99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order matters in </a:t>
            </a:r>
            <a:r>
              <a:rPr lang="en-US" dirty="0" err="1"/>
              <a:t>elif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D292F-4A4E-7444-8AE2-A048A0C012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38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conditionals let the program decide what to do; loops let it do those things repeatedly.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D292F-4A4E-7444-8AE2-A048A0C012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76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“When you get to the assignment and a problem looks complicated, don’t try to solve the whole thing at once. Ask what the first small operation is. Do I need to split a string? Extract something from a list? Loop through values? Test a condition? Save a result? Get each piece working, and then put the pieces together.”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D292F-4A4E-7444-8AE2-A048A0C012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76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CE25-777F-E14A-86A7-351C9FC2D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0636-C2AD-3C42-9D89-035522534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9BC73-23C5-E04F-A4EB-E3173CEC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B32B5-A2AA-3648-B6BE-C418C543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F7B61-296B-1C4D-8132-7FC30962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7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C738-D1E5-564F-B4F7-4FAAF79D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C2B55-180F-394A-AB03-5520C88D6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91273-F62E-6042-990E-9E370FAF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5888A-A4AC-3C47-A836-7886155D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CDADE-E31D-9D4F-8CC1-FE7932D9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5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B91C-8596-1549-9CE1-9741F58D0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5DBE3-514B-0D48-8F26-68E850D1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BCFC3-D989-0442-8E99-FDD3D035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9DBBD-7F4E-AF41-ACD8-5585C59B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88D5C-607C-224E-8A59-8B0F8767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27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BA86-363B-2149-95C9-6CE42D6A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95F2-1F20-1747-9DCD-C162138B5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30552-F690-EE45-87BE-35D8AB73C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4F682-79AE-8247-96C3-19989639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46DAE-49A6-2F4A-BBDA-B39E88D4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98D57-0903-4F47-8BC4-350FF847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9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943B-E151-4E4F-A8B8-26E86462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A72A5-A534-554C-B704-770581167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6D50F-8D14-7F45-A688-1475F959E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89F8A-DBC8-BE49-8D74-05B6E6E62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63986-D3CC-9F45-A4B0-1B3A86905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620B3-3E14-7846-A3E1-F3802FFA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D9D58-B13B-E74B-82B2-D4A2CC51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DE87A-5505-6B40-ADF9-32ABE0B3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B21F-0AAC-7A43-86F2-9DD4102B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02A4C-9E68-0A4C-AC32-40EBA093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11057-3195-094F-AD3C-E2AEE179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A8DBC-EE1F-214D-83D8-47403436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5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292CA-DCA9-104D-8885-ABC010D0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783B66-7C8F-A64E-8F45-FE1A9AAE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5893-267C-324A-A503-109B6DF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5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B77E-62C6-F24C-9407-BB8D6AF9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6C897-910F-5349-8595-F9A9004AC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74705-D0D4-4C47-8DE3-DBF20DC43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37056-1022-D84C-A446-1D782CD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75787-C670-1345-8D07-DD49E394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5F95A-E34E-8C4F-9C05-5BCD749F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8DF2-D909-D54C-AFD9-E8BF35631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E6C62-9C80-3346-9A15-E494DEDB9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1E232-C78C-1349-9FA1-D61EE751D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6D6B4-92BD-1B47-82FC-330655D2A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1167F-AAFF-B240-89D9-5C59492E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6C142-8B06-F448-90E4-ACAB3E08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7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C32F-455D-0D4D-91B4-AC58065C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DD3C7-294C-C14E-9AD1-66F01A2AA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F8EEC-B942-7846-8835-DA623CE06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6978E-F618-7342-93EB-B18A39641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7C36F-92CA-F440-83A2-3CBF5E4D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4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16333-FB50-D94C-82B7-1EB90E0DC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DED0-D768-324E-8310-8A02F8DA4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F1360-7106-F847-8BAF-94FB6471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73938-FEDA-8E44-9EC3-AE915366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C863-2DDF-234D-B289-34926D5A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9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80FCC-DC88-EF44-8736-9A86B0F5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D0105-D8C2-DA4A-B28B-A385F3DA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DDC1B-4893-0C4C-89B8-DE0846329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148A6-5714-8649-8AB3-5088539201B5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1CE9E-A0D2-6E4E-B155-890384B83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FFA8-3A77-BE47-90E9-0687B7E70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3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195222" y="1476673"/>
            <a:ext cx="515237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I. l</a:t>
            </a:r>
            <a:r>
              <a:rPr lang="en-US" sz="2800" dirty="0">
                <a:latin typeface="Helvetica Light" panose="020B0403020202020204" pitchFamily="34" charset="0"/>
              </a:rPr>
              <a:t>ists (and useful functions)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II. Decisions </a:t>
            </a:r>
            <a:r>
              <a:rPr lang="en-US" sz="2800" b="1" dirty="0">
                <a:latin typeface="Helvetica Light" panose="020B0403020202020204" pitchFamily="34" charset="0"/>
              </a:rPr>
              <a:t>(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if-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-else)</a:t>
            </a:r>
            <a:endParaRPr lang="en-US" sz="2800" b="1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III. loops </a:t>
            </a:r>
            <a:r>
              <a:rPr lang="en-US" sz="2800" b="1" dirty="0">
                <a:latin typeface="Helvetica Light" panose="020B0403020202020204" pitchFamily="34" charset="0"/>
              </a:rPr>
              <a:t>(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800" b="1" dirty="0">
                <a:latin typeface="Helvetica Light" panose="020B0403020202020204" pitchFamily="34" charset="0"/>
              </a:rPr>
              <a:t>)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1959705" y="191658"/>
            <a:ext cx="9240029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Week 7</a:t>
            </a:r>
          </a:p>
          <a:p>
            <a:pPr algn="ctr"/>
            <a:r>
              <a:rPr lang="en-US" sz="2800" dirty="0">
                <a:latin typeface="Helvetica Light" panose="020B0403020202020204" pitchFamily="34" charset="0"/>
              </a:rPr>
              <a:t>Moving from individual values to simple data processing</a:t>
            </a:r>
          </a:p>
          <a:p>
            <a:pPr algn="ctr"/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2472939" y="5127460"/>
            <a:ext cx="82135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python_2_primer.ipynb, assignment_python2.md</a:t>
            </a:r>
          </a:p>
        </p:txBody>
      </p:sp>
    </p:spTree>
    <p:extLst>
      <p:ext uri="{BB962C8B-B14F-4D97-AF65-F5344CB8AC3E}">
        <p14:creationId xmlns:p14="http://schemas.microsoft.com/office/powerpoint/2010/main" val="372356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CC9118-F244-A7DB-A708-DC0B8E214E27}"/>
              </a:ext>
            </a:extLst>
          </p:cNvPr>
          <p:cNvSpPr txBox="1"/>
          <p:nvPr/>
        </p:nvSpPr>
        <p:spPr>
          <a:xfrm>
            <a:off x="1791776" y="559398"/>
            <a:ext cx="8608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Variables can hold more than one value I: </a:t>
            </a:r>
            <a:r>
              <a:rPr lang="en-US" sz="3200" b="1" dirty="0">
                <a:latin typeface="Helvetica Light" panose="020B0403020202020204" pitchFamily="34" charset="0"/>
              </a:rPr>
              <a:t>lists</a:t>
            </a:r>
            <a:endParaRPr lang="en-US" sz="3200" b="1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BB4AF-8AE6-CBE9-721C-AAA3CBE44156}"/>
              </a:ext>
            </a:extLst>
          </p:cNvPr>
          <p:cNvSpPr txBox="1"/>
          <p:nvPr/>
        </p:nvSpPr>
        <p:spPr>
          <a:xfrm>
            <a:off x="1086521" y="3083884"/>
            <a:ext cx="399179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height = 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12.7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population = 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"Reno"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4A7F6-AB25-3CB4-561E-725F8A4C39B6}"/>
              </a:ext>
            </a:extLst>
          </p:cNvPr>
          <p:cNvSpPr txBox="1"/>
          <p:nvPr/>
        </p:nvSpPr>
        <p:spPr>
          <a:xfrm>
            <a:off x="1086521" y="2119258"/>
            <a:ext cx="3767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Scalars store one value: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EE70A-0123-4241-776C-A0E5CBE6A408}"/>
              </a:ext>
            </a:extLst>
          </p:cNvPr>
          <p:cNvSpPr txBox="1"/>
          <p:nvPr/>
        </p:nvSpPr>
        <p:spPr>
          <a:xfrm>
            <a:off x="6095999" y="2119257"/>
            <a:ext cx="411683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Lists store multiple values: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2169A-AD01-DD97-3140-BFE333CF1AE5}"/>
              </a:ext>
            </a:extLst>
          </p:cNvPr>
          <p:cNvSpPr txBox="1"/>
          <p:nvPr/>
        </p:nvSpPr>
        <p:spPr>
          <a:xfrm>
            <a:off x="6095999" y="2814943"/>
            <a:ext cx="592342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heights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[</a:t>
            </a:r>
            <a:r>
              <a:rPr lang="en-US" sz="2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12.7, 15.2, 9.8, 14.1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populations = [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"Reno", "Tahoe", "Austin", "Ely"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B22B8-3A06-C1D0-ADB5-94DEAADE03DE}"/>
              </a:ext>
            </a:extLst>
          </p:cNvPr>
          <p:cNvSpPr txBox="1"/>
          <p:nvPr/>
        </p:nvSpPr>
        <p:spPr>
          <a:xfrm>
            <a:off x="2170717" y="5669925"/>
            <a:ext cx="72314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dirty="0">
                <a:latin typeface="Helvetica Light" panose="020B0403020202020204" pitchFamily="34" charset="0"/>
              </a:rPr>
              <a:t>A </a:t>
            </a:r>
            <a:r>
              <a:rPr lang="en-US" sz="2600" b="1" dirty="0">
                <a:latin typeface="HELVETICA LIGHT" panose="020B0403020202020204" pitchFamily="34" charset="0"/>
              </a:rPr>
              <a:t>list</a:t>
            </a:r>
            <a:r>
              <a:rPr lang="en-US" sz="2600" dirty="0">
                <a:latin typeface="Helvetica Light" panose="020B0403020202020204" pitchFamily="34" charset="0"/>
              </a:rPr>
              <a:t> is an ordered collection of Python objects.</a:t>
            </a:r>
          </a:p>
        </p:txBody>
      </p:sp>
    </p:spTree>
    <p:extLst>
      <p:ext uri="{BB962C8B-B14F-4D97-AF65-F5344CB8AC3E}">
        <p14:creationId xmlns:p14="http://schemas.microsoft.com/office/powerpoint/2010/main" val="382743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A74A57-FAE7-AF46-829E-8E09B838D2F5}"/>
              </a:ext>
            </a:extLst>
          </p:cNvPr>
          <p:cNvSpPr txBox="1"/>
          <p:nvPr/>
        </p:nvSpPr>
        <p:spPr>
          <a:xfrm>
            <a:off x="1060056" y="501706"/>
            <a:ext cx="57182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Variables as Containers  - </a:t>
            </a:r>
            <a:r>
              <a:rPr lang="en-US" sz="3200" b="1" dirty="0">
                <a:latin typeface="Helvetica Light" panose="020B0403020202020204" pitchFamily="34" charset="0"/>
              </a:rPr>
              <a:t>lists</a:t>
            </a:r>
          </a:p>
          <a:p>
            <a:endParaRPr lang="en-US" sz="32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C1067-3166-C44E-9DEA-FBDC09F3105E}"/>
              </a:ext>
            </a:extLst>
          </p:cNvPr>
          <p:cNvSpPr txBox="1"/>
          <p:nvPr/>
        </p:nvSpPr>
        <p:spPr>
          <a:xfrm>
            <a:off x="898216" y="1544468"/>
            <a:ext cx="107676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One dimensional lists: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</a:p>
          <a:p>
            <a:r>
              <a:rPr lang="en-US" sz="24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violet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orange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40D2-E366-BE41-AFE0-3F2D7BFE0A16}"/>
              </a:ext>
            </a:extLst>
          </p:cNvPr>
          <p:cNvSpPr txBox="1"/>
          <p:nvPr/>
        </p:nvSpPr>
        <p:spPr>
          <a:xfrm>
            <a:off x="898215" y="3429000"/>
            <a:ext cx="95077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Lists are ordered, with 0 as first element. Access elements with </a:t>
            </a:r>
            <a:r>
              <a:rPr lang="en-US" sz="2400" b="1" dirty="0">
                <a:latin typeface="Helvetica Light" panose="020B0403020202020204" pitchFamily="34" charset="0"/>
              </a:rPr>
              <a:t>list[]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[4] 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orange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97BEF3-68AA-E340-92EE-D14F41597DD7}"/>
              </a:ext>
            </a:extLst>
          </p:cNvPr>
          <p:cNvSpPr txBox="1"/>
          <p:nvPr/>
        </p:nvSpPr>
        <p:spPr>
          <a:xfrm>
            <a:off x="898215" y="5480839"/>
            <a:ext cx="9690272" cy="89255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Useful, and often used: can </a:t>
            </a:r>
            <a:r>
              <a:rPr lang="en-US" sz="2600" b="1" dirty="0">
                <a:latin typeface="Helvetica Light" panose="020B0403020202020204" pitchFamily="34" charset="0"/>
              </a:rPr>
              <a:t>loop</a:t>
            </a:r>
            <a:r>
              <a:rPr lang="en-US" sz="2600" dirty="0">
                <a:latin typeface="Helvetica Light" panose="020B0403020202020204" pitchFamily="34" charset="0"/>
              </a:rPr>
              <a:t> through lists rapidly, performing the same set of actions on each element.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5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4274F-3ECE-DB4B-8F51-909BB718E9C9}"/>
              </a:ext>
            </a:extLst>
          </p:cNvPr>
          <p:cNvSpPr txBox="1"/>
          <p:nvPr/>
        </p:nvSpPr>
        <p:spPr>
          <a:xfrm>
            <a:off x="3352269" y="378595"/>
            <a:ext cx="465544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Accessing list elements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8CA092-0159-2E4A-B522-6B7A81B05799}"/>
              </a:ext>
            </a:extLst>
          </p:cNvPr>
          <p:cNvSpPr/>
          <p:nvPr/>
        </p:nvSpPr>
        <p:spPr>
          <a:xfrm>
            <a:off x="1865870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D5DED-94DD-6840-A3FB-D77B700A2C66}"/>
              </a:ext>
            </a:extLst>
          </p:cNvPr>
          <p:cNvSpPr txBox="1"/>
          <p:nvPr/>
        </p:nvSpPr>
        <p:spPr>
          <a:xfrm>
            <a:off x="2137720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'a'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E38FC7-E76B-F74F-9F91-D6AC812533BC}"/>
              </a:ext>
            </a:extLst>
          </p:cNvPr>
          <p:cNvSpPr/>
          <p:nvPr/>
        </p:nvSpPr>
        <p:spPr>
          <a:xfrm>
            <a:off x="3637005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560A0-A6AC-3C41-A05C-969A3806FA7B}"/>
              </a:ext>
            </a:extLst>
          </p:cNvPr>
          <p:cNvSpPr txBox="1"/>
          <p:nvPr/>
        </p:nvSpPr>
        <p:spPr>
          <a:xfrm>
            <a:off x="3908855" y="2138973"/>
            <a:ext cx="697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'b'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2B6F1D-24D0-FC4C-BAF3-D718261CE589}"/>
              </a:ext>
            </a:extLst>
          </p:cNvPr>
          <p:cNvSpPr/>
          <p:nvPr/>
        </p:nvSpPr>
        <p:spPr>
          <a:xfrm>
            <a:off x="5408140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EA8B3-BA0B-1D4C-8B26-479EA9A686E2}"/>
              </a:ext>
            </a:extLst>
          </p:cNvPr>
          <p:cNvSpPr txBox="1"/>
          <p:nvPr/>
        </p:nvSpPr>
        <p:spPr>
          <a:xfrm>
            <a:off x="5679990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'c'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14E91-F80F-4847-A3AD-9B2BBB66DB09}"/>
              </a:ext>
            </a:extLst>
          </p:cNvPr>
          <p:cNvSpPr/>
          <p:nvPr/>
        </p:nvSpPr>
        <p:spPr>
          <a:xfrm>
            <a:off x="7199379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8C727-C98E-D943-88B4-FFD3AD289924}"/>
              </a:ext>
            </a:extLst>
          </p:cNvPr>
          <p:cNvSpPr txBox="1"/>
          <p:nvPr/>
        </p:nvSpPr>
        <p:spPr>
          <a:xfrm>
            <a:off x="7471229" y="2138973"/>
            <a:ext cx="697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'd'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1B597-254E-BF44-B1EA-13597D865B4B}"/>
              </a:ext>
            </a:extLst>
          </p:cNvPr>
          <p:cNvSpPr/>
          <p:nvPr/>
        </p:nvSpPr>
        <p:spPr>
          <a:xfrm>
            <a:off x="8955117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33D18-3ECA-5F49-A0DE-FE289B5C2ED2}"/>
              </a:ext>
            </a:extLst>
          </p:cNvPr>
          <p:cNvSpPr txBox="1"/>
          <p:nvPr/>
        </p:nvSpPr>
        <p:spPr>
          <a:xfrm>
            <a:off x="9226967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'e'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5EFDF-A1A6-DF41-804E-25B91CA858AC}"/>
              </a:ext>
            </a:extLst>
          </p:cNvPr>
          <p:cNvSpPr txBox="1"/>
          <p:nvPr/>
        </p:nvSpPr>
        <p:spPr>
          <a:xfrm>
            <a:off x="2294814" y="130374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B1DF8-9996-8449-B8B1-D4E75CAED03B}"/>
              </a:ext>
            </a:extLst>
          </p:cNvPr>
          <p:cNvSpPr txBox="1"/>
          <p:nvPr/>
        </p:nvSpPr>
        <p:spPr>
          <a:xfrm>
            <a:off x="4087295" y="130374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419B49-B31B-404F-A1B0-DFC54CD2C82E}"/>
              </a:ext>
            </a:extLst>
          </p:cNvPr>
          <p:cNvSpPr txBox="1"/>
          <p:nvPr/>
        </p:nvSpPr>
        <p:spPr>
          <a:xfrm>
            <a:off x="5837084" y="130374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B93F0-1EDF-2A43-A0DB-BB458932981C}"/>
              </a:ext>
            </a:extLst>
          </p:cNvPr>
          <p:cNvSpPr txBox="1"/>
          <p:nvPr/>
        </p:nvSpPr>
        <p:spPr>
          <a:xfrm>
            <a:off x="7651523" y="130374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2C84D9-28A1-D24D-B610-2D8D471908F4}"/>
              </a:ext>
            </a:extLst>
          </p:cNvPr>
          <p:cNvSpPr txBox="1"/>
          <p:nvPr/>
        </p:nvSpPr>
        <p:spPr>
          <a:xfrm>
            <a:off x="2210689" y="315617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4109D4-38A2-1249-BD44-11838B6C402E}"/>
              </a:ext>
            </a:extLst>
          </p:cNvPr>
          <p:cNvSpPr txBox="1"/>
          <p:nvPr/>
        </p:nvSpPr>
        <p:spPr>
          <a:xfrm>
            <a:off x="3990612" y="3189647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7C3219-2F1A-2B47-AC61-B764A93D8CF9}"/>
              </a:ext>
            </a:extLst>
          </p:cNvPr>
          <p:cNvSpPr txBox="1"/>
          <p:nvPr/>
        </p:nvSpPr>
        <p:spPr>
          <a:xfrm>
            <a:off x="5734492" y="3189647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05FFB7-4CE1-C34A-8587-3EB6382D4AD7}"/>
              </a:ext>
            </a:extLst>
          </p:cNvPr>
          <p:cNvSpPr txBox="1"/>
          <p:nvPr/>
        </p:nvSpPr>
        <p:spPr>
          <a:xfrm>
            <a:off x="7574067" y="3189647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9FC22-B168-374B-AB32-3E01414C3128}"/>
              </a:ext>
            </a:extLst>
          </p:cNvPr>
          <p:cNvSpPr txBox="1"/>
          <p:nvPr/>
        </p:nvSpPr>
        <p:spPr>
          <a:xfrm>
            <a:off x="9353990" y="3156172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CD9FEF-D2E0-5B44-A96F-6419BB70640E}"/>
              </a:ext>
            </a:extLst>
          </p:cNvPr>
          <p:cNvSpPr txBox="1"/>
          <p:nvPr/>
        </p:nvSpPr>
        <p:spPr>
          <a:xfrm>
            <a:off x="10266544" y="3097594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D0CFB6-CB12-6549-B7AF-643580C6506E}"/>
              </a:ext>
            </a:extLst>
          </p:cNvPr>
          <p:cNvSpPr/>
          <p:nvPr/>
        </p:nvSpPr>
        <p:spPr>
          <a:xfrm>
            <a:off x="714171" y="4851047"/>
            <a:ext cx="88376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List[0] 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'a'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List[2] 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'c'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List[0:3]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'a' 'b' 'c'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A0110A-6783-2142-95A0-39EFD83B324B}"/>
              </a:ext>
            </a:extLst>
          </p:cNvPr>
          <p:cNvSpPr/>
          <p:nvPr/>
        </p:nvSpPr>
        <p:spPr>
          <a:xfrm>
            <a:off x="714171" y="3959926"/>
            <a:ext cx="7989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 = [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'a', 'b', 'c', 'd', 'e’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D4CA4-1AF7-D1BE-6BF9-31EE502E589A}"/>
              </a:ext>
            </a:extLst>
          </p:cNvPr>
          <p:cNvSpPr txBox="1"/>
          <p:nvPr/>
        </p:nvSpPr>
        <p:spPr>
          <a:xfrm>
            <a:off x="9444004" y="130374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C8B8A-B38E-3EE0-CDC9-B59ABDFE223D}"/>
              </a:ext>
            </a:extLst>
          </p:cNvPr>
          <p:cNvSpPr txBox="1"/>
          <p:nvPr/>
        </p:nvSpPr>
        <p:spPr>
          <a:xfrm>
            <a:off x="1328388" y="1358881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5184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4274F-3ECE-DB4B-8F51-909BB718E9C9}"/>
              </a:ext>
            </a:extLst>
          </p:cNvPr>
          <p:cNvSpPr txBox="1"/>
          <p:nvPr/>
        </p:nvSpPr>
        <p:spPr>
          <a:xfrm>
            <a:off x="3352269" y="378595"/>
            <a:ext cx="465544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Accessing list elements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96ACA3-F643-0E47-8D44-C27EB6939901}"/>
              </a:ext>
            </a:extLst>
          </p:cNvPr>
          <p:cNvSpPr/>
          <p:nvPr/>
        </p:nvSpPr>
        <p:spPr>
          <a:xfrm>
            <a:off x="747190" y="3976295"/>
            <a:ext cx="7989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 = ['a', 'b', 'c', 'd', 'e’]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D0CFB6-CB12-6549-B7AF-643580C6506E}"/>
              </a:ext>
            </a:extLst>
          </p:cNvPr>
          <p:cNvSpPr/>
          <p:nvPr/>
        </p:nvSpPr>
        <p:spPr>
          <a:xfrm>
            <a:off x="714171" y="4851047"/>
            <a:ext cx="708699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List[-2]  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'd'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List[-3:-1]  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#returns 'c' 'd'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F15C35-BA31-D3FE-4352-88BD5BB86AF8}"/>
              </a:ext>
            </a:extLst>
          </p:cNvPr>
          <p:cNvSpPr/>
          <p:nvPr/>
        </p:nvSpPr>
        <p:spPr>
          <a:xfrm>
            <a:off x="1865870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2359BA-37F9-B90D-2F3C-7392729067D1}"/>
              </a:ext>
            </a:extLst>
          </p:cNvPr>
          <p:cNvSpPr txBox="1"/>
          <p:nvPr/>
        </p:nvSpPr>
        <p:spPr>
          <a:xfrm>
            <a:off x="2137720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'a'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3B5529-9904-2A1A-73F2-BE90C72C133B}"/>
              </a:ext>
            </a:extLst>
          </p:cNvPr>
          <p:cNvSpPr/>
          <p:nvPr/>
        </p:nvSpPr>
        <p:spPr>
          <a:xfrm>
            <a:off x="3637005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A2872E-FB72-C058-F061-FA09A114FE30}"/>
              </a:ext>
            </a:extLst>
          </p:cNvPr>
          <p:cNvSpPr txBox="1"/>
          <p:nvPr/>
        </p:nvSpPr>
        <p:spPr>
          <a:xfrm>
            <a:off x="3908855" y="2138973"/>
            <a:ext cx="697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'b'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E388F6-4BFE-38CB-3B41-7B3C4D6CBBB8}"/>
              </a:ext>
            </a:extLst>
          </p:cNvPr>
          <p:cNvSpPr/>
          <p:nvPr/>
        </p:nvSpPr>
        <p:spPr>
          <a:xfrm>
            <a:off x="5408140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9FA759-6EF5-943B-0876-6EDE3C86346E}"/>
              </a:ext>
            </a:extLst>
          </p:cNvPr>
          <p:cNvSpPr txBox="1"/>
          <p:nvPr/>
        </p:nvSpPr>
        <p:spPr>
          <a:xfrm>
            <a:off x="5679990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'c'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CA3DCC-F8FB-0243-3E14-30E9DABF6384}"/>
              </a:ext>
            </a:extLst>
          </p:cNvPr>
          <p:cNvSpPr/>
          <p:nvPr/>
        </p:nvSpPr>
        <p:spPr>
          <a:xfrm>
            <a:off x="7199379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51B24D-262E-5A46-8C76-80975104CF84}"/>
              </a:ext>
            </a:extLst>
          </p:cNvPr>
          <p:cNvSpPr txBox="1"/>
          <p:nvPr/>
        </p:nvSpPr>
        <p:spPr>
          <a:xfrm>
            <a:off x="7471229" y="2138973"/>
            <a:ext cx="697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'd'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C5CEDA-DC29-5AA8-525E-13360F07CCF4}"/>
              </a:ext>
            </a:extLst>
          </p:cNvPr>
          <p:cNvSpPr/>
          <p:nvPr/>
        </p:nvSpPr>
        <p:spPr>
          <a:xfrm>
            <a:off x="8955117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8075E9-4A3B-1853-11D8-AFD6203B1ECD}"/>
              </a:ext>
            </a:extLst>
          </p:cNvPr>
          <p:cNvSpPr txBox="1"/>
          <p:nvPr/>
        </p:nvSpPr>
        <p:spPr>
          <a:xfrm>
            <a:off x="9226967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'e'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B6877B-5149-2159-08F0-DCE852888191}"/>
              </a:ext>
            </a:extLst>
          </p:cNvPr>
          <p:cNvSpPr txBox="1"/>
          <p:nvPr/>
        </p:nvSpPr>
        <p:spPr>
          <a:xfrm>
            <a:off x="2294814" y="130374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4B1A31-178E-0D8C-92ED-1A500F017A21}"/>
              </a:ext>
            </a:extLst>
          </p:cNvPr>
          <p:cNvSpPr txBox="1"/>
          <p:nvPr/>
        </p:nvSpPr>
        <p:spPr>
          <a:xfrm>
            <a:off x="4087295" y="130374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B52957-EC8C-9B5C-A4E2-D2780DE73119}"/>
              </a:ext>
            </a:extLst>
          </p:cNvPr>
          <p:cNvSpPr txBox="1"/>
          <p:nvPr/>
        </p:nvSpPr>
        <p:spPr>
          <a:xfrm>
            <a:off x="5837084" y="130374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4E0FD8-5692-973D-3348-6FE4D88D1D51}"/>
              </a:ext>
            </a:extLst>
          </p:cNvPr>
          <p:cNvSpPr txBox="1"/>
          <p:nvPr/>
        </p:nvSpPr>
        <p:spPr>
          <a:xfrm>
            <a:off x="7651523" y="130374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62B674-853A-B080-FC36-D2198AABB4D3}"/>
              </a:ext>
            </a:extLst>
          </p:cNvPr>
          <p:cNvSpPr txBox="1"/>
          <p:nvPr/>
        </p:nvSpPr>
        <p:spPr>
          <a:xfrm>
            <a:off x="2210689" y="315617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9E6230-6A18-DCBF-92A9-47961DDA7D99}"/>
              </a:ext>
            </a:extLst>
          </p:cNvPr>
          <p:cNvSpPr txBox="1"/>
          <p:nvPr/>
        </p:nvSpPr>
        <p:spPr>
          <a:xfrm>
            <a:off x="3990612" y="3189647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BE2470-020B-4BC0-5ADD-346F219C43E3}"/>
              </a:ext>
            </a:extLst>
          </p:cNvPr>
          <p:cNvSpPr txBox="1"/>
          <p:nvPr/>
        </p:nvSpPr>
        <p:spPr>
          <a:xfrm>
            <a:off x="5734492" y="3189647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3E1AD6-6CAF-3CBD-9827-96C88FE41BE9}"/>
              </a:ext>
            </a:extLst>
          </p:cNvPr>
          <p:cNvSpPr txBox="1"/>
          <p:nvPr/>
        </p:nvSpPr>
        <p:spPr>
          <a:xfrm>
            <a:off x="7574067" y="3189647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2C2DAD-DBC8-5D3A-8509-EDAA91F57D66}"/>
              </a:ext>
            </a:extLst>
          </p:cNvPr>
          <p:cNvSpPr txBox="1"/>
          <p:nvPr/>
        </p:nvSpPr>
        <p:spPr>
          <a:xfrm>
            <a:off x="9353990" y="3156172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F22876-071E-5D41-4A7E-E132715F7810}"/>
              </a:ext>
            </a:extLst>
          </p:cNvPr>
          <p:cNvSpPr txBox="1"/>
          <p:nvPr/>
        </p:nvSpPr>
        <p:spPr>
          <a:xfrm>
            <a:off x="10266544" y="3097594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E52EE3-230D-4D0D-B24C-12502FF0D414}"/>
              </a:ext>
            </a:extLst>
          </p:cNvPr>
          <p:cNvSpPr txBox="1"/>
          <p:nvPr/>
        </p:nvSpPr>
        <p:spPr>
          <a:xfrm>
            <a:off x="9444004" y="130374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E5975C-6EE5-E8D7-849E-E75D5E7A5044}"/>
              </a:ext>
            </a:extLst>
          </p:cNvPr>
          <p:cNvSpPr txBox="1"/>
          <p:nvPr/>
        </p:nvSpPr>
        <p:spPr>
          <a:xfrm>
            <a:off x="1328388" y="1358881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3487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0B8D3E63-59DB-BB46-F2F9-25A846E820D5}"/>
              </a:ext>
            </a:extLst>
          </p:cNvPr>
          <p:cNvSpPr txBox="1"/>
          <p:nvPr/>
        </p:nvSpPr>
        <p:spPr>
          <a:xfrm>
            <a:off x="3048000" y="538226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dirty="0">
                <a:latin typeface="Helvetica Light" panose="020B0403020202020204" pitchFamily="34" charset="0"/>
              </a:rPr>
              <a:t>Slicing lists</a:t>
            </a:r>
          </a:p>
          <a:p>
            <a:pPr algn="ctr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pPr algn="ctr">
              <a:buNone/>
            </a:pPr>
            <a:r>
              <a:rPr lang="en-US" sz="3000" dirty="0">
                <a:latin typeface="Helvetica Light" panose="020B0403020202020204" pitchFamily="34" charset="0"/>
              </a:rPr>
              <a:t>Extracting part(s) </a:t>
            </a:r>
            <a:r>
              <a:rPr lang="en-US" sz="3000" dirty="0">
                <a:latin typeface="Helvetica Light" panose="020B0403020202020204" pitchFamily="34" charset="0"/>
              </a:rPr>
              <a:t>of a list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4004D9-09E7-B526-0FDE-862FB8FA8BAD}"/>
              </a:ext>
            </a:extLst>
          </p:cNvPr>
          <p:cNvSpPr txBox="1"/>
          <p:nvPr/>
        </p:nvSpPr>
        <p:spPr>
          <a:xfrm>
            <a:off x="2087217" y="2437430"/>
            <a:ext cx="8017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10, 20, 30, 40, 50, 60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9157FB-9E40-C62B-084A-36B04ECB1283}"/>
              </a:ext>
            </a:extLst>
          </p:cNvPr>
          <p:cNvSpPr txBox="1"/>
          <p:nvPr/>
        </p:nvSpPr>
        <p:spPr>
          <a:xfrm>
            <a:off x="2087217" y="3462470"/>
            <a:ext cx="752723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numbers[</a:t>
            </a:r>
            <a:r>
              <a:rPr lang="en-US" sz="2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1:4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   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[20, 30, 40]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2A40F7-2403-CD21-1CDE-FF000BC359DE}"/>
              </a:ext>
            </a:extLst>
          </p:cNvPr>
          <p:cNvSpPr txBox="1"/>
          <p:nvPr/>
        </p:nvSpPr>
        <p:spPr>
          <a:xfrm>
            <a:off x="2087217" y="4456733"/>
            <a:ext cx="86536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numbers[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:3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   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three</a:t>
            </a:r>
          </a:p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numbers[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   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index 3 through end</a:t>
            </a:r>
          </a:p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[-2: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   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two</a:t>
            </a:r>
          </a:p>
        </p:txBody>
      </p:sp>
    </p:spTree>
    <p:extLst>
      <p:ext uri="{BB962C8B-B14F-4D97-AF65-F5344CB8AC3E}">
        <p14:creationId xmlns:p14="http://schemas.microsoft.com/office/powerpoint/2010/main" val="183590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7D0EC0-CF65-60A7-B6F2-88DC85DE2D1A}"/>
              </a:ext>
            </a:extLst>
          </p:cNvPr>
          <p:cNvSpPr txBox="1"/>
          <p:nvPr/>
        </p:nvSpPr>
        <p:spPr>
          <a:xfrm>
            <a:off x="3048000" y="53822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dirty="0">
                <a:latin typeface="Helvetica Light" panose="020B0403020202020204" pitchFamily="34" charset="0"/>
              </a:rPr>
              <a:t>Lists can be modified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6E05A-B884-FE92-6EE4-5C8466DECB61}"/>
              </a:ext>
            </a:extLst>
          </p:cNvPr>
          <p:cNvSpPr txBox="1"/>
          <p:nvPr/>
        </p:nvSpPr>
        <p:spPr>
          <a:xfrm>
            <a:off x="1139686" y="1797183"/>
            <a:ext cx="102836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populations = [</a:t>
            </a:r>
            <a:r>
              <a:rPr lang="en-US" sz="2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"Reno", "Tahoe", "Austin"</a:t>
            </a:r>
            <a:r>
              <a:rPr lang="en-US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populations[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"Ely”</a:t>
            </a:r>
          </a:p>
          <a:p>
            <a:pPr>
              <a:buNone/>
            </a:pPr>
            <a:endParaRPr lang="en-US" sz="27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print(populations) # </a:t>
            </a:r>
            <a:r>
              <a:rPr lang="en-US" sz="27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['Reno', 'Tahoe', 'Ely']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8A640-5251-72ED-3A0F-FAD6814DE8DF}"/>
              </a:ext>
            </a:extLst>
          </p:cNvPr>
          <p:cNvSpPr txBox="1"/>
          <p:nvPr/>
        </p:nvSpPr>
        <p:spPr>
          <a:xfrm>
            <a:off x="1139686" y="4534670"/>
            <a:ext cx="1028368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populations.append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"Tonopah"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adds to the end</a:t>
            </a:r>
          </a:p>
          <a:p>
            <a:endParaRPr lang="en-US" sz="26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populations[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removes 2</a:t>
            </a:r>
            <a:r>
              <a:rPr lang="en-US" sz="2400" b="1" baseline="30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element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5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912D5-E344-A6F3-A335-B91B4C7E8EA1}"/>
              </a:ext>
            </a:extLst>
          </p:cNvPr>
          <p:cNvSpPr txBox="1"/>
          <p:nvPr/>
        </p:nvSpPr>
        <p:spPr>
          <a:xfrm>
            <a:off x="3656780" y="556055"/>
            <a:ext cx="5338321" cy="1554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Building lists while we work</a:t>
            </a:r>
          </a:p>
          <a:p>
            <a:pPr algn="ctr"/>
            <a:r>
              <a:rPr lang="en-US" sz="2900" dirty="0">
                <a:latin typeface="Helvetica Light" panose="020B0403020202020204" pitchFamily="34" charset="0"/>
              </a:rPr>
              <a:t>Start empty, then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.append()</a:t>
            </a:r>
          </a:p>
          <a:p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13B57-86A5-95D9-72AD-2C9BFC4B7DA5}"/>
              </a:ext>
            </a:extLst>
          </p:cNvPr>
          <p:cNvSpPr txBox="1"/>
          <p:nvPr/>
        </p:nvSpPr>
        <p:spPr>
          <a:xfrm>
            <a:off x="1232452" y="1852784"/>
            <a:ext cx="886570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large_values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>
              <a:buNone/>
            </a:pP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large_values.append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12.4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large_values.append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15.1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large_values.append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19.8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large_values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buNone/>
            </a:pP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[12.4, 15.1, 19.8]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54C2C-615C-0D4E-9FF2-27B2A2C12320}"/>
              </a:ext>
            </a:extLst>
          </p:cNvPr>
          <p:cNvSpPr txBox="1"/>
          <p:nvPr/>
        </p:nvSpPr>
        <p:spPr>
          <a:xfrm>
            <a:off x="8069012" y="2073889"/>
            <a:ext cx="2955234" cy="3108543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alpha val="34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[]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 ↓ append 12.4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[12.4]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 ↓ append 15.1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[12.4, 15.1]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 ↓ append 19.8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[12.4, 15.1, 19.8]</a:t>
            </a:r>
          </a:p>
        </p:txBody>
      </p:sp>
    </p:spTree>
    <p:extLst>
      <p:ext uri="{BB962C8B-B14F-4D97-AF65-F5344CB8AC3E}">
        <p14:creationId xmlns:p14="http://schemas.microsoft.com/office/powerpoint/2010/main" val="75146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BC93DB-A12E-8A44-8FED-8E4FE89505F2}"/>
              </a:ext>
            </a:extLst>
          </p:cNvPr>
          <p:cNvSpPr txBox="1"/>
          <p:nvPr/>
        </p:nvSpPr>
        <p:spPr>
          <a:xfrm>
            <a:off x="3047180" y="602221"/>
            <a:ext cx="64828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b="1" dirty="0">
                <a:latin typeface="Helvetica Light" panose="020B0403020202020204" pitchFamily="34" charset="0"/>
              </a:rPr>
              <a:t>Strings to lists and lists to strings:</a:t>
            </a:r>
          </a:p>
          <a:p>
            <a:pPr algn="ctr"/>
            <a:r>
              <a:rPr lang="en-US" sz="3300" dirty="0">
                <a:latin typeface="Helvetica Light" panose="020B0403020202020204" pitchFamily="34" charset="0"/>
              </a:rPr>
              <a:t>String to list conversion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3DF34-0910-964D-AE04-644D9E833E87}"/>
              </a:ext>
            </a:extLst>
          </p:cNvPr>
          <p:cNvSpPr/>
          <p:nvPr/>
        </p:nvSpPr>
        <p:spPr>
          <a:xfrm>
            <a:off x="981967" y="4322356"/>
            <a:ext cx="929885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If delimited: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 = "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65,76,77,77,65,67,65,45,45,90,91,91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List_Temp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Temp.split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(",")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EFBEB-E29A-F545-8115-742FEE3FF4BE}"/>
              </a:ext>
            </a:extLst>
          </p:cNvPr>
          <p:cNvSpPr/>
          <p:nvPr/>
        </p:nvSpPr>
        <p:spPr>
          <a:xfrm>
            <a:off x="981968" y="2049575"/>
            <a:ext cx="929885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For single string: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ATGGGCCTTATATATATA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List_Dseq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list</a:t>
            </a:r>
          </a:p>
        </p:txBody>
      </p:sp>
    </p:spTree>
    <p:extLst>
      <p:ext uri="{BB962C8B-B14F-4D97-AF65-F5344CB8AC3E}">
        <p14:creationId xmlns:p14="http://schemas.microsoft.com/office/powerpoint/2010/main" val="91531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BC93DB-A12E-8A44-8FED-8E4FE89505F2}"/>
              </a:ext>
            </a:extLst>
          </p:cNvPr>
          <p:cNvSpPr txBox="1"/>
          <p:nvPr/>
        </p:nvSpPr>
        <p:spPr>
          <a:xfrm>
            <a:off x="3656780" y="556055"/>
            <a:ext cx="467788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List to string conversion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EFBEB-E29A-F545-8115-742FEE3FF4BE}"/>
              </a:ext>
            </a:extLst>
          </p:cNvPr>
          <p:cNvSpPr/>
          <p:nvPr/>
        </p:nvSpPr>
        <p:spPr>
          <a:xfrm>
            <a:off x="790832" y="3812797"/>
            <a:ext cx="10886303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To join with comma delimiter: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List_Temp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['65', '76', '77', '77', '65', '67', '65', '45', '45', '90', '91', '91’]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Temp_string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','.join(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List_Temp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A6991-656B-3444-8E4A-B253C2B4C305}"/>
              </a:ext>
            </a:extLst>
          </p:cNvPr>
          <p:cNvSpPr/>
          <p:nvPr/>
        </p:nvSpPr>
        <p:spPr>
          <a:xfrm>
            <a:off x="790833" y="1606338"/>
            <a:ext cx="10886303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To join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without any delimiter: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List_AminoAcids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'A', 'P', 'T', 'T', 'T', 'U', 'Y', 'H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AA_string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''.join(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List_AminoAcids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1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FD9AB-524F-134E-B72D-F2FAB72141BC}"/>
              </a:ext>
            </a:extLst>
          </p:cNvPr>
          <p:cNvSpPr/>
          <p:nvPr/>
        </p:nvSpPr>
        <p:spPr>
          <a:xfrm>
            <a:off x="675861" y="302718"/>
            <a:ext cx="11105322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Programs make decisions: conditional statements</a:t>
            </a:r>
            <a:endParaRPr lang="en-US" sz="3200" b="1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E53BD-95A4-9D49-BD20-32321062DD6A}"/>
              </a:ext>
            </a:extLst>
          </p:cNvPr>
          <p:cNvSpPr txBox="1"/>
          <p:nvPr/>
        </p:nvSpPr>
        <p:spPr>
          <a:xfrm>
            <a:off x="3202848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B4606-68DD-3B4F-98CC-7C01BAE0746B}"/>
              </a:ext>
            </a:extLst>
          </p:cNvPr>
          <p:cNvSpPr txBox="1"/>
          <p:nvPr/>
        </p:nvSpPr>
        <p:spPr>
          <a:xfrm>
            <a:off x="2744820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7F172-5C04-904D-AC3C-3496CC8E74F0}"/>
              </a:ext>
            </a:extLst>
          </p:cNvPr>
          <p:cNvSpPr txBox="1"/>
          <p:nvPr/>
        </p:nvSpPr>
        <p:spPr>
          <a:xfrm>
            <a:off x="3536219" y="3566001"/>
            <a:ext cx="1089728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if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4C11B4-3770-2A4D-9B57-E0D191D60337}"/>
              </a:ext>
            </a:extLst>
          </p:cNvPr>
          <p:cNvCxnSpPr>
            <a:cxnSpLocks/>
          </p:cNvCxnSpPr>
          <p:nvPr/>
        </p:nvCxnSpPr>
        <p:spPr>
          <a:xfrm>
            <a:off x="4081083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E36A95-7D2F-AE47-843E-80A33A1AF6F2}"/>
              </a:ext>
            </a:extLst>
          </p:cNvPr>
          <p:cNvCxnSpPr>
            <a:cxnSpLocks/>
          </p:cNvCxnSpPr>
          <p:nvPr/>
        </p:nvCxnSpPr>
        <p:spPr>
          <a:xfrm>
            <a:off x="4072991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8114D8-3F76-9D42-A77B-AFBF8AFBA2EA}"/>
              </a:ext>
            </a:extLst>
          </p:cNvPr>
          <p:cNvCxnSpPr>
            <a:cxnSpLocks/>
          </p:cNvCxnSpPr>
          <p:nvPr/>
        </p:nvCxnSpPr>
        <p:spPr>
          <a:xfrm>
            <a:off x="4755918" y="4057494"/>
            <a:ext cx="376881" cy="28294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0922E5-5D20-9C40-81B6-60415FA1A2E9}"/>
              </a:ext>
            </a:extLst>
          </p:cNvPr>
          <p:cNvCxnSpPr>
            <a:cxnSpLocks/>
          </p:cNvCxnSpPr>
          <p:nvPr/>
        </p:nvCxnSpPr>
        <p:spPr>
          <a:xfrm>
            <a:off x="3345295" y="4200452"/>
            <a:ext cx="610948" cy="141687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ED08F4-5AE7-1A4A-A8BC-D7E8616CB86A}"/>
              </a:ext>
            </a:extLst>
          </p:cNvPr>
          <p:cNvSpPr txBox="1"/>
          <p:nvPr/>
        </p:nvSpPr>
        <p:spPr>
          <a:xfrm>
            <a:off x="2027231" y="4340438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false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9586F-A4EB-9647-88DE-5707439DE510}"/>
              </a:ext>
            </a:extLst>
          </p:cNvPr>
          <p:cNvSpPr txBox="1"/>
          <p:nvPr/>
        </p:nvSpPr>
        <p:spPr>
          <a:xfrm>
            <a:off x="4943134" y="4325212"/>
            <a:ext cx="1740286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true</a:t>
            </a:r>
            <a:r>
              <a:rPr lang="en-US" sz="2400" dirty="0">
                <a:latin typeface="Helvetica Light" panose="020B0403020202020204" pitchFamily="34" charset="0"/>
              </a:rPr>
              <a:t>: do something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5FA2BF-6FE0-D94A-93FB-CE7483769CAA}"/>
              </a:ext>
            </a:extLst>
          </p:cNvPr>
          <p:cNvCxnSpPr>
            <a:cxnSpLocks/>
          </p:cNvCxnSpPr>
          <p:nvPr/>
        </p:nvCxnSpPr>
        <p:spPr>
          <a:xfrm flipH="1">
            <a:off x="5202329" y="5257405"/>
            <a:ext cx="445912" cy="50828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2D0A6E-FF7E-9B49-8C97-C3A89509A86F}"/>
              </a:ext>
            </a:extLst>
          </p:cNvPr>
          <p:cNvSpPr txBox="1"/>
          <p:nvPr/>
        </p:nvSpPr>
        <p:spPr>
          <a:xfrm>
            <a:off x="2977743" y="5912459"/>
            <a:ext cx="219049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Rest of code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891C3-2381-0441-9D99-9E32E1804421}"/>
              </a:ext>
            </a:extLst>
          </p:cNvPr>
          <p:cNvSpPr txBox="1"/>
          <p:nvPr/>
        </p:nvSpPr>
        <p:spPr>
          <a:xfrm>
            <a:off x="7219488" y="2202490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88429-E12B-8E46-A1CE-82A26410FDE3}"/>
              </a:ext>
            </a:extLst>
          </p:cNvPr>
          <p:cNvSpPr txBox="1"/>
          <p:nvPr/>
        </p:nvSpPr>
        <p:spPr>
          <a:xfrm>
            <a:off x="7219488" y="3091124"/>
            <a:ext cx="4759636" cy="95410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 &gt;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positive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7743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4886CC-2C8C-954C-82BC-3229EFDF0988}"/>
              </a:ext>
            </a:extLst>
          </p:cNvPr>
          <p:cNvSpPr/>
          <p:nvPr/>
        </p:nvSpPr>
        <p:spPr>
          <a:xfrm>
            <a:off x="1107248" y="2897992"/>
            <a:ext cx="93957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(X &gt;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print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f"{</a:t>
            </a:r>
            <a:r>
              <a:rPr lang="en-US" sz="28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X} is greater than 3</a:t>
            </a:r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5CC7A-4559-794E-AB76-3A332FA6909A}"/>
              </a:ext>
            </a:extLst>
          </p:cNvPr>
          <p:cNvSpPr txBox="1"/>
          <p:nvPr/>
        </p:nvSpPr>
        <p:spPr>
          <a:xfrm>
            <a:off x="3615994" y="467139"/>
            <a:ext cx="525496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Conditional statements: </a:t>
            </a:r>
            <a:r>
              <a:rPr lang="en-US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99DCC-9046-C24E-8A17-786B6515D43A}"/>
              </a:ext>
            </a:extLst>
          </p:cNvPr>
          <p:cNvSpPr txBox="1"/>
          <p:nvPr/>
        </p:nvSpPr>
        <p:spPr>
          <a:xfrm>
            <a:off x="1030356" y="1342611"/>
            <a:ext cx="1062021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- ‘</a:t>
            </a:r>
            <a:r>
              <a:rPr lang="en-US" sz="2800" b="1" dirty="0">
                <a:latin typeface="Helvetica Light" panose="020B0403020202020204" pitchFamily="34" charset="0"/>
              </a:rPr>
              <a:t>:</a:t>
            </a:r>
            <a:r>
              <a:rPr lang="en-US" sz="2800" dirty="0">
                <a:latin typeface="Helvetica Light" panose="020B0403020202020204" pitchFamily="34" charset="0"/>
              </a:rPr>
              <a:t>’ after conditional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Helvetica Light" panose="020B0403020202020204" pitchFamily="34" charset="0"/>
              </a:rPr>
              <a:t>code to be executed if the condition is met MUST be indented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Helvetica Light" panose="020B0403020202020204" pitchFamily="34" charset="0"/>
              </a:rPr>
              <a:t>If evaluates True or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CBAD6-67CC-284C-9132-5F34A853B9A7}"/>
              </a:ext>
            </a:extLst>
          </p:cNvPr>
          <p:cNvSpPr/>
          <p:nvPr/>
        </p:nvSpPr>
        <p:spPr>
          <a:xfrm>
            <a:off x="1030356" y="4789509"/>
            <a:ext cx="93957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Seq=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'ATCGGGGCGTTTT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(Seq) != 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		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not equal</a:t>
            </a:r>
          </a:p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print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more </a:t>
            </a:r>
            <a:r>
              <a:rPr lang="en-US" sz="28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 less than 10 bases</a:t>
            </a:r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77882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33B55E-62B8-1AA9-9C5C-6A177C607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05" y="1443382"/>
            <a:ext cx="10083941" cy="4745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57B01E-110D-0788-7939-13F002254DBD}"/>
              </a:ext>
            </a:extLst>
          </p:cNvPr>
          <p:cNvSpPr txBox="1"/>
          <p:nvPr/>
        </p:nvSpPr>
        <p:spPr>
          <a:xfrm>
            <a:off x="2382483" y="506895"/>
            <a:ext cx="742703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Comparison operators for </a:t>
            </a:r>
            <a:r>
              <a:rPr lang="en-US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/ else</a:t>
            </a:r>
          </a:p>
        </p:txBody>
      </p:sp>
    </p:spTree>
    <p:extLst>
      <p:ext uri="{BB962C8B-B14F-4D97-AF65-F5344CB8AC3E}">
        <p14:creationId xmlns:p14="http://schemas.microsoft.com/office/powerpoint/2010/main" val="3046614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B94AA9-E126-6945-8A97-98E0B695EAED}"/>
              </a:ext>
            </a:extLst>
          </p:cNvPr>
          <p:cNvSpPr/>
          <p:nvPr/>
        </p:nvSpPr>
        <p:spPr>
          <a:xfrm>
            <a:off x="1398104" y="2423524"/>
            <a:ext cx="939579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gc_content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0.42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gc_content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print("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GC-rich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print("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AT-rich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5A9B9-FB20-914F-AA4F-9143DDA3956A}"/>
              </a:ext>
            </a:extLst>
          </p:cNvPr>
          <p:cNvSpPr txBox="1"/>
          <p:nvPr/>
        </p:nvSpPr>
        <p:spPr>
          <a:xfrm>
            <a:off x="2835331" y="476499"/>
            <a:ext cx="555472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To possible paths: </a:t>
            </a:r>
            <a:r>
              <a:rPr lang="en-US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470D4-EE9F-CE47-828E-2D1D105510FA}"/>
              </a:ext>
            </a:extLst>
          </p:cNvPr>
          <p:cNvSpPr txBox="1"/>
          <p:nvPr/>
        </p:nvSpPr>
        <p:spPr>
          <a:xfrm>
            <a:off x="877263" y="1481759"/>
            <a:ext cx="11065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-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2800" dirty="0">
                <a:latin typeface="Helvetica Light" panose="020B0403020202020204" pitchFamily="34" charset="0"/>
              </a:rPr>
              <a:t> simply specifies an action when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Helvetica Light" panose="020B0403020202020204" pitchFamily="34" charset="0"/>
              </a:rPr>
              <a:t>conditional doesn’t hold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AF88A2-D843-2E67-5118-E0F08290B391}"/>
              </a:ext>
            </a:extLst>
          </p:cNvPr>
          <p:cNvSpPr txBox="1"/>
          <p:nvPr/>
        </p:nvSpPr>
        <p:spPr>
          <a:xfrm>
            <a:off x="877263" y="5088839"/>
            <a:ext cx="1073164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dirty="0">
                <a:latin typeface="Helvetica Light" panose="020B0403020202020204" pitchFamily="34" charset="0"/>
              </a:rPr>
              <a:t>Colon </a:t>
            </a:r>
            <a:r>
              <a:rPr lang="en-US" sz="2600" b="1" dirty="0">
                <a:latin typeface="HELVETICA LIGHT" panose="020B0403020202020204" pitchFamily="34" charset="0"/>
              </a:rPr>
              <a:t>:</a:t>
            </a:r>
            <a:r>
              <a:rPr lang="en-US" sz="2600" dirty="0">
                <a:latin typeface="Helvetica Light" panose="020B0403020202020204" pitchFamily="34" charset="0"/>
              </a:rPr>
              <a:t> starts a block</a:t>
            </a:r>
          </a:p>
          <a:p>
            <a:pPr>
              <a:buNone/>
            </a:pPr>
            <a:endParaRPr lang="en-US" sz="2600" dirty="0">
              <a:latin typeface="Helvetica Light" panose="020B0403020202020204" pitchFamily="34" charset="0"/>
            </a:endParaRPr>
          </a:p>
          <a:p>
            <a:pPr>
              <a:buNone/>
            </a:pPr>
            <a:r>
              <a:rPr lang="en-US" sz="2600" dirty="0">
                <a:latin typeface="Helvetica Light" panose="020B0403020202020204" pitchFamily="34" charset="0"/>
              </a:rPr>
              <a:t>Indentation identifies the code belonging to that block</a:t>
            </a:r>
          </a:p>
        </p:txBody>
      </p:sp>
    </p:spTree>
    <p:extLst>
      <p:ext uri="{BB962C8B-B14F-4D97-AF65-F5344CB8AC3E}">
        <p14:creationId xmlns:p14="http://schemas.microsoft.com/office/powerpoint/2010/main" val="8027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5A9B9-FB20-914F-AA4F-9143DDA3956A}"/>
              </a:ext>
            </a:extLst>
          </p:cNvPr>
          <p:cNvSpPr txBox="1"/>
          <p:nvPr/>
        </p:nvSpPr>
        <p:spPr>
          <a:xfrm>
            <a:off x="3149519" y="355156"/>
            <a:ext cx="534312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latin typeface="Helvetica Light" panose="020B0403020202020204" pitchFamily="34" charset="0"/>
              </a:rPr>
              <a:t>More than two possibilities</a:t>
            </a:r>
          </a:p>
          <a:p>
            <a:endParaRPr lang="en-US" sz="34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470D4-EE9F-CE47-828E-2D1D105510FA}"/>
              </a:ext>
            </a:extLst>
          </p:cNvPr>
          <p:cNvSpPr txBox="1"/>
          <p:nvPr/>
        </p:nvSpPr>
        <p:spPr>
          <a:xfrm>
            <a:off x="877264" y="1332672"/>
            <a:ext cx="1072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- Use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when several outcomes are possible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C34BFC-981B-294D-B634-DB261E0251DC}"/>
              </a:ext>
            </a:extLst>
          </p:cNvPr>
          <p:cNvSpPr/>
          <p:nvPr/>
        </p:nvSpPr>
        <p:spPr>
          <a:xfrm>
            <a:off x="1729474" y="2232287"/>
            <a:ext cx="986949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gc_content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gc_content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classification = "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 GC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gc_content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classification = "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intermediate GC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classification = "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 GC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3280647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99D8CF-6B98-7646-65C7-42CB3833DAA3}"/>
              </a:ext>
            </a:extLst>
          </p:cNvPr>
          <p:cNvSpPr txBox="1"/>
          <p:nvPr/>
        </p:nvSpPr>
        <p:spPr>
          <a:xfrm>
            <a:off x="1590261" y="346718"/>
            <a:ext cx="932953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Combining conditions</a:t>
            </a:r>
          </a:p>
          <a:p>
            <a:pPr algn="ctr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3000" dirty="0">
                <a:latin typeface="Helvetica Light" panose="020B0403020202020204" pitchFamily="34" charset="0"/>
              </a:rPr>
              <a:t>,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z="3000" dirty="0">
                <a:latin typeface="Helvetica Light" panose="020B0403020202020204" pitchFamily="34" charset="0"/>
              </a:rPr>
              <a:t>, and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3000" dirty="0">
                <a:latin typeface="Helvetica Light" panose="020B0403020202020204" pitchFamily="34" charset="0"/>
              </a:rPr>
              <a:t> allow more complicated questions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C2EB53-0076-73F2-3A21-F0B9C8C3CF41}"/>
              </a:ext>
            </a:extLst>
          </p:cNvPr>
          <p:cNvSpPr txBox="1"/>
          <p:nvPr/>
        </p:nvSpPr>
        <p:spPr>
          <a:xfrm>
            <a:off x="1166189" y="2536448"/>
            <a:ext cx="963433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AF76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population == "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NV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and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gc_content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0.50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print("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Keep sample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68186-427B-2FAD-1A8E-01126EC2EB69}"/>
              </a:ext>
            </a:extLst>
          </p:cNvPr>
          <p:cNvSpPr txBox="1"/>
          <p:nvPr/>
        </p:nvSpPr>
        <p:spPr>
          <a:xfrm>
            <a:off x="1166189" y="4858436"/>
            <a:ext cx="1432583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AF76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population == "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NV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or population == "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Western sample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0AB16-9CE1-A4B3-886C-4D48071F2EF0}"/>
              </a:ext>
            </a:extLst>
          </p:cNvPr>
          <p:cNvSpPr txBox="1"/>
          <p:nvPr/>
        </p:nvSpPr>
        <p:spPr>
          <a:xfrm>
            <a:off x="1166189" y="1791180"/>
            <a:ext cx="77458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HELVETICA LIGHT" panose="020B0403020202020204" pitchFamily="34" charset="0"/>
              </a:rPr>
              <a:t>and - both must be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54FF9-B80B-F58F-AB87-3E937E819575}"/>
              </a:ext>
            </a:extLst>
          </p:cNvPr>
          <p:cNvSpPr txBox="1"/>
          <p:nvPr/>
        </p:nvSpPr>
        <p:spPr>
          <a:xfrm>
            <a:off x="1166189" y="4079847"/>
            <a:ext cx="77458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HELVETICA LIGHT" panose="020B0403020202020204" pitchFamily="34" charset="0"/>
              </a:rPr>
              <a:t>or – either can be true</a:t>
            </a:r>
          </a:p>
        </p:txBody>
      </p:sp>
    </p:spTree>
    <p:extLst>
      <p:ext uri="{BB962C8B-B14F-4D97-AF65-F5344CB8AC3E}">
        <p14:creationId xmlns:p14="http://schemas.microsoft.com/office/powerpoint/2010/main" val="3076735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844B7D-38E8-FB49-5197-49A7DBB5F39A}"/>
              </a:ext>
            </a:extLst>
          </p:cNvPr>
          <p:cNvSpPr txBox="1"/>
          <p:nvPr/>
        </p:nvSpPr>
        <p:spPr>
          <a:xfrm>
            <a:off x="927652" y="538226"/>
            <a:ext cx="105089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Doing the same thing repeatedly</a:t>
            </a:r>
          </a:p>
          <a:p>
            <a:pPr algn="ctr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200" dirty="0">
                <a:latin typeface="Helvetica Light" panose="020B0403020202020204" pitchFamily="34" charset="0"/>
              </a:rPr>
              <a:t> loops let us process every element in a collection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0A863-EEBC-62BE-B1C0-D26EF338988C}"/>
              </a:ext>
            </a:extLst>
          </p:cNvPr>
          <p:cNvSpPr txBox="1"/>
          <p:nvPr/>
        </p:nvSpPr>
        <p:spPr>
          <a:xfrm>
            <a:off x="1288776" y="1985426"/>
            <a:ext cx="89982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samples = ["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HOWR_01", "HOWR_02", "HOWR_03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pPr>
              <a:buNone/>
            </a:pPr>
            <a:endParaRPr lang="en-US" sz="2600" dirty="0">
              <a:solidFill>
                <a:srgbClr val="AF76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Helvetica Light" panose="020B0403020202020204" pitchFamily="34" charset="0"/>
                <a:cs typeface="Courier New" panose="02070309020205020404" pitchFamily="49" charset="0"/>
              </a:rPr>
              <a:t>We could do:</a:t>
            </a:r>
          </a:p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print(samples[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print(samples[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print(samples[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C51C9-333E-1CBB-5AE0-DDA72F9C462F}"/>
              </a:ext>
            </a:extLst>
          </p:cNvPr>
          <p:cNvSpPr txBox="1"/>
          <p:nvPr/>
        </p:nvSpPr>
        <p:spPr>
          <a:xfrm>
            <a:off x="1288775" y="5027112"/>
            <a:ext cx="911418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Helvetica Light" panose="020B0403020202020204" pitchFamily="34" charset="0"/>
                <a:cs typeface="Courier New" panose="02070309020205020404" pitchFamily="49" charset="0"/>
              </a:rPr>
              <a:t>We should do (same outcome, more efficient):</a:t>
            </a:r>
            <a:endParaRPr lang="en-US" sz="2600" dirty="0">
              <a:solidFill>
                <a:srgbClr val="AF76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b="1" dirty="0">
                <a:solidFill>
                  <a:srgbClr val="AF76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sample </a:t>
            </a:r>
            <a:r>
              <a:rPr lang="en-US" sz="2600" b="1" dirty="0">
                <a:solidFill>
                  <a:srgbClr val="AF76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samples: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print(sample)</a:t>
            </a:r>
          </a:p>
        </p:txBody>
      </p:sp>
    </p:spTree>
    <p:extLst>
      <p:ext uri="{BB962C8B-B14F-4D97-AF65-F5344CB8AC3E}">
        <p14:creationId xmlns:p14="http://schemas.microsoft.com/office/powerpoint/2010/main" val="17751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5EB826-8D76-F742-2627-A34BB5F5B79A}"/>
              </a:ext>
            </a:extLst>
          </p:cNvPr>
          <p:cNvSpPr txBox="1"/>
          <p:nvPr/>
        </p:nvSpPr>
        <p:spPr>
          <a:xfrm>
            <a:off x="927652" y="538226"/>
            <a:ext cx="105089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Doing the same thing repeatedly</a:t>
            </a:r>
          </a:p>
          <a:p>
            <a:pPr algn="ctr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200" dirty="0">
                <a:latin typeface="Helvetica Light" panose="020B0403020202020204" pitchFamily="34" charset="0"/>
              </a:rPr>
              <a:t> loops let us process every element in a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61D37-E098-45CB-EA76-4B420B315511}"/>
              </a:ext>
            </a:extLst>
          </p:cNvPr>
          <p:cNvSpPr txBox="1"/>
          <p:nvPr/>
        </p:nvSpPr>
        <p:spPr>
          <a:xfrm>
            <a:off x="2372138" y="210555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Basic idea:</a:t>
            </a:r>
          </a:p>
          <a:p>
            <a:pPr>
              <a:buNone/>
            </a:pP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item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collection: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do_something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12F4C-D119-704C-1FFA-26804442F6D8}"/>
              </a:ext>
            </a:extLst>
          </p:cNvPr>
          <p:cNvSpPr txBox="1"/>
          <p:nvPr/>
        </p:nvSpPr>
        <p:spPr>
          <a:xfrm>
            <a:off x="2372138" y="4398160"/>
            <a:ext cx="6096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4, 7, 10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numbers: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doubled = num *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print(doubled)</a:t>
            </a:r>
          </a:p>
        </p:txBody>
      </p:sp>
    </p:spTree>
    <p:extLst>
      <p:ext uri="{BB962C8B-B14F-4D97-AF65-F5344CB8AC3E}">
        <p14:creationId xmlns:p14="http://schemas.microsoft.com/office/powerpoint/2010/main" val="416693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A9B99B-66E7-C385-1FCF-1995FCC4CCFE}"/>
              </a:ext>
            </a:extLst>
          </p:cNvPr>
          <p:cNvSpPr txBox="1"/>
          <p:nvPr/>
        </p:nvSpPr>
        <p:spPr>
          <a:xfrm>
            <a:off x="921026" y="399727"/>
            <a:ext cx="1034994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Keeping track with a counter</a:t>
            </a:r>
          </a:p>
          <a:p>
            <a:pPr algn="ctr">
              <a:buNone/>
            </a:pPr>
            <a:r>
              <a:rPr lang="en-US" sz="3000" dirty="0">
                <a:latin typeface="Helvetica Light" panose="020B0403020202020204" pitchFamily="34" charset="0"/>
              </a:rPr>
              <a:t>Variables can accumulate information as a loop runs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247C2-9774-FA59-ED55-568DAEF58A09}"/>
              </a:ext>
            </a:extLst>
          </p:cNvPr>
          <p:cNvSpPr txBox="1"/>
          <p:nvPr/>
        </p:nvSpPr>
        <p:spPr>
          <a:xfrm>
            <a:off x="1146313" y="1726208"/>
            <a:ext cx="1012466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samples = [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"HOWR_01", "HOWR_02", "HOWR_03"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 =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sample in samples: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f"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{counter}: {sample}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counter +=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7E087-4E21-76E9-E451-DD677D4E6CBE}"/>
              </a:ext>
            </a:extLst>
          </p:cNvPr>
          <p:cNvSpPr txBox="1"/>
          <p:nvPr/>
        </p:nvSpPr>
        <p:spPr>
          <a:xfrm>
            <a:off x="1146313" y="4099130"/>
            <a:ext cx="6096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dirty="0">
                <a:latin typeface="Helvetica" pitchFamily="2" charset="0"/>
              </a:rPr>
              <a:t>counter starts at 0:</a:t>
            </a:r>
          </a:p>
          <a:p>
            <a:pPr>
              <a:buNone/>
            </a:pPr>
            <a:r>
              <a:rPr lang="en-US" sz="2600" dirty="0">
                <a:latin typeface="Helvetica" pitchFamily="2" charset="0"/>
              </a:rPr>
              <a:t>HOWR_01  → counter = 0</a:t>
            </a:r>
          </a:p>
          <a:p>
            <a:pPr>
              <a:buNone/>
            </a:pPr>
            <a:r>
              <a:rPr lang="en-US" sz="2600" dirty="0">
                <a:latin typeface="Helvetica" pitchFamily="2" charset="0"/>
              </a:rPr>
              <a:t>HOWR_02  → counter = 1</a:t>
            </a:r>
          </a:p>
          <a:p>
            <a:pPr>
              <a:buNone/>
            </a:pPr>
            <a:r>
              <a:rPr lang="en-US" sz="2600" dirty="0">
                <a:latin typeface="Helvetica" pitchFamily="2" charset="0"/>
              </a:rPr>
              <a:t>HOWR_03  → counter =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D80F6-9214-1E04-C28A-CD509EE5B77F}"/>
              </a:ext>
            </a:extLst>
          </p:cNvPr>
          <p:cNvSpPr txBox="1"/>
          <p:nvPr/>
        </p:nvSpPr>
        <p:spPr>
          <a:xfrm>
            <a:off x="2186608" y="6071942"/>
            <a:ext cx="8613913" cy="49244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 +=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means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counter = counter + 1</a:t>
            </a:r>
            <a:endParaRPr lang="en-US" sz="26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87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10F03E-FE3D-A9D3-6538-A358628A3E18}"/>
              </a:ext>
            </a:extLst>
          </p:cNvPr>
          <p:cNvSpPr txBox="1"/>
          <p:nvPr/>
        </p:nvSpPr>
        <p:spPr>
          <a:xfrm>
            <a:off x="1186069" y="312939"/>
            <a:ext cx="98198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Building a list with a loop</a:t>
            </a:r>
          </a:p>
          <a:p>
            <a:pPr algn="ctr">
              <a:buNone/>
            </a:pPr>
            <a:r>
              <a:rPr lang="en-US" sz="3200" dirty="0">
                <a:latin typeface="Helvetica Light" panose="020B0403020202020204" pitchFamily="34" charset="0"/>
              </a:rPr>
              <a:t>Start with an empty list and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.append()</a:t>
            </a:r>
            <a:r>
              <a:rPr lang="en-US" sz="3200" dirty="0">
                <a:latin typeface="Helvetica Light" panose="020B0403020202020204" pitchFamily="34" charset="0"/>
              </a:rPr>
              <a:t> results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95DA5-925B-64E9-06AD-225D192C2AAA}"/>
              </a:ext>
            </a:extLst>
          </p:cNvPr>
          <p:cNvSpPr txBox="1"/>
          <p:nvPr/>
        </p:nvSpPr>
        <p:spPr>
          <a:xfrm>
            <a:off x="3047999" y="2319383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4, 7, 10, 13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doubled = []</a:t>
            </a:r>
          </a:p>
          <a:p>
            <a:pPr>
              <a:buNone/>
            </a:pP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numbers: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doubled.append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(num *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print(doubled)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72061-1C09-D641-D3B7-25E865EA900C}"/>
              </a:ext>
            </a:extLst>
          </p:cNvPr>
          <p:cNvSpPr txBox="1"/>
          <p:nvPr/>
        </p:nvSpPr>
        <p:spPr>
          <a:xfrm>
            <a:off x="755373" y="5341491"/>
            <a:ext cx="108932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The original list supplies the data; the loop builds the result</a:t>
            </a:r>
          </a:p>
        </p:txBody>
      </p:sp>
    </p:spTree>
    <p:extLst>
      <p:ext uri="{BB962C8B-B14F-4D97-AF65-F5344CB8AC3E}">
        <p14:creationId xmlns:p14="http://schemas.microsoft.com/office/powerpoint/2010/main" val="286580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BAA40A-1654-5A92-9C2C-C6B5B4F719CF}"/>
              </a:ext>
            </a:extLst>
          </p:cNvPr>
          <p:cNvSpPr txBox="1"/>
          <p:nvPr/>
        </p:nvSpPr>
        <p:spPr>
          <a:xfrm>
            <a:off x="530087" y="288487"/>
            <a:ext cx="111318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Loops + conditionals</a:t>
            </a:r>
          </a:p>
          <a:p>
            <a:pPr algn="ctr">
              <a:buNone/>
            </a:pPr>
            <a:r>
              <a:rPr lang="en-US" sz="3200" dirty="0">
                <a:latin typeface="Helvetica Light" panose="020B0403020202020204" pitchFamily="34" charset="0"/>
              </a:rPr>
              <a:t>Process every item, but act only on the ones we want </a:t>
            </a:r>
            <a:endParaRPr lang="en-US" sz="3200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B336A-66A3-F5DE-2C7B-A1EF2A4D10FD}"/>
              </a:ext>
            </a:extLst>
          </p:cNvPr>
          <p:cNvSpPr txBox="1"/>
          <p:nvPr/>
        </p:nvSpPr>
        <p:spPr>
          <a:xfrm>
            <a:off x="1292087" y="1786523"/>
            <a:ext cx="10668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measurements = [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4.2, 11.7, 8.3, 15.1, 19.6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buNone/>
            </a:pP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large_values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>
              <a:buNone/>
            </a:pP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 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measurements:</a:t>
            </a:r>
          </a:p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 &gt;=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large_values.append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(value)</a:t>
            </a:r>
          </a:p>
          <a:p>
            <a:pPr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large_values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14353-F3CA-18EC-C734-F6E2BB8969C2}"/>
              </a:ext>
            </a:extLst>
          </p:cNvPr>
          <p:cNvSpPr txBox="1"/>
          <p:nvPr/>
        </p:nvSpPr>
        <p:spPr>
          <a:xfrm>
            <a:off x="3578087" y="61278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LOOP → TEST → ACT</a:t>
            </a:r>
          </a:p>
        </p:txBody>
      </p:sp>
    </p:spTree>
    <p:extLst>
      <p:ext uri="{BB962C8B-B14F-4D97-AF65-F5344CB8AC3E}">
        <p14:creationId xmlns:p14="http://schemas.microsoft.com/office/powerpoint/2010/main" val="2570841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BD386-9B3B-24A4-9408-DA5ED2E11B78}"/>
              </a:ext>
            </a:extLst>
          </p:cNvPr>
          <p:cNvSpPr txBox="1"/>
          <p:nvPr/>
        </p:nvSpPr>
        <p:spPr>
          <a:xfrm>
            <a:off x="106017" y="214195"/>
            <a:ext cx="4174435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Putting it all together</a:t>
            </a:r>
          </a:p>
          <a:p>
            <a:pPr>
              <a:buNone/>
            </a:pPr>
            <a:r>
              <a:rPr lang="en-US" sz="3000" dirty="0">
                <a:latin typeface="Helvetica Light" panose="020B0403020202020204" pitchFamily="34" charset="0"/>
              </a:rPr>
              <a:t>Most data-processing tasks are combinations of a few simple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28EF3-DD0B-5385-BC57-FA2E02FD4DDC}"/>
              </a:ext>
            </a:extLst>
          </p:cNvPr>
          <p:cNvSpPr txBox="1"/>
          <p:nvPr/>
        </p:nvSpPr>
        <p:spPr>
          <a:xfrm>
            <a:off x="4532244" y="282616"/>
            <a:ext cx="765975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DATA           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samples = [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600" dirty="0"/>
              <a:t>  ↓</a:t>
            </a:r>
          </a:p>
          <a:p>
            <a:endParaRPr lang="en-US" sz="2600" dirty="0"/>
          </a:p>
          <a:p>
            <a:r>
              <a:rPr lang="en-US" sz="2600" dirty="0"/>
              <a:t>LOOP                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record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samples:</a:t>
            </a:r>
          </a:p>
          <a:p>
            <a:r>
              <a:rPr lang="en-US" sz="2600" dirty="0"/>
              <a:t>  ↓</a:t>
            </a:r>
          </a:p>
          <a:p>
            <a:endParaRPr lang="en-US" sz="2600" dirty="0"/>
          </a:p>
          <a:p>
            <a:r>
              <a:rPr lang="en-US" sz="2600" dirty="0"/>
              <a:t>EXTRACT     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fields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record.split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sample = fields[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600" dirty="0"/>
              <a:t>  ↓</a:t>
            </a:r>
          </a:p>
          <a:p>
            <a:r>
              <a:rPr lang="en-US" sz="2600" dirty="0"/>
              <a:t>TEST               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population == "NV":</a:t>
            </a:r>
          </a:p>
          <a:p>
            <a:r>
              <a:rPr lang="en-US" sz="2600" dirty="0"/>
              <a:t>  ↓</a:t>
            </a:r>
          </a:p>
          <a:p>
            <a:endParaRPr lang="en-US" sz="2600" dirty="0"/>
          </a:p>
          <a:p>
            <a:r>
              <a:rPr lang="en-US" sz="2600" dirty="0"/>
              <a:t>ACT / SAVE        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nv_samples.append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(sample)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/>
              <a:t>↓</a:t>
            </a:r>
            <a:endParaRPr lang="en-US" sz="26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endParaRPr lang="en-US" sz="2600" dirty="0"/>
          </a:p>
          <a:p>
            <a:r>
              <a:rPr lang="en-US" sz="2600" dirty="0"/>
              <a:t>RESULT         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HOWR_01", "HOWR_03", </a:t>
            </a:r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84283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71CCED-9D60-E71D-391B-FA3174242F7F}"/>
              </a:ext>
            </a:extLst>
          </p:cNvPr>
          <p:cNvSpPr txBox="1"/>
          <p:nvPr/>
        </p:nvSpPr>
        <p:spPr>
          <a:xfrm>
            <a:off x="205408" y="394255"/>
            <a:ext cx="11781183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This week’s assignment</a:t>
            </a:r>
          </a:p>
          <a:p>
            <a:pPr algn="ctr">
              <a:buNone/>
            </a:pPr>
            <a:r>
              <a:rPr lang="en-US" sz="2800" dirty="0">
                <a:latin typeface="Helvetica Light" panose="020B0403020202020204" pitchFamily="34" charset="0"/>
              </a:rPr>
              <a:t>From individual Python operations to simple data-processing workflows</a:t>
            </a:r>
          </a:p>
          <a:p>
            <a:pPr algn="ctr">
              <a:buNone/>
            </a:pPr>
            <a:endParaRPr lang="en-US" sz="2800" dirty="0">
              <a:latin typeface="Helvetica Light" panose="020B0403020202020204" pitchFamily="34" charset="0"/>
            </a:endParaRPr>
          </a:p>
          <a:p>
            <a:pPr>
              <a:buNone/>
            </a:pPr>
            <a:r>
              <a:rPr lang="en-US" sz="2400" b="1" dirty="0">
                <a:latin typeface="HELVETICA LIGHT" panose="020B0403020202020204" pitchFamily="34" charset="0"/>
              </a:rPr>
              <a:t>Problem 1: Strings and lists</a:t>
            </a:r>
            <a:br>
              <a:rPr lang="en-US" sz="2400" dirty="0">
                <a:latin typeface="Helvetica Light" panose="020B0403020202020204" pitchFamily="34" charset="0"/>
              </a:rPr>
            </a:br>
            <a:r>
              <a:rPr lang="en-US" sz="2400" dirty="0">
                <a:latin typeface="Helvetica Light" panose="020B0403020202020204" pitchFamily="34" charset="0"/>
              </a:rPr>
              <a:t>Split a structured data string, extract fields, calculate sequence properties, use slicing, and make a simple classification.</a:t>
            </a:r>
          </a:p>
          <a:p>
            <a:pPr>
              <a:buNone/>
            </a:pPr>
            <a:endParaRPr lang="en-US" sz="2400" dirty="0">
              <a:latin typeface="Helvetica Light" panose="020B0403020202020204" pitchFamily="34" charset="0"/>
            </a:endParaRPr>
          </a:p>
          <a:p>
            <a:pPr>
              <a:buNone/>
            </a:pPr>
            <a:r>
              <a:rPr lang="en-US" sz="2400" b="1" dirty="0">
                <a:latin typeface="HELVETICA LIGHT" panose="020B0403020202020204" pitchFamily="34" charset="0"/>
              </a:rPr>
              <a:t>Problem 2: Building and filtering lists</a:t>
            </a:r>
            <a:br>
              <a:rPr lang="en-US" sz="2400" dirty="0">
                <a:latin typeface="Helvetica Light" panose="020B0403020202020204" pitchFamily="34" charset="0"/>
              </a:rPr>
            </a:br>
            <a:r>
              <a:rPr lang="en-US" sz="2400" dirty="0">
                <a:latin typeface="Helvetica Light" panose="020B0403020202020204" pitchFamily="34" charset="0"/>
              </a:rPr>
              <a:t>Convert data to numbers, loop through values, build new lists with .append(), accumulate a total, and use conditionals.</a:t>
            </a:r>
          </a:p>
          <a:p>
            <a:pPr>
              <a:buNone/>
            </a:pPr>
            <a:endParaRPr lang="en-US" sz="2400" dirty="0">
              <a:latin typeface="Helvetica Light" panose="020B0403020202020204" pitchFamily="34" charset="0"/>
            </a:endParaRPr>
          </a:p>
          <a:p>
            <a:pPr>
              <a:buNone/>
            </a:pPr>
            <a:r>
              <a:rPr lang="en-US" sz="2400" b="1" dirty="0">
                <a:latin typeface="HELVETICA LIGHT" panose="020B0403020202020204" pitchFamily="34" charset="0"/>
              </a:rPr>
              <a:t>Problem </a:t>
            </a:r>
            <a:r>
              <a:rPr lang="en-US" sz="2400" b="1" dirty="0">
                <a:latin typeface="Helvetica Light" panose="020B0403020202020204" pitchFamily="34" charset="0"/>
              </a:rPr>
              <a:t>3: Processing </a:t>
            </a:r>
            <a:r>
              <a:rPr lang="en-US" sz="2400" b="1" dirty="0">
                <a:latin typeface="HELVETICA LIGHT" panose="020B0403020202020204" pitchFamily="34" charset="0"/>
              </a:rPr>
              <a:t>sample records</a:t>
            </a:r>
            <a:br>
              <a:rPr lang="en-US" sz="2400" dirty="0">
                <a:latin typeface="Helvetica Light" panose="020B0403020202020204" pitchFamily="34" charset="0"/>
              </a:rPr>
            </a:br>
            <a:r>
              <a:rPr lang="en-US" sz="2400" dirty="0">
                <a:latin typeface="Helvetica Light" panose="020B0403020202020204" pitchFamily="34" charset="0"/>
              </a:rPr>
              <a:t>Use a loop to process multiple biological samples:</a:t>
            </a:r>
            <a:br>
              <a:rPr lang="en-US" sz="2400" dirty="0">
                <a:latin typeface="Helvetica Light" panose="020B0403020202020204" pitchFamily="34" charset="0"/>
              </a:rPr>
            </a:br>
            <a:r>
              <a:rPr lang="en-US" sz="2400" dirty="0">
                <a:latin typeface="Helvetica Light" panose="020B0403020202020204" pitchFamily="34" charset="0"/>
              </a:rPr>
              <a:t>split → extract → calculate → classify → save/count </a:t>
            </a:r>
          </a:p>
          <a:p>
            <a:pPr>
              <a:buNone/>
            </a:pPr>
            <a:endParaRPr lang="en-US" sz="2400" dirty="0">
              <a:latin typeface="Helvetica Light" panose="020B0403020202020204" pitchFamily="34" charset="0"/>
            </a:endParaRPr>
          </a:p>
          <a:p>
            <a:pPr>
              <a:buNone/>
            </a:pPr>
            <a:r>
              <a:rPr lang="en-US" sz="2400" b="1" dirty="0">
                <a:latin typeface="Helvetica Light" panose="020B0403020202020204" pitchFamily="34" charset="0"/>
              </a:rPr>
              <a:t>Problem 4: Putting </a:t>
            </a:r>
            <a:r>
              <a:rPr lang="en-US" sz="2400" b="1" dirty="0">
                <a:latin typeface="HELVETICA LIGHT" panose="020B0403020202020204" pitchFamily="34" charset="0"/>
              </a:rPr>
              <a:t>the pieces together</a:t>
            </a:r>
            <a:br>
              <a:rPr lang="en-US" sz="2400" b="1" dirty="0">
                <a:latin typeface="HELVETICA LIGHT" panose="020B0403020202020204" pitchFamily="34" charset="0"/>
              </a:rPr>
            </a:br>
            <a:endParaRPr lang="en-US" sz="24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810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10A132-F479-7B4D-90DF-92D2042E73B8}"/>
              </a:ext>
            </a:extLst>
          </p:cNvPr>
          <p:cNvSpPr txBox="1"/>
          <p:nvPr/>
        </p:nvSpPr>
        <p:spPr>
          <a:xfrm>
            <a:off x="710899" y="1254077"/>
            <a:ext cx="1063105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1. Write the specified scripts in Chapter 9 (focusing on lists, we will 		come back to dictionaries later in more detail)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EACCF-7E0D-8A4F-9D6C-B787233F3FA7}"/>
              </a:ext>
            </a:extLst>
          </p:cNvPr>
          <p:cNvSpPr txBox="1"/>
          <p:nvPr/>
        </p:nvSpPr>
        <p:spPr>
          <a:xfrm>
            <a:off x="710899" y="2710177"/>
            <a:ext cx="114602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2. Review</a:t>
            </a:r>
            <a:r>
              <a:rPr lang="en-US" sz="2600" dirty="0"/>
              <a:t> </a:t>
            </a:r>
            <a:r>
              <a:rPr lang="en-US" sz="2600" b="1" dirty="0">
                <a:latin typeface="Helvetica Light" panose="020B0403020202020204" pitchFamily="34" charset="0"/>
              </a:rPr>
              <a:t>python_2_primer.md</a:t>
            </a:r>
            <a:r>
              <a:rPr lang="en-US" sz="2600" dirty="0">
                <a:latin typeface="Helvetica Light" panose="020B0403020202020204" pitchFamily="34" charset="0"/>
              </a:rPr>
              <a:t>, write code for </a:t>
            </a:r>
            <a:r>
              <a:rPr lang="en-US" sz="2600" b="1" dirty="0" err="1">
                <a:latin typeface="Helvetica Light" panose="020B0403020202020204" pitchFamily="34" charset="0"/>
              </a:rPr>
              <a:t>assignment_pythonII.md</a:t>
            </a:r>
            <a:r>
              <a:rPr lang="en-US" sz="2600" b="1" dirty="0">
                <a:latin typeface="Helvetica Light" panose="020B0403020202020204" pitchFamily="34" charset="0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4EA31-EF2A-F045-A761-D6ECF013E8E0}"/>
              </a:ext>
            </a:extLst>
          </p:cNvPr>
          <p:cNvSpPr txBox="1"/>
          <p:nvPr/>
        </p:nvSpPr>
        <p:spPr>
          <a:xfrm>
            <a:off x="710899" y="3970377"/>
            <a:ext cx="118201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3. Turn in </a:t>
            </a:r>
            <a:r>
              <a:rPr lang="en-US" sz="2600" b="1" dirty="0">
                <a:latin typeface="Helvetica Light" panose="020B0403020202020204" pitchFamily="34" charset="0"/>
              </a:rPr>
              <a:t>scripts 2 and 3 </a:t>
            </a:r>
            <a:r>
              <a:rPr lang="en-US" sz="2600" dirty="0">
                <a:latin typeface="Helvetica Light" panose="020B0403020202020204" pitchFamily="34" charset="0"/>
              </a:rPr>
              <a:t>from assignment. Short project description 1-pager due by October 19  (if you haven’t sent already).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ADA15-4743-BA44-8F7E-3D8654035256}"/>
              </a:ext>
            </a:extLst>
          </p:cNvPr>
          <p:cNvSpPr txBox="1"/>
          <p:nvPr/>
        </p:nvSpPr>
        <p:spPr>
          <a:xfrm>
            <a:off x="710899" y="5501190"/>
            <a:ext cx="1182011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Next Week</a:t>
            </a:r>
            <a:r>
              <a:rPr lang="en-US" sz="2600" dirty="0">
                <a:latin typeface="Helvetica Light" panose="020B0403020202020204" pitchFamily="34" charset="0"/>
              </a:rPr>
              <a:t>: working with files, controlling input/output (</a:t>
            </a:r>
            <a:r>
              <a:rPr lang="en-US" sz="2600" b="1" dirty="0">
                <a:latin typeface="Helvetica Light" panose="020B0403020202020204" pitchFamily="34" charset="0"/>
              </a:rPr>
              <a:t>reading and writing</a:t>
            </a:r>
            <a:r>
              <a:rPr lang="en-US" sz="2600" dirty="0">
                <a:latin typeface="Helvetica Light" panose="020B0403020202020204" pitchFamily="34" charset="0"/>
              </a:rPr>
              <a:t>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B87F7-AD03-9E46-AD4E-2474F471165F}"/>
              </a:ext>
            </a:extLst>
          </p:cNvPr>
          <p:cNvSpPr txBox="1"/>
          <p:nvPr/>
        </p:nvSpPr>
        <p:spPr>
          <a:xfrm>
            <a:off x="4110677" y="264203"/>
            <a:ext cx="394851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This week and next</a:t>
            </a:r>
          </a:p>
        </p:txBody>
      </p:sp>
    </p:spTree>
    <p:extLst>
      <p:ext uri="{BB962C8B-B14F-4D97-AF65-F5344CB8AC3E}">
        <p14:creationId xmlns:p14="http://schemas.microsoft.com/office/powerpoint/2010/main" val="75343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13700</TotalTime>
  <Words>1703</Words>
  <Application>Microsoft Macintosh PowerPoint</Application>
  <PresentationFormat>Widescreen</PresentationFormat>
  <Paragraphs>270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Helvetica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75</cp:revision>
  <dcterms:created xsi:type="dcterms:W3CDTF">2020-10-04T22:12:12Z</dcterms:created>
  <dcterms:modified xsi:type="dcterms:W3CDTF">2026-10-03T23:00:06Z</dcterms:modified>
</cp:coreProperties>
</file>