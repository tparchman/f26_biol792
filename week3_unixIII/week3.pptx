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303" r:id="rId3"/>
    <p:sldId id="301" r:id="rId4"/>
    <p:sldId id="302" r:id="rId5"/>
    <p:sldId id="258" r:id="rId6"/>
    <p:sldId id="283" r:id="rId7"/>
    <p:sldId id="273" r:id="rId8"/>
    <p:sldId id="287" r:id="rId9"/>
    <p:sldId id="295" r:id="rId10"/>
    <p:sldId id="298" r:id="rId11"/>
    <p:sldId id="299" r:id="rId12"/>
    <p:sldId id="300" r:id="rId13"/>
    <p:sldId id="290" r:id="rId14"/>
    <p:sldId id="306" r:id="rId15"/>
    <p:sldId id="307" r:id="rId16"/>
    <p:sldId id="277" r:id="rId17"/>
    <p:sldId id="264" r:id="rId18"/>
    <p:sldId id="265" r:id="rId19"/>
    <p:sldId id="305" r:id="rId20"/>
    <p:sldId id="304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24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7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E92BA-4986-6545-AA2F-FF0D9979F354}" type="datetimeFigureOut">
              <a:rPr lang="en-US" smtClean="0"/>
              <a:t>9/7/26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BCFDAE-124A-0F48-98A3-F781E8D4D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934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CFDAE-124A-0F48-98A3-F781E8D4D59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717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CFDAE-124A-0F48-98A3-F781E8D4D59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126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02DD5-695F-3C48-80EE-AEFF2C4CC0DE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48E9-393A-F845-95A7-771ECB676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138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02DD5-695F-3C48-80EE-AEFF2C4CC0DE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48E9-393A-F845-95A7-771ECB676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33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02DD5-695F-3C48-80EE-AEFF2C4CC0DE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48E9-393A-F845-95A7-771ECB676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997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02DD5-695F-3C48-80EE-AEFF2C4CC0DE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48E9-393A-F845-95A7-771ECB676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276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02DD5-695F-3C48-80EE-AEFF2C4CC0DE}" type="datetimeFigureOut">
              <a:rPr lang="en-US" smtClean="0"/>
              <a:t>9/7/26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48E9-393A-F845-95A7-771ECB676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211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02DD5-695F-3C48-80EE-AEFF2C4CC0DE}" type="datetimeFigureOut">
              <a:rPr lang="en-US" smtClean="0"/>
              <a:t>9/7/26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48E9-393A-F845-95A7-771ECB676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96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02DD5-695F-3C48-80EE-AEFF2C4CC0DE}" type="datetimeFigureOut">
              <a:rPr lang="en-US" smtClean="0"/>
              <a:t>9/7/26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48E9-393A-F845-95A7-771ECB676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247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02DD5-695F-3C48-80EE-AEFF2C4CC0DE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48E9-393A-F845-95A7-771ECB676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004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02DD5-695F-3C48-80EE-AEFF2C4CC0DE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48E9-393A-F845-95A7-771ECB676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33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02DD5-695F-3C48-80EE-AEFF2C4CC0DE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48E9-393A-F845-95A7-771ECB676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183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02DD5-695F-3C48-80EE-AEFF2C4CC0DE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48E9-393A-F845-95A7-771ECB676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875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B02DD5-695F-3C48-80EE-AEFF2C4CC0DE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8E48E9-393A-F845-95A7-771ECB676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41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5307" y="1328474"/>
            <a:ext cx="7048724" cy="32778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latin typeface="Helvetica Light" panose="020B0403020202020204" pitchFamily="34" charset="0"/>
              </a:rPr>
              <a:t>1. Process monitoring, control (</a:t>
            </a:r>
            <a:r>
              <a:rPr lang="en-US" sz="2300" b="1" dirty="0">
                <a:latin typeface="Helvetica Light" panose="020B0403020202020204" pitchFamily="34" charset="0"/>
              </a:rPr>
              <a:t>top</a:t>
            </a:r>
            <a:r>
              <a:rPr lang="en-US" sz="2300" dirty="0">
                <a:latin typeface="Helvetica Light" panose="020B0403020202020204" pitchFamily="34" charset="0"/>
              </a:rPr>
              <a:t>, </a:t>
            </a:r>
            <a:r>
              <a:rPr lang="en-US" sz="2300" b="1" dirty="0" err="1">
                <a:latin typeface="Helvetica Light" panose="020B0403020202020204" pitchFamily="34" charset="0"/>
              </a:rPr>
              <a:t>ps</a:t>
            </a:r>
            <a:r>
              <a:rPr lang="en-US" sz="2300" dirty="0">
                <a:latin typeface="Helvetica Light" panose="020B0403020202020204" pitchFamily="34" charset="0"/>
              </a:rPr>
              <a:t>, </a:t>
            </a:r>
            <a:r>
              <a:rPr lang="en-US" sz="2300" b="1" dirty="0">
                <a:latin typeface="Helvetica Light" panose="020B0403020202020204" pitchFamily="34" charset="0"/>
              </a:rPr>
              <a:t>kill, </a:t>
            </a:r>
            <a:r>
              <a:rPr lang="en-US" sz="2300" b="1" dirty="0" err="1">
                <a:latin typeface="Helvetica Light" panose="020B0403020202020204" pitchFamily="34" charset="0"/>
              </a:rPr>
              <a:t>pgrep</a:t>
            </a:r>
            <a:r>
              <a:rPr lang="en-US" sz="2300" dirty="0">
                <a:latin typeface="Helvetica Light" panose="020B0403020202020204" pitchFamily="34" charset="0"/>
              </a:rPr>
              <a:t>)</a:t>
            </a:r>
          </a:p>
          <a:p>
            <a:r>
              <a:rPr lang="en-US" sz="2300" dirty="0">
                <a:latin typeface="Helvetica Light" panose="020B0403020202020204" pitchFamily="34" charset="0"/>
              </a:rPr>
              <a:t> </a:t>
            </a:r>
          </a:p>
          <a:p>
            <a:r>
              <a:rPr lang="en-US" sz="2300" dirty="0">
                <a:latin typeface="Helvetica Light" panose="020B0403020202020204" pitchFamily="34" charset="0"/>
              </a:rPr>
              <a:t>2. Copying and syncing directories (</a:t>
            </a:r>
            <a:r>
              <a:rPr lang="en-US" sz="2300" b="1" dirty="0" err="1">
                <a:latin typeface="Helvetica Light" panose="020B0403020202020204" pitchFamily="34" charset="0"/>
              </a:rPr>
              <a:t>rsync</a:t>
            </a:r>
            <a:r>
              <a:rPr lang="en-US" sz="2300" dirty="0">
                <a:latin typeface="Helvetica Light" panose="020B0403020202020204" pitchFamily="34" charset="0"/>
              </a:rPr>
              <a:t>)</a:t>
            </a:r>
          </a:p>
          <a:p>
            <a:endParaRPr lang="en-US" sz="2300" dirty="0">
              <a:latin typeface="Helvetica Light" panose="020B0403020202020204" pitchFamily="34" charset="0"/>
            </a:endParaRPr>
          </a:p>
          <a:p>
            <a:r>
              <a:rPr lang="en-US" sz="2300" dirty="0">
                <a:latin typeface="Helvetica Light" panose="020B0403020202020204" pitchFamily="34" charset="0"/>
              </a:rPr>
              <a:t>3. Interacting with remote locations (</a:t>
            </a:r>
            <a:r>
              <a:rPr lang="en-US" sz="2300" b="1" dirty="0">
                <a:latin typeface="Helvetica Light" panose="020B0403020202020204" pitchFamily="34" charset="0"/>
              </a:rPr>
              <a:t>curl</a:t>
            </a:r>
            <a:r>
              <a:rPr lang="en-US" sz="2300" dirty="0">
                <a:latin typeface="Helvetica Light" panose="020B0403020202020204" pitchFamily="34" charset="0"/>
              </a:rPr>
              <a:t>, </a:t>
            </a:r>
            <a:r>
              <a:rPr lang="en-US" sz="2300" b="1" dirty="0" err="1">
                <a:latin typeface="Helvetica Light" panose="020B0403020202020204" pitchFamily="34" charset="0"/>
              </a:rPr>
              <a:t>wget</a:t>
            </a:r>
            <a:r>
              <a:rPr lang="en-US" sz="2300" b="1" dirty="0">
                <a:latin typeface="Helvetica Light" panose="020B0403020202020204" pitchFamily="34" charset="0"/>
              </a:rPr>
              <a:t>, </a:t>
            </a:r>
            <a:r>
              <a:rPr lang="en-US" sz="2300" b="1" dirty="0" err="1">
                <a:latin typeface="Helvetica Light" panose="020B0403020202020204" pitchFamily="34" charset="0"/>
              </a:rPr>
              <a:t>ssh</a:t>
            </a:r>
            <a:r>
              <a:rPr lang="en-US" sz="2300" dirty="0">
                <a:latin typeface="Helvetica Light" panose="020B0403020202020204" pitchFamily="34" charset="0"/>
              </a:rPr>
              <a:t>)</a:t>
            </a:r>
          </a:p>
          <a:p>
            <a:endParaRPr lang="en-US" sz="2300" dirty="0">
              <a:latin typeface="Helvetica Light" panose="020B0403020202020204" pitchFamily="34" charset="0"/>
            </a:endParaRPr>
          </a:p>
          <a:p>
            <a:r>
              <a:rPr lang="en-US" sz="2300" dirty="0">
                <a:latin typeface="Helvetica Light" panose="020B0403020202020204" pitchFamily="34" charset="0"/>
              </a:rPr>
              <a:t>4. Permissions, file modes (</a:t>
            </a:r>
            <a:r>
              <a:rPr lang="en-US" sz="2300" b="1" dirty="0" err="1">
                <a:latin typeface="Helvetica Light" panose="020B0403020202020204" pitchFamily="34" charset="0"/>
              </a:rPr>
              <a:t>chmod</a:t>
            </a:r>
            <a:r>
              <a:rPr lang="en-US" sz="2300" dirty="0">
                <a:latin typeface="Helvetica Light" panose="020B0403020202020204" pitchFamily="34" charset="0"/>
              </a:rPr>
              <a:t>)</a:t>
            </a:r>
          </a:p>
          <a:p>
            <a:endParaRPr lang="en-US" sz="2300" dirty="0">
              <a:latin typeface="Helvetica Light" panose="020B0403020202020204" pitchFamily="34" charset="0"/>
            </a:endParaRPr>
          </a:p>
          <a:p>
            <a:r>
              <a:rPr lang="en-US" sz="2300" dirty="0">
                <a:latin typeface="Helvetica Light" panose="020B0403020202020204" pitchFamily="34" charset="0"/>
              </a:rPr>
              <a:t>5. Introduction to shell scripts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4725" y="407506"/>
            <a:ext cx="646362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Week 3: some more </a:t>
            </a:r>
            <a:r>
              <a:rPr lang="en-US" sz="3000">
                <a:latin typeface="Helvetica Light" panose="020B0403020202020204" pitchFamily="34" charset="0"/>
              </a:rPr>
              <a:t>advanced Linux</a:t>
            </a:r>
            <a:endParaRPr lang="en-US" sz="3000" dirty="0">
              <a:latin typeface="Helvetica Light" panose="020B0403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3579" y="5690431"/>
            <a:ext cx="4655442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1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Haddock and Dunn chapters 5, 6, 16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83F7F8-B20D-2A48-B933-D79C3140EF81}"/>
              </a:ext>
            </a:extLst>
          </p:cNvPr>
          <p:cNvSpPr txBox="1"/>
          <p:nvPr/>
        </p:nvSpPr>
        <p:spPr>
          <a:xfrm>
            <a:off x="313579" y="6217452"/>
            <a:ext cx="4400564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100" dirty="0" err="1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Bradnam</a:t>
            </a:r>
            <a:r>
              <a:rPr lang="en-US" sz="21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 and Korf primer U29-U40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D144BA-0013-5E49-AF5D-04F70009F33B}"/>
              </a:ext>
            </a:extLst>
          </p:cNvPr>
          <p:cNvSpPr txBox="1"/>
          <p:nvPr/>
        </p:nvSpPr>
        <p:spPr>
          <a:xfrm>
            <a:off x="313579" y="5163410"/>
            <a:ext cx="5179623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100" dirty="0" err="1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linuxIII_primer.md</a:t>
            </a:r>
            <a:r>
              <a:rPr lang="en-US" sz="21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, linux_assignment3.md</a:t>
            </a:r>
          </a:p>
        </p:txBody>
      </p:sp>
    </p:spTree>
    <p:extLst>
      <p:ext uri="{BB962C8B-B14F-4D97-AF65-F5344CB8AC3E}">
        <p14:creationId xmlns:p14="http://schemas.microsoft.com/office/powerpoint/2010/main" val="3197253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C10126-879F-8C41-A2BE-8820457D0760}"/>
              </a:ext>
            </a:extLst>
          </p:cNvPr>
          <p:cNvSpPr/>
          <p:nvPr/>
        </p:nvSpPr>
        <p:spPr>
          <a:xfrm>
            <a:off x="414551" y="358630"/>
            <a:ext cx="7611849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</a:rPr>
              <a:t>1. Process Monitoring (</a:t>
            </a:r>
            <a:r>
              <a:rPr lang="en-US" sz="3300" b="1" dirty="0">
                <a:latin typeface="Helvetica Light" panose="020B0403020202020204" pitchFamily="34" charset="0"/>
              </a:rPr>
              <a:t>top</a:t>
            </a:r>
            <a:r>
              <a:rPr lang="en-US" sz="3300" dirty="0">
                <a:latin typeface="Helvetica Light" panose="020B0403020202020204" pitchFamily="34" charset="0"/>
              </a:rPr>
              <a:t> and </a:t>
            </a:r>
            <a:r>
              <a:rPr lang="en-US" sz="3300" b="1" dirty="0" err="1">
                <a:latin typeface="Helvetica Light" panose="020B0403020202020204" pitchFamily="34" charset="0"/>
              </a:rPr>
              <a:t>htop</a:t>
            </a:r>
            <a:r>
              <a:rPr lang="en-US" sz="3300" dirty="0">
                <a:latin typeface="Helvetica Light" panose="020B0403020202020204" pitchFamily="34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D91B04-3F37-984F-91D0-7AE48E5E6097}"/>
              </a:ext>
            </a:extLst>
          </p:cNvPr>
          <p:cNvSpPr/>
          <p:nvPr/>
        </p:nvSpPr>
        <p:spPr>
          <a:xfrm>
            <a:off x="44097" y="3629019"/>
            <a:ext cx="1064715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b="1" dirty="0">
                <a:latin typeface="Helvetica Light" panose="020B0403020202020204" pitchFamily="34" charset="0"/>
              </a:rPr>
              <a:t>$ top</a:t>
            </a:r>
          </a:p>
          <a:p>
            <a:endParaRPr lang="en-US" sz="3000" b="1" dirty="0">
              <a:latin typeface="Helvetica Light" panose="020B0403020202020204" pitchFamily="34" charset="0"/>
            </a:endParaRPr>
          </a:p>
          <a:p>
            <a:endParaRPr lang="en-US" sz="3000" b="1" dirty="0">
              <a:latin typeface="Helvetica Light" panose="020B0403020202020204" pitchFamily="34" charset="0"/>
            </a:endParaRPr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AAAEBD3A-F8BD-F646-A3E0-62F4673B6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633" y="1126935"/>
            <a:ext cx="4270226" cy="2502085"/>
          </a:xfrm>
          <a:prstGeom prst="rect">
            <a:avLst/>
          </a:prstGeom>
        </p:spPr>
      </p:pic>
      <p:pic>
        <p:nvPicPr>
          <p:cNvPr id="10" name="Picture 9" descr="A picture containing green&#10;&#10;Description automatically generated">
            <a:extLst>
              <a:ext uri="{FF2B5EF4-FFF2-40B4-BE49-F238E27FC236}">
                <a16:creationId xmlns:a16="http://schemas.microsoft.com/office/drawing/2014/main" id="{CE84D898-3B24-334E-A587-EFD42E829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26934"/>
            <a:ext cx="4589162" cy="250208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0DCB212-4602-804F-AECE-A9693DCBFE57}"/>
              </a:ext>
            </a:extLst>
          </p:cNvPr>
          <p:cNvSpPr/>
          <p:nvPr/>
        </p:nvSpPr>
        <p:spPr>
          <a:xfrm>
            <a:off x="4656633" y="3629019"/>
            <a:ext cx="127951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b="1" dirty="0">
                <a:latin typeface="Helvetica Light" panose="020B0403020202020204" pitchFamily="34" charset="0"/>
              </a:rPr>
              <a:t>$ </a:t>
            </a:r>
            <a:r>
              <a:rPr lang="en-US" sz="3000" b="1" dirty="0" err="1">
                <a:latin typeface="Helvetica Light" panose="020B0403020202020204" pitchFamily="34" charset="0"/>
              </a:rPr>
              <a:t>htop</a:t>
            </a:r>
            <a:endParaRPr lang="en-US" sz="3000" b="1" dirty="0">
              <a:latin typeface="Helvetica Light" panose="020B0403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DFC7CF-C233-994E-B3DB-8ADA57FB3599}"/>
              </a:ext>
            </a:extLst>
          </p:cNvPr>
          <p:cNvSpPr/>
          <p:nvPr/>
        </p:nvSpPr>
        <p:spPr>
          <a:xfrm>
            <a:off x="949109" y="4468045"/>
            <a:ext cx="741504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Helvetica Light" panose="020B0403020202020204" pitchFamily="34" charset="0"/>
              </a:rPr>
              <a:t>$ man </a:t>
            </a:r>
            <a:r>
              <a:rPr lang="en-US" b="1" dirty="0" err="1">
                <a:latin typeface="Helvetica Light" panose="020B0403020202020204" pitchFamily="34" charset="0"/>
              </a:rPr>
              <a:t>ps</a:t>
            </a:r>
            <a:r>
              <a:rPr lang="en-US" b="1" dirty="0">
                <a:latin typeface="Helvetica Light" panose="020B0403020202020204" pitchFamily="34" charset="0"/>
              </a:rPr>
              <a:t>     </a:t>
            </a:r>
            <a:r>
              <a:rPr lang="en-US" dirty="0">
                <a:latin typeface="Helvetica Light" panose="020B0403020202020204" pitchFamily="34" charset="0"/>
              </a:rPr>
              <a:t>	# for full list of command line arguments</a:t>
            </a:r>
          </a:p>
          <a:p>
            <a:endParaRPr lang="en-US" dirty="0">
              <a:latin typeface="Helvetica Light" panose="020B0403020202020204" pitchFamily="34" charset="0"/>
            </a:endParaRPr>
          </a:p>
          <a:p>
            <a:r>
              <a:rPr lang="en-US" b="1" dirty="0">
                <a:latin typeface="Helvetica Light" panose="020B0403020202020204" pitchFamily="34" charset="0"/>
              </a:rPr>
              <a:t>$ </a:t>
            </a:r>
            <a:r>
              <a:rPr lang="en-US" b="1" dirty="0" err="1">
                <a:latin typeface="Helvetica Light" panose="020B0403020202020204" pitchFamily="34" charset="0"/>
              </a:rPr>
              <a:t>ps</a:t>
            </a:r>
            <a:r>
              <a:rPr lang="en-US" b="1" dirty="0">
                <a:latin typeface="Helvetica Light" panose="020B0403020202020204" pitchFamily="34" charset="0"/>
              </a:rPr>
              <a:t> aux		</a:t>
            </a:r>
            <a:r>
              <a:rPr lang="en-US" dirty="0">
                <a:latin typeface="Helvetica Light" panose="020B0403020202020204" pitchFamily="34" charset="0"/>
              </a:rPr>
              <a:t># with options </a:t>
            </a:r>
            <a:r>
              <a:rPr lang="en-US" b="1" dirty="0">
                <a:latin typeface="Helvetica Light" panose="020B0403020202020204" pitchFamily="34" charset="0"/>
              </a:rPr>
              <a:t>a</a:t>
            </a:r>
            <a:r>
              <a:rPr lang="en-US" dirty="0">
                <a:latin typeface="Helvetica Light" panose="020B0403020202020204" pitchFamily="34" charset="0"/>
              </a:rPr>
              <a:t>, </a:t>
            </a:r>
            <a:r>
              <a:rPr lang="en-US" b="1" dirty="0">
                <a:latin typeface="Helvetica Light" panose="020B0403020202020204" pitchFamily="34" charset="0"/>
              </a:rPr>
              <a:t>u</a:t>
            </a:r>
            <a:r>
              <a:rPr lang="en-US" dirty="0">
                <a:latin typeface="Helvetica Light" panose="020B0403020202020204" pitchFamily="34" charset="0"/>
              </a:rPr>
              <a:t>, and </a:t>
            </a:r>
            <a:r>
              <a:rPr lang="en-US" b="1" dirty="0">
                <a:latin typeface="Helvetica Light" panose="020B0403020202020204" pitchFamily="34" charset="0"/>
              </a:rPr>
              <a:t>x</a:t>
            </a:r>
          </a:p>
          <a:p>
            <a:endParaRPr lang="en-US" dirty="0">
              <a:latin typeface="Helvetica Light" panose="020B0403020202020204" pitchFamily="34" charset="0"/>
            </a:endParaRPr>
          </a:p>
          <a:p>
            <a:r>
              <a:rPr lang="en-US" b="1" dirty="0">
                <a:latin typeface="Helvetica Light" panose="020B0403020202020204" pitchFamily="34" charset="0"/>
              </a:rPr>
              <a:t>$ </a:t>
            </a:r>
            <a:r>
              <a:rPr lang="en-US" b="1" dirty="0" err="1">
                <a:latin typeface="Helvetica Light" panose="020B0403020202020204" pitchFamily="34" charset="0"/>
              </a:rPr>
              <a:t>ps</a:t>
            </a:r>
            <a:r>
              <a:rPr lang="en-US" b="1" dirty="0">
                <a:latin typeface="Helvetica Light" panose="020B0403020202020204" pitchFamily="34" charset="0"/>
              </a:rPr>
              <a:t> aux | grep </a:t>
            </a:r>
            <a:r>
              <a:rPr lang="en-US" b="1" dirty="0" err="1">
                <a:latin typeface="Helvetica Light" panose="020B0403020202020204" pitchFamily="34" charset="0"/>
              </a:rPr>
              <a:t>TextWrangler.bin</a:t>
            </a:r>
            <a:endParaRPr lang="en-US" b="1" dirty="0">
              <a:latin typeface="Helvetica Light" panose="020B0403020202020204" pitchFamily="34" charset="0"/>
            </a:endParaRPr>
          </a:p>
          <a:p>
            <a:r>
              <a:rPr lang="en-US" dirty="0">
                <a:latin typeface="Helvetica Light" panose="020B0403020202020204" pitchFamily="34" charset="0"/>
              </a:rPr>
              <a:t>	-pipes process list into </a:t>
            </a:r>
            <a:r>
              <a:rPr lang="en-US" b="1" dirty="0">
                <a:latin typeface="Helvetica Light" panose="020B0403020202020204" pitchFamily="34" charset="0"/>
              </a:rPr>
              <a:t>grep</a:t>
            </a:r>
            <a:r>
              <a:rPr lang="en-US" dirty="0">
                <a:latin typeface="Helvetica Light" panose="020B0403020202020204" pitchFamily="34" charset="0"/>
              </a:rPr>
              <a:t>, prints those that match search expression</a:t>
            </a:r>
          </a:p>
        </p:txBody>
      </p:sp>
    </p:spTree>
    <p:extLst>
      <p:ext uri="{BB962C8B-B14F-4D97-AF65-F5344CB8AC3E}">
        <p14:creationId xmlns:p14="http://schemas.microsoft.com/office/powerpoint/2010/main" val="2678749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5B5302-52AA-CE41-8F46-3BC684C18EEB}"/>
              </a:ext>
            </a:extLst>
          </p:cNvPr>
          <p:cNvSpPr txBox="1"/>
          <p:nvPr/>
        </p:nvSpPr>
        <p:spPr>
          <a:xfrm>
            <a:off x="999532" y="522371"/>
            <a:ext cx="716895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Process control from Linux assignment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49EFFF-EA04-2344-B544-83FF37101EB4}"/>
              </a:ext>
            </a:extLst>
          </p:cNvPr>
          <p:cNvSpPr/>
          <p:nvPr/>
        </p:nvSpPr>
        <p:spPr>
          <a:xfrm>
            <a:off x="999532" y="1806408"/>
            <a:ext cx="7066358" cy="892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b="1" dirty="0">
                <a:latin typeface="Helvetica Light" panose="020B0403020202020204" pitchFamily="34" charset="0"/>
              </a:rPr>
              <a:t>$ jot -r 1000000000 &gt; </a:t>
            </a:r>
            <a:r>
              <a:rPr lang="en-US" sz="2600" b="1" dirty="0" err="1">
                <a:latin typeface="Helvetica Light" panose="020B0403020202020204" pitchFamily="34" charset="0"/>
              </a:rPr>
              <a:t>test.txt</a:t>
            </a:r>
            <a:r>
              <a:rPr lang="en-US" sz="2600" b="1" dirty="0">
                <a:latin typeface="Helvetica Light" panose="020B0403020202020204" pitchFamily="34" charset="0"/>
              </a:rPr>
              <a:t> &amp;</a:t>
            </a:r>
          </a:p>
          <a:p>
            <a:r>
              <a:rPr lang="en-US" sz="2600" b="1" dirty="0">
                <a:latin typeface="Helvetica Light" panose="020B0403020202020204" pitchFamily="34" charset="0"/>
              </a:rPr>
              <a:t>	</a:t>
            </a:r>
            <a:r>
              <a:rPr lang="en-US" sz="2600" dirty="0">
                <a:latin typeface="Helvetica Light" panose="020B0403020202020204" pitchFamily="34" charset="0"/>
              </a:rPr>
              <a:t>#starting </a:t>
            </a:r>
            <a:r>
              <a:rPr lang="en-US" sz="2600" b="1" dirty="0">
                <a:latin typeface="Helvetica Light" panose="020B0403020202020204" pitchFamily="34" charset="0"/>
              </a:rPr>
              <a:t>jot</a:t>
            </a:r>
            <a:r>
              <a:rPr lang="en-US" sz="2600" dirty="0">
                <a:latin typeface="Helvetica Light" panose="020B0403020202020204" pitchFamily="34" charset="0"/>
              </a:rPr>
              <a:t>, running in the background (</a:t>
            </a:r>
            <a:r>
              <a:rPr lang="en-US" sz="2600" b="1" dirty="0">
                <a:latin typeface="Helvetica Light" panose="020B0403020202020204" pitchFamily="34" charset="0"/>
              </a:rPr>
              <a:t>&amp;</a:t>
            </a:r>
            <a:r>
              <a:rPr lang="en-US" sz="2600" dirty="0">
                <a:latin typeface="Helvetica Light" panose="020B0403020202020204" pitchFamily="34" charset="0"/>
              </a:rPr>
              <a:t>)</a:t>
            </a:r>
            <a:endParaRPr lang="en-US" sz="2600" b="1" dirty="0">
              <a:latin typeface="Helvetica Light" panose="020B0403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461A6E-4267-4940-8FAD-FD585289254B}"/>
              </a:ext>
            </a:extLst>
          </p:cNvPr>
          <p:cNvSpPr/>
          <p:nvPr/>
        </p:nvSpPr>
        <p:spPr>
          <a:xfrm>
            <a:off x="999531" y="3029822"/>
            <a:ext cx="754725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b="1" dirty="0">
                <a:latin typeface="Helvetica Light" panose="020B0403020202020204" pitchFamily="34" charset="0"/>
              </a:rPr>
              <a:t>$ </a:t>
            </a:r>
            <a:r>
              <a:rPr lang="en-US" sz="2800" b="1" dirty="0" err="1">
                <a:latin typeface="Helvetica Light" panose="020B0403020202020204" pitchFamily="34" charset="0"/>
              </a:rPr>
              <a:t>ps</a:t>
            </a:r>
            <a:r>
              <a:rPr lang="en-US" sz="2800" b="1" dirty="0">
                <a:latin typeface="Helvetica Light" panose="020B0403020202020204" pitchFamily="34" charset="0"/>
              </a:rPr>
              <a:t> aux | grep jot</a:t>
            </a:r>
          </a:p>
          <a:p>
            <a:r>
              <a:rPr lang="en-US" sz="2600" b="1" dirty="0">
                <a:latin typeface="Helvetica Light" panose="020B0403020202020204" pitchFamily="34" charset="0"/>
              </a:rPr>
              <a:t>	</a:t>
            </a:r>
            <a:r>
              <a:rPr lang="en-US" sz="2600" dirty="0">
                <a:latin typeface="Helvetica Light" panose="020B0403020202020204" pitchFamily="34" charset="0"/>
              </a:rPr>
              <a:t>#quickly accessing PID and all job information</a:t>
            </a:r>
            <a:endParaRPr lang="en-US" sz="2600" b="1" dirty="0">
              <a:latin typeface="Helvetica Light" panose="020B0403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CA7EA7-07C6-4443-ACB7-022044A40FE6}"/>
              </a:ext>
            </a:extLst>
          </p:cNvPr>
          <p:cNvSpPr/>
          <p:nvPr/>
        </p:nvSpPr>
        <p:spPr>
          <a:xfrm>
            <a:off x="999532" y="5412299"/>
            <a:ext cx="223971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b="1" dirty="0">
                <a:latin typeface="Helvetica Light" panose="020B0403020202020204" pitchFamily="34" charset="0"/>
              </a:rPr>
              <a:t>$ </a:t>
            </a:r>
            <a:r>
              <a:rPr lang="en-US" sz="2800" b="1" dirty="0">
                <a:latin typeface="Helvetica Light" panose="020B0403020202020204" pitchFamily="34" charset="0"/>
              </a:rPr>
              <a:t>kill 73451</a:t>
            </a:r>
          </a:p>
          <a:p>
            <a:r>
              <a:rPr lang="en-US" sz="2600" b="1" dirty="0">
                <a:latin typeface="Helvetica Light" panose="020B0403020202020204" pitchFamily="34" charset="0"/>
              </a:rPr>
              <a:t>	</a:t>
            </a:r>
            <a:r>
              <a:rPr lang="en-US" sz="2600" dirty="0">
                <a:latin typeface="Helvetica Light" panose="020B0403020202020204" pitchFamily="34" charset="0"/>
              </a:rPr>
              <a:t>#killing job</a:t>
            </a:r>
            <a:endParaRPr lang="en-US" sz="2600" b="1" dirty="0">
              <a:latin typeface="Helvetica Light" panose="020B0403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FE77FD-1CC2-2225-B73B-B11E62517ACF}"/>
              </a:ext>
            </a:extLst>
          </p:cNvPr>
          <p:cNvSpPr/>
          <p:nvPr/>
        </p:nvSpPr>
        <p:spPr>
          <a:xfrm>
            <a:off x="999531" y="4284015"/>
            <a:ext cx="311335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b="1" dirty="0">
                <a:latin typeface="Helvetica Light" panose="020B0403020202020204" pitchFamily="34" charset="0"/>
              </a:rPr>
              <a:t>$ </a:t>
            </a:r>
            <a:r>
              <a:rPr lang="en-US" sz="2800" b="1" dirty="0" err="1">
                <a:latin typeface="Helvetica Light" panose="020B0403020202020204" pitchFamily="34" charset="0"/>
              </a:rPr>
              <a:t>pgrep</a:t>
            </a:r>
            <a:r>
              <a:rPr lang="en-US" sz="2800" b="1" dirty="0">
                <a:latin typeface="Helvetica Light" panose="020B0403020202020204" pitchFamily="34" charset="0"/>
              </a:rPr>
              <a:t> jot</a:t>
            </a:r>
          </a:p>
          <a:p>
            <a:r>
              <a:rPr lang="en-US" sz="2600" b="1" dirty="0">
                <a:latin typeface="Helvetica Light" panose="020B0403020202020204" pitchFamily="34" charset="0"/>
              </a:rPr>
              <a:t>	</a:t>
            </a:r>
            <a:r>
              <a:rPr lang="en-US" sz="2600" dirty="0">
                <a:latin typeface="Helvetica Light" panose="020B0403020202020204" pitchFamily="34" charset="0"/>
              </a:rPr>
              <a:t>#just </a:t>
            </a:r>
            <a:r>
              <a:rPr lang="en-US" sz="2600">
                <a:latin typeface="Helvetica Light" panose="020B0403020202020204" pitchFamily="34" charset="0"/>
              </a:rPr>
              <a:t>returns PID</a:t>
            </a:r>
            <a:endParaRPr lang="en-US" sz="2600" b="1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129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F159BE-3A03-7D4E-82DF-DC2654BE873F}"/>
              </a:ext>
            </a:extLst>
          </p:cNvPr>
          <p:cNvSpPr txBox="1"/>
          <p:nvPr/>
        </p:nvSpPr>
        <p:spPr>
          <a:xfrm>
            <a:off x="101864" y="185519"/>
            <a:ext cx="89402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Helvetica Light" panose="020B0403020202020204" pitchFamily="34" charset="0"/>
              </a:rPr>
              <a:t>Important notes on removing files and directories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15D4B0-77FD-8B4C-A8DA-3B85EB2D01A2}"/>
              </a:ext>
            </a:extLst>
          </p:cNvPr>
          <p:cNvSpPr txBox="1"/>
          <p:nvPr/>
        </p:nvSpPr>
        <p:spPr>
          <a:xfrm>
            <a:off x="336331" y="1298031"/>
            <a:ext cx="8313494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latin typeface="Helvetica Light" panose="020B0403020202020204" pitchFamily="34" charset="0"/>
              </a:rPr>
              <a:t>- Adding “</a:t>
            </a:r>
            <a:r>
              <a:rPr lang="en-US" sz="2300" b="1" dirty="0">
                <a:latin typeface="Helvetica Light" panose="020B0403020202020204" pitchFamily="34" charset="0"/>
              </a:rPr>
              <a:t>rm –</a:t>
            </a:r>
            <a:r>
              <a:rPr lang="en-US" sz="2300" b="1" dirty="0" err="1">
                <a:latin typeface="Helvetica Light" panose="020B0403020202020204" pitchFamily="34" charset="0"/>
              </a:rPr>
              <a:t>i</a:t>
            </a:r>
            <a:r>
              <a:rPr lang="en-US" sz="2300" dirty="0">
                <a:latin typeface="Helvetica Light" panose="020B0403020202020204" pitchFamily="34" charset="0"/>
              </a:rPr>
              <a:t>” alias to your profile provided some protection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C42833-AEF6-5643-AB0B-FC84CAC5B977}"/>
              </a:ext>
            </a:extLst>
          </p:cNvPr>
          <p:cNvSpPr txBox="1"/>
          <p:nvPr/>
        </p:nvSpPr>
        <p:spPr>
          <a:xfrm>
            <a:off x="397447" y="2252268"/>
            <a:ext cx="83261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>
                <a:latin typeface="Helvetica Light" panose="020B0403020202020204" pitchFamily="34" charset="0"/>
              </a:rPr>
              <a:t>- You can override this with “</a:t>
            </a:r>
            <a:r>
              <a:rPr lang="en-US" sz="2300" b="1" dirty="0">
                <a:solidFill>
                  <a:srgbClr val="FF0000"/>
                </a:solidFill>
                <a:latin typeface="Helvetica Light" panose="020B0403020202020204" pitchFamily="34" charset="0"/>
              </a:rPr>
              <a:t>rm –f</a:t>
            </a:r>
            <a:r>
              <a:rPr lang="en-US" sz="2300" dirty="0">
                <a:latin typeface="Helvetica Light" panose="020B0403020202020204" pitchFamily="34" charset="0"/>
              </a:rPr>
              <a:t>” to avoid being prompted with the “are you sure?” message. </a:t>
            </a:r>
            <a:r>
              <a:rPr lang="en-US" sz="2300" b="1" dirty="0">
                <a:latin typeface="Helvetica Light" panose="020B0403020202020204" pitchFamily="34" charset="0"/>
              </a:rPr>
              <a:t>CAUTION</a:t>
            </a:r>
            <a:r>
              <a:rPr lang="en-US" sz="2300" dirty="0">
                <a:latin typeface="Helvetica Light" panose="020B040302020202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E85B9D-25E3-B64F-9C42-9B911A06AB56}"/>
              </a:ext>
            </a:extLst>
          </p:cNvPr>
          <p:cNvSpPr txBox="1"/>
          <p:nvPr/>
        </p:nvSpPr>
        <p:spPr>
          <a:xfrm>
            <a:off x="408929" y="3366016"/>
            <a:ext cx="8326139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>
                <a:latin typeface="Helvetica Light" panose="020B0403020202020204" pitchFamily="34" charset="0"/>
              </a:rPr>
              <a:t>- You can also invoke this recursively to delete </a:t>
            </a:r>
            <a:r>
              <a:rPr lang="en-US" sz="2300" b="1" i="1" dirty="0">
                <a:latin typeface="Helvetica Light" panose="020B0403020202020204" pitchFamily="34" charset="0"/>
              </a:rPr>
              <a:t>entire directories and their contents</a:t>
            </a:r>
            <a:r>
              <a:rPr lang="en-US" sz="2300" dirty="0">
                <a:latin typeface="Helvetica Light" panose="020B0403020202020204" pitchFamily="34" charset="0"/>
              </a:rPr>
              <a:t> with “</a:t>
            </a:r>
            <a:r>
              <a:rPr lang="en-US" sz="2300" b="1" dirty="0">
                <a:solidFill>
                  <a:srgbClr val="FF0000"/>
                </a:solidFill>
                <a:latin typeface="Helvetica Light" panose="020B0403020202020204" pitchFamily="34" charset="0"/>
              </a:rPr>
              <a:t>rm –rf</a:t>
            </a:r>
            <a:r>
              <a:rPr lang="en-US" sz="2300" dirty="0">
                <a:latin typeface="Helvetica Light" panose="020B0403020202020204" pitchFamily="34" charset="0"/>
              </a:rPr>
              <a:t>”. </a:t>
            </a:r>
            <a:r>
              <a:rPr lang="en-US" sz="2300" b="1" dirty="0">
                <a:latin typeface="Helvetica Light" panose="020B0403020202020204" pitchFamily="34" charset="0"/>
              </a:rPr>
              <a:t>CAUTION</a:t>
            </a:r>
            <a:r>
              <a:rPr lang="en-US" sz="2300" dirty="0">
                <a:latin typeface="Helvetica Light" panose="020B0403020202020204" pitchFamily="34" charset="0"/>
              </a:rPr>
              <a:t>. </a:t>
            </a:r>
            <a:r>
              <a:rPr lang="en-US" sz="2300" b="1" dirty="0">
                <a:latin typeface="Helvetica Light" panose="020B0403020202020204" pitchFamily="34" charset="0"/>
              </a:rPr>
              <a:t>This is the most dangerous of all Unix commands. </a:t>
            </a:r>
            <a:endParaRPr lang="en-US" sz="2300" dirty="0">
              <a:latin typeface="Helvetica Light" panose="020B0403020202020204" pitchFamily="34" charset="0"/>
            </a:endParaRPr>
          </a:p>
        </p:txBody>
      </p:sp>
      <p:pic>
        <p:nvPicPr>
          <p:cNvPr id="1028" name="Picture 4" descr="Death Skull Crossbones 2 Sticker">
            <a:extLst>
              <a:ext uri="{FF2B5EF4-FFF2-40B4-BE49-F238E27FC236}">
                <a16:creationId xmlns:a16="http://schemas.microsoft.com/office/drawing/2014/main" id="{EEBE9A91-C6E6-4642-A776-2314E6E0B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2027" y="4856604"/>
            <a:ext cx="1904999" cy="1904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Death Skull Crossbones 2 Sticker">
            <a:extLst>
              <a:ext uri="{FF2B5EF4-FFF2-40B4-BE49-F238E27FC236}">
                <a16:creationId xmlns:a16="http://schemas.microsoft.com/office/drawing/2014/main" id="{BDAB20D2-3623-E441-A36B-228433F28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9" y="4859358"/>
            <a:ext cx="1904999" cy="1904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Death Skull Crossbones 2 Sticker">
            <a:extLst>
              <a:ext uri="{FF2B5EF4-FFF2-40B4-BE49-F238E27FC236}">
                <a16:creationId xmlns:a16="http://schemas.microsoft.com/office/drawing/2014/main" id="{34E44BB1-EAA3-2442-A469-696609937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572" y="4897520"/>
            <a:ext cx="1904999" cy="1904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Death Skull Crossbones 2 Sticker">
            <a:extLst>
              <a:ext uri="{FF2B5EF4-FFF2-40B4-BE49-F238E27FC236}">
                <a16:creationId xmlns:a16="http://schemas.microsoft.com/office/drawing/2014/main" id="{91149BFD-612A-524F-A976-C772BEFBC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530" y="4873015"/>
            <a:ext cx="1904999" cy="1904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4981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970" y="370657"/>
            <a:ext cx="79625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2. </a:t>
            </a:r>
            <a:r>
              <a:rPr lang="en-US" sz="2800" b="1" dirty="0" err="1">
                <a:latin typeface="Helvetica Light" panose="020B0403020202020204" pitchFamily="34" charset="0"/>
              </a:rPr>
              <a:t>rsync</a:t>
            </a:r>
            <a:r>
              <a:rPr lang="en-US" sz="2800" dirty="0">
                <a:latin typeface="Helvetica Light" panose="020B0403020202020204" pitchFamily="34" charset="0"/>
              </a:rPr>
              <a:t>: A versatile command for copying and syncing directories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7970" y="2486246"/>
            <a:ext cx="45624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$ </a:t>
            </a:r>
            <a:r>
              <a:rPr lang="en-US" sz="2400" b="1" dirty="0" err="1">
                <a:latin typeface="Helvetica Light" panose="020B0403020202020204" pitchFamily="34" charset="0"/>
              </a:rPr>
              <a:t>rsync</a:t>
            </a:r>
            <a:r>
              <a:rPr lang="en-US" sz="2400" b="1" dirty="0">
                <a:latin typeface="Helvetica Light" panose="020B0403020202020204" pitchFamily="34" charset="0"/>
              </a:rPr>
              <a:t> –av source/ destination/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55184" y="2393914"/>
            <a:ext cx="3142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Writes contents of </a:t>
            </a:r>
            <a:r>
              <a:rPr lang="en-US" b="1" dirty="0">
                <a:latin typeface="Helvetica Light" panose="020B0403020202020204" pitchFamily="34" charset="0"/>
              </a:rPr>
              <a:t>source/ </a:t>
            </a:r>
            <a:r>
              <a:rPr lang="en-US" dirty="0">
                <a:latin typeface="Helvetica Light" panose="020B0403020202020204" pitchFamily="34" charset="0"/>
              </a:rPr>
              <a:t>into </a:t>
            </a:r>
            <a:r>
              <a:rPr lang="en-US" b="1" dirty="0">
                <a:latin typeface="Helvetica Light" panose="020B0403020202020204" pitchFamily="34" charset="0"/>
              </a:rPr>
              <a:t>destination/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55184" y="3817755"/>
            <a:ext cx="333116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Makes a </a:t>
            </a:r>
            <a:r>
              <a:rPr lang="en-US" b="1" dirty="0">
                <a:latin typeface="Helvetica Light" panose="020B0403020202020204" pitchFamily="34" charset="0"/>
              </a:rPr>
              <a:t>source/ </a:t>
            </a:r>
            <a:r>
              <a:rPr lang="en-US" dirty="0">
                <a:latin typeface="Helvetica Light" panose="020B0403020202020204" pitchFamily="34" charset="0"/>
              </a:rPr>
              <a:t>directory with all of its contents  in </a:t>
            </a:r>
            <a:r>
              <a:rPr lang="en-US" b="1" dirty="0">
                <a:latin typeface="Helvetica Light" panose="020B0403020202020204" pitchFamily="34" charset="0"/>
              </a:rPr>
              <a:t>destination</a:t>
            </a:r>
            <a:r>
              <a:rPr lang="en-US" dirty="0">
                <a:latin typeface="Helvetica Light" panose="020B0403020202020204" pitchFamily="34" charset="0"/>
              </a:rPr>
              <a:t>/</a:t>
            </a:r>
          </a:p>
          <a:p>
            <a:endParaRPr lang="en-US" dirty="0">
              <a:latin typeface="Helvetica Light" panose="020B0403020202020204" pitchFamily="34" charset="0"/>
            </a:endParaRPr>
          </a:p>
          <a:p>
            <a:r>
              <a:rPr lang="en-US" dirty="0">
                <a:latin typeface="Helvetica Light" panose="020B0403020202020204" pitchFamily="34" charset="0"/>
              </a:rPr>
              <a:t>- This is equivalent to ‘</a:t>
            </a:r>
            <a:r>
              <a:rPr lang="en-US" b="1" dirty="0">
                <a:latin typeface="Helvetica Light" panose="020B0403020202020204" pitchFamily="34" charset="0"/>
              </a:rPr>
              <a:t>copying</a:t>
            </a:r>
            <a:r>
              <a:rPr lang="en-US" dirty="0">
                <a:latin typeface="Helvetica Light" panose="020B0403020202020204" pitchFamily="34" charset="0"/>
              </a:rPr>
              <a:t>’ a directory to a new 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618" y="5136733"/>
            <a:ext cx="45624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-</a:t>
            </a:r>
            <a:r>
              <a:rPr lang="en-US" b="1" dirty="0">
                <a:latin typeface="Helvetica Light" panose="020B0403020202020204" pitchFamily="34" charset="0"/>
              </a:rPr>
              <a:t>av</a:t>
            </a:r>
            <a:r>
              <a:rPr lang="en-US" dirty="0">
                <a:latin typeface="Helvetica Light" panose="020B0403020202020204" pitchFamily="34" charset="0"/>
              </a:rPr>
              <a:t> controls archive (keeps permissions and other information constant), and prints information on progress to screen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9FE628-1B3E-A049-8CC1-2748CD11234E}"/>
              </a:ext>
            </a:extLst>
          </p:cNvPr>
          <p:cNvSpPr/>
          <p:nvPr/>
        </p:nvSpPr>
        <p:spPr>
          <a:xfrm>
            <a:off x="677970" y="3857656"/>
            <a:ext cx="44759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$ </a:t>
            </a:r>
            <a:r>
              <a:rPr lang="en-US" sz="2400" b="1" dirty="0" err="1">
                <a:latin typeface="Helvetica Light" panose="020B0403020202020204" pitchFamily="34" charset="0"/>
              </a:rPr>
              <a:t>rsync</a:t>
            </a:r>
            <a:r>
              <a:rPr lang="en-US" sz="2400" b="1" dirty="0">
                <a:latin typeface="Helvetica Light" panose="020B0403020202020204" pitchFamily="34" charset="0"/>
              </a:rPr>
              <a:t> –av source destination/</a:t>
            </a:r>
          </a:p>
        </p:txBody>
      </p:sp>
    </p:spTree>
    <p:extLst>
      <p:ext uri="{BB962C8B-B14F-4D97-AF65-F5344CB8AC3E}">
        <p14:creationId xmlns:p14="http://schemas.microsoft.com/office/powerpoint/2010/main" val="2602098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7341" y="1012847"/>
            <a:ext cx="4918334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200" dirty="0">
              <a:latin typeface="Helvetica Light" panose="020B0403020202020204" pitchFamily="34" charset="0"/>
            </a:endParaRPr>
          </a:p>
          <a:p>
            <a:endParaRPr lang="en-US" sz="2200" dirty="0">
              <a:latin typeface="Helvetica Light" panose="020B0403020202020204" pitchFamily="34" charset="0"/>
            </a:endParaRPr>
          </a:p>
          <a:p>
            <a:endParaRPr lang="en-US" sz="2200" dirty="0">
              <a:latin typeface="Helvetica Light" panose="020B0403020202020204" pitchFamily="34" charset="0"/>
            </a:endParaRPr>
          </a:p>
          <a:p>
            <a:endParaRPr lang="en-US" sz="2200" dirty="0">
              <a:latin typeface="Helvetica Light" panose="020B0403020202020204" pitchFamily="34" charset="0"/>
            </a:endParaRPr>
          </a:p>
          <a:p>
            <a:r>
              <a:rPr lang="en-US" sz="2600" b="1" dirty="0">
                <a:latin typeface="Helvetica Light" panose="020B0403020202020204" pitchFamily="34" charset="0"/>
              </a:rPr>
              <a:t>$ </a:t>
            </a:r>
            <a:r>
              <a:rPr lang="en-US" sz="2600" b="1" dirty="0" err="1">
                <a:latin typeface="Helvetica Light" panose="020B0403020202020204" pitchFamily="34" charset="0"/>
              </a:rPr>
              <a:t>rsync</a:t>
            </a:r>
            <a:r>
              <a:rPr lang="en-US" sz="2600" b="1" dirty="0">
                <a:latin typeface="Helvetica Light" panose="020B0403020202020204" pitchFamily="34" charset="0"/>
              </a:rPr>
              <a:t> –av source destination/</a:t>
            </a:r>
          </a:p>
          <a:p>
            <a:endParaRPr lang="en-US" sz="2200" dirty="0">
              <a:latin typeface="Helvetica Light" panose="020B0403020202020204" pitchFamily="34" charset="0"/>
            </a:endParaRPr>
          </a:p>
          <a:p>
            <a:endParaRPr lang="en-US" sz="2200" dirty="0">
              <a:latin typeface="Helvetica Light" panose="020B0403020202020204" pitchFamily="34" charset="0"/>
            </a:endParaRPr>
          </a:p>
          <a:p>
            <a:endParaRPr lang="en-US" sz="2200" dirty="0">
              <a:latin typeface="Helvetica Light" panose="020B0403020202020204" pitchFamily="34" charset="0"/>
            </a:endParaRPr>
          </a:p>
          <a:p>
            <a:endParaRPr lang="en-US" sz="2200" dirty="0">
              <a:latin typeface="Helvetica Light" panose="020B0403020202020204" pitchFamily="34" charset="0"/>
            </a:endParaRPr>
          </a:p>
          <a:p>
            <a:endParaRPr lang="en-US" sz="2200" dirty="0">
              <a:latin typeface="Helvetica Light" panose="020B0403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744236" y="1714499"/>
            <a:ext cx="314242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If </a:t>
            </a:r>
            <a:r>
              <a:rPr lang="en-US" sz="2000" b="1" dirty="0">
                <a:latin typeface="Helvetica Light" panose="020B0403020202020204" pitchFamily="34" charset="0"/>
              </a:rPr>
              <a:t>source/</a:t>
            </a:r>
            <a:r>
              <a:rPr lang="en-US" sz="2000" dirty="0">
                <a:latin typeface="Helvetica Light" panose="020B0403020202020204" pitchFamily="34" charset="0"/>
              </a:rPr>
              <a:t> already exists in </a:t>
            </a:r>
            <a:r>
              <a:rPr lang="en-US" sz="2000" b="1" dirty="0">
                <a:latin typeface="Helvetica Light" panose="020B0403020202020204" pitchFamily="34" charset="0"/>
              </a:rPr>
              <a:t>destination/</a:t>
            </a:r>
            <a:r>
              <a:rPr lang="en-US" sz="2000" dirty="0">
                <a:latin typeface="Helvetica Light" panose="020B0403020202020204" pitchFamily="34" charset="0"/>
              </a:rPr>
              <a:t>, this will add any files from </a:t>
            </a:r>
            <a:r>
              <a:rPr lang="en-US" sz="2000" b="1" dirty="0">
                <a:latin typeface="Helvetica Light" panose="020B0403020202020204" pitchFamily="34" charset="0"/>
              </a:rPr>
              <a:t>source/</a:t>
            </a:r>
            <a:r>
              <a:rPr lang="en-US" sz="2000" dirty="0">
                <a:latin typeface="Helvetica Light" panose="020B0403020202020204" pitchFamily="34" charset="0"/>
              </a:rPr>
              <a:t> that don</a:t>
            </a:r>
            <a:r>
              <a:rPr lang="fr-FR" sz="2000" dirty="0">
                <a:latin typeface="Helvetica Light" panose="020B0403020202020204" pitchFamily="34" charset="0"/>
              </a:rPr>
              <a:t>’</a:t>
            </a:r>
            <a:r>
              <a:rPr lang="en-US" sz="2000" dirty="0">
                <a:latin typeface="Helvetica Light" panose="020B0403020202020204" pitchFamily="34" charset="0"/>
              </a:rPr>
              <a:t>t previously exist in </a:t>
            </a:r>
            <a:r>
              <a:rPr lang="en-US" sz="2000" b="1" dirty="0">
                <a:latin typeface="Helvetica Light" panose="020B0403020202020204" pitchFamily="34" charset="0"/>
              </a:rPr>
              <a:t>destination/source/</a:t>
            </a:r>
            <a:r>
              <a:rPr lang="en-US" sz="2000" dirty="0">
                <a:latin typeface="Helvetica Light" panose="020B0403020202020204" pitchFamily="34" charset="0"/>
              </a:rPr>
              <a:t> to </a:t>
            </a:r>
            <a:r>
              <a:rPr lang="en-US" sz="2000" b="1" dirty="0">
                <a:latin typeface="Helvetica Light" panose="020B0403020202020204" pitchFamily="34" charset="0"/>
              </a:rPr>
              <a:t>destination/source/</a:t>
            </a:r>
          </a:p>
        </p:txBody>
      </p:sp>
    </p:spTree>
    <p:extLst>
      <p:ext uri="{BB962C8B-B14F-4D97-AF65-F5344CB8AC3E}">
        <p14:creationId xmlns:p14="http://schemas.microsoft.com/office/powerpoint/2010/main" val="2207604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65919" y="692809"/>
            <a:ext cx="595387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>
                <a:latin typeface="Helvetica Light" panose="020B0403020202020204" pitchFamily="34" charset="0"/>
              </a:rPr>
              <a:t>rsync</a:t>
            </a:r>
            <a:r>
              <a:rPr lang="en-US" sz="2800" dirty="0">
                <a:latin typeface="Helvetica Light" panose="020B0403020202020204" pitchFamily="34" charset="0"/>
              </a:rPr>
              <a:t> to mirror a directory to a drive</a:t>
            </a:r>
          </a:p>
          <a:p>
            <a:endParaRPr lang="en-US" sz="2800" dirty="0">
              <a:latin typeface="Helvetica Light" panose="020B0403020202020204" pitchFamily="34" charset="0"/>
            </a:endParaRPr>
          </a:p>
          <a:p>
            <a:endParaRPr lang="en-US" sz="2800" dirty="0">
              <a:latin typeface="Helvetica Light" panose="020B0403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2084" y="3135577"/>
            <a:ext cx="84030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>
                <a:latin typeface="Helvetica Light" panose="020B0403020202020204" pitchFamily="34" charset="0"/>
              </a:rPr>
              <a:t>$ </a:t>
            </a:r>
            <a:r>
              <a:rPr lang="en-US" sz="2300" b="1" dirty="0" err="1">
                <a:latin typeface="Helvetica Light" panose="020B0403020202020204" pitchFamily="34" charset="0"/>
              </a:rPr>
              <a:t>rsync</a:t>
            </a:r>
            <a:r>
              <a:rPr lang="en-US" sz="2300" b="1" dirty="0">
                <a:latin typeface="Helvetica Light" panose="020B0403020202020204" pitchFamily="34" charset="0"/>
              </a:rPr>
              <a:t> –av --delete </a:t>
            </a:r>
            <a:r>
              <a:rPr lang="en-US" sz="2300" b="1" dirty="0" err="1">
                <a:latin typeface="Helvetica Light" panose="020B0403020202020204" pitchFamily="34" charset="0"/>
              </a:rPr>
              <a:t>dirsource</a:t>
            </a:r>
            <a:r>
              <a:rPr lang="en-US" sz="2300" b="1" dirty="0">
                <a:latin typeface="Helvetica Light" panose="020B0403020202020204" pitchFamily="34" charset="0"/>
              </a:rPr>
              <a:t> /Volumes/MYD/</a:t>
            </a:r>
            <a:r>
              <a:rPr lang="en-US" sz="2300" b="1" dirty="0" err="1">
                <a:latin typeface="Helvetica Light" panose="020B0403020202020204" pitchFamily="34" charset="0"/>
              </a:rPr>
              <a:t>dirdestination</a:t>
            </a:r>
            <a:r>
              <a:rPr lang="en-US" sz="2300" b="1" dirty="0">
                <a:latin typeface="Helvetica Light" panose="020B0403020202020204" pitchFamily="34" charset="0"/>
              </a:rPr>
              <a:t>/</a:t>
            </a:r>
          </a:p>
        </p:txBody>
      </p:sp>
      <p:cxnSp>
        <p:nvCxnSpPr>
          <p:cNvPr id="7" name="Straight Arrow Connector 6"/>
          <p:cNvCxnSpPr>
            <a:cxnSpLocks/>
          </p:cNvCxnSpPr>
          <p:nvPr/>
        </p:nvCxnSpPr>
        <p:spPr>
          <a:xfrm flipV="1">
            <a:off x="3261632" y="3682226"/>
            <a:ext cx="361777" cy="53165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 rot="10800000" flipV="1">
            <a:off x="1775247" y="4352381"/>
            <a:ext cx="2713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the directory on your computer to copy/sync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0AA8E7-E260-6845-B922-36764FA9C207}"/>
              </a:ext>
            </a:extLst>
          </p:cNvPr>
          <p:cNvSpPr txBox="1"/>
          <p:nvPr/>
        </p:nvSpPr>
        <p:spPr>
          <a:xfrm rot="10800000" flipV="1">
            <a:off x="5282293" y="4520132"/>
            <a:ext cx="30835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Path to directory where you want to produce/sync copy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A5CF0BF-BE54-E74E-AB8A-3AB102FB3517}"/>
              </a:ext>
            </a:extLst>
          </p:cNvPr>
          <p:cNvCxnSpPr>
            <a:cxnSpLocks/>
          </p:cNvCxnSpPr>
          <p:nvPr/>
        </p:nvCxnSpPr>
        <p:spPr>
          <a:xfrm flipH="1" flipV="1">
            <a:off x="6286500" y="3763736"/>
            <a:ext cx="313167" cy="6985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1A7E742-4B30-F74E-80E5-A9A94D30660F}"/>
              </a:ext>
            </a:extLst>
          </p:cNvPr>
          <p:cNvSpPr txBox="1"/>
          <p:nvPr/>
        </p:nvSpPr>
        <p:spPr>
          <a:xfrm>
            <a:off x="491394" y="2019375"/>
            <a:ext cx="5902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Understand exactly what </a:t>
            </a:r>
            <a:r>
              <a:rPr lang="en-US" b="1" dirty="0">
                <a:latin typeface="Helvetica Light" panose="020B0403020202020204" pitchFamily="34" charset="0"/>
              </a:rPr>
              <a:t>--delete </a:t>
            </a:r>
            <a:r>
              <a:rPr lang="en-US" dirty="0">
                <a:latin typeface="Helvetica Light" panose="020B0403020202020204" pitchFamily="34" charset="0"/>
              </a:rPr>
              <a:t>does. BE CAUTIOUS.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A38753F-D6C2-0447-B433-AE9513EAAC29}"/>
              </a:ext>
            </a:extLst>
          </p:cNvPr>
          <p:cNvCxnSpPr>
            <a:cxnSpLocks/>
          </p:cNvCxnSpPr>
          <p:nvPr/>
        </p:nvCxnSpPr>
        <p:spPr>
          <a:xfrm flipH="1">
            <a:off x="2726871" y="2338985"/>
            <a:ext cx="692770" cy="666360"/>
          </a:xfrm>
          <a:prstGeom prst="straightConnector1">
            <a:avLst/>
          </a:prstGeom>
          <a:ln>
            <a:solidFill>
              <a:srgbClr val="8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1222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47B5AF-F1FA-734A-99CB-9EB738ACBBC3}"/>
              </a:ext>
            </a:extLst>
          </p:cNvPr>
          <p:cNvSpPr txBox="1"/>
          <p:nvPr/>
        </p:nvSpPr>
        <p:spPr>
          <a:xfrm>
            <a:off x="359854" y="349893"/>
            <a:ext cx="8552341" cy="8463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900" dirty="0">
                <a:latin typeface="Helvetica Light" panose="020B0403020202020204" pitchFamily="34" charset="0"/>
              </a:rPr>
              <a:t>3. Interaction with remote servers (</a:t>
            </a:r>
            <a:r>
              <a:rPr lang="en-US" sz="2900" b="1" dirty="0">
                <a:latin typeface="Helvetica Light" panose="020B0403020202020204" pitchFamily="34" charset="0"/>
              </a:rPr>
              <a:t>curl</a:t>
            </a:r>
            <a:r>
              <a:rPr lang="en-US" sz="2900" dirty="0">
                <a:latin typeface="Helvetica Light" panose="020B0403020202020204" pitchFamily="34" charset="0"/>
              </a:rPr>
              <a:t>, </a:t>
            </a:r>
            <a:r>
              <a:rPr lang="en-US" sz="2900" b="1" dirty="0" err="1">
                <a:latin typeface="Helvetica Light" panose="020B0403020202020204" pitchFamily="34" charset="0"/>
              </a:rPr>
              <a:t>wget</a:t>
            </a:r>
            <a:r>
              <a:rPr lang="en-US" sz="2900" dirty="0">
                <a:latin typeface="Helvetica Light" panose="020B0403020202020204" pitchFamily="34" charset="0"/>
              </a:rPr>
              <a:t>, </a:t>
            </a:r>
            <a:r>
              <a:rPr lang="en-US" sz="2900" b="1" dirty="0">
                <a:latin typeface="Helvetica Light" panose="020B0403020202020204" pitchFamily="34" charset="0"/>
              </a:rPr>
              <a:t>ssh)</a:t>
            </a:r>
          </a:p>
          <a:p>
            <a:pPr algn="ctr"/>
            <a:r>
              <a:rPr lang="en-US" sz="2000" i="1" dirty="0">
                <a:latin typeface="Helvetica Light" panose="020B0403020202020204" pitchFamily="34" charset="0"/>
              </a:rPr>
              <a:t>May have to install curl or </a:t>
            </a:r>
            <a:r>
              <a:rPr lang="en-US" sz="2000" i="1" dirty="0" err="1">
                <a:latin typeface="Helvetica Light" panose="020B0403020202020204" pitchFamily="34" charset="0"/>
              </a:rPr>
              <a:t>wget</a:t>
            </a:r>
            <a:r>
              <a:rPr lang="en-US" sz="2000" i="1" dirty="0">
                <a:latin typeface="Helvetica Light" panose="020B0403020202020204" pitchFamily="34" charset="0"/>
              </a:rPr>
              <a:t> with </a:t>
            </a:r>
            <a:r>
              <a:rPr lang="en-US" sz="2000" b="1" i="1" dirty="0">
                <a:latin typeface="Helvetica Light" panose="020B0403020202020204" pitchFamily="34" charset="0"/>
              </a:rPr>
              <a:t>apt</a:t>
            </a:r>
            <a:r>
              <a:rPr lang="en-US" sz="2000" i="1" dirty="0">
                <a:latin typeface="Helvetica Light" panose="020B0403020202020204" pitchFamily="34" charset="0"/>
              </a:rPr>
              <a:t> or </a:t>
            </a:r>
            <a:r>
              <a:rPr lang="en-US" sz="2000" b="1" i="1" dirty="0">
                <a:latin typeface="Helvetica Light" panose="020B0403020202020204" pitchFamily="34" charset="0"/>
              </a:rPr>
              <a:t>brew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E40292-002F-FF48-9989-50F72A9D8023}"/>
              </a:ext>
            </a:extLst>
          </p:cNvPr>
          <p:cNvSpPr/>
          <p:nvPr/>
        </p:nvSpPr>
        <p:spPr>
          <a:xfrm>
            <a:off x="359854" y="1675894"/>
            <a:ext cx="8762334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latin typeface="Helvetica Light" panose="020B0403020202020204" pitchFamily="34" charset="0"/>
              </a:rPr>
              <a:t>$</a:t>
            </a:r>
            <a:r>
              <a:rPr lang="en-US" sz="2200" dirty="0">
                <a:latin typeface="Helvetica Light" panose="020B0403020202020204" pitchFamily="34" charset="0"/>
              </a:rPr>
              <a:t> </a:t>
            </a:r>
            <a:r>
              <a:rPr lang="en-US" sz="2200" b="1" dirty="0" err="1">
                <a:latin typeface="Helvetica Light" panose="020B0403020202020204" pitchFamily="34" charset="0"/>
              </a:rPr>
              <a:t>wget</a:t>
            </a:r>
            <a:r>
              <a:rPr lang="en-US" sz="2200" b="1" dirty="0">
                <a:latin typeface="Helvetica Light" panose="020B0403020202020204" pitchFamily="34" charset="0"/>
              </a:rPr>
              <a:t> </a:t>
            </a:r>
            <a:r>
              <a:rPr lang="en-US" sz="2200" b="1" dirty="0">
                <a:latin typeface="HELVETICA LIGHT" panose="020B0403020202020204" pitchFamily="34" charset="0"/>
              </a:rPr>
              <a:t>"https://</a:t>
            </a:r>
            <a:r>
              <a:rPr lang="en-US" sz="2200" b="1" dirty="0" err="1">
                <a:latin typeface="HELVETICA LIGHT" panose="020B0403020202020204" pitchFamily="34" charset="0"/>
              </a:rPr>
              <a:t>github.com</a:t>
            </a:r>
            <a:r>
              <a:rPr lang="en-US" sz="2200" b="1" dirty="0">
                <a:latin typeface="HELVETICA LIGHT" panose="020B0403020202020204" pitchFamily="34" charset="0"/>
              </a:rPr>
              <a:t>/</a:t>
            </a:r>
            <a:r>
              <a:rPr lang="en-US" sz="2200" b="1" dirty="0" err="1">
                <a:latin typeface="HELVETICA LIGHT" panose="020B0403020202020204" pitchFamily="34" charset="0"/>
              </a:rPr>
              <a:t>tparchman</a:t>
            </a:r>
            <a:r>
              <a:rPr lang="en-US" sz="2200" b="1" dirty="0">
                <a:latin typeface="HELVETICA LIGHT" panose="020B0403020202020204" pitchFamily="34" charset="0"/>
              </a:rPr>
              <a:t>/F26_BIOL792/raw/refs/heads/main/week3_unixIII/</a:t>
            </a:r>
            <a:r>
              <a:rPr lang="en-US" sz="2200" b="1" dirty="0" err="1">
                <a:latin typeface="HELVETICA LIGHT" panose="020B0403020202020204" pitchFamily="34" charset="0"/>
              </a:rPr>
              <a:t>yeast_genome.gff</a:t>
            </a:r>
            <a:r>
              <a:rPr lang="en-US" sz="2200" b="1" dirty="0">
                <a:latin typeface="HELVETICA LIGHT" panose="020B0403020202020204" pitchFamily="34" charset="0"/>
              </a:rPr>
              <a:t>"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EE108B1-9C3F-964F-952A-A524148AAC90}"/>
              </a:ext>
            </a:extLst>
          </p:cNvPr>
          <p:cNvCxnSpPr>
            <a:cxnSpLocks/>
          </p:cNvCxnSpPr>
          <p:nvPr/>
        </p:nvCxnSpPr>
        <p:spPr>
          <a:xfrm flipH="1" flipV="1">
            <a:off x="5044966" y="2640286"/>
            <a:ext cx="462455" cy="355162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620DB7C-6764-3944-898E-BDEEB842D574}"/>
              </a:ext>
            </a:extLst>
          </p:cNvPr>
          <p:cNvSpPr txBox="1"/>
          <p:nvPr/>
        </p:nvSpPr>
        <p:spPr>
          <a:xfrm>
            <a:off x="4091434" y="3190446"/>
            <a:ext cx="4653173" cy="769441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Helvetica Light" panose="020B0403020202020204" pitchFamily="34" charset="0"/>
              </a:rPr>
              <a:t>To get URL from </a:t>
            </a:r>
            <a:r>
              <a:rPr lang="en-US" sz="2200" dirty="0" err="1">
                <a:latin typeface="Helvetica Light" panose="020B0403020202020204" pitchFamily="34" charset="0"/>
              </a:rPr>
              <a:t>github</a:t>
            </a:r>
            <a:r>
              <a:rPr lang="en-US" sz="2200" dirty="0">
                <a:latin typeface="Helvetica Light" panose="020B0403020202020204" pitchFamily="34" charset="0"/>
              </a:rPr>
              <a:t> </a:t>
            </a:r>
            <a:r>
              <a:rPr lang="en-US" sz="2200" dirty="0" err="1">
                <a:latin typeface="Helvetica Light" panose="020B0403020202020204" pitchFamily="34" charset="0"/>
              </a:rPr>
              <a:t>coursepage</a:t>
            </a:r>
            <a:r>
              <a:rPr lang="en-US" sz="2200" dirty="0">
                <a:latin typeface="Helvetica Light" panose="020B0403020202020204" pitchFamily="34" charset="0"/>
              </a:rPr>
              <a:t>, go to file, click on raw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40C20A-A541-AC40-BDA3-149C911F45A2}"/>
              </a:ext>
            </a:extLst>
          </p:cNvPr>
          <p:cNvSpPr/>
          <p:nvPr/>
        </p:nvSpPr>
        <p:spPr>
          <a:xfrm>
            <a:off x="250200" y="4651316"/>
            <a:ext cx="7682467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latin typeface="Helvetica Light" panose="020B0403020202020204" pitchFamily="34" charset="0"/>
              </a:rPr>
              <a:t>$ curl "https://</a:t>
            </a:r>
            <a:r>
              <a:rPr lang="en-US" sz="2200" b="1" dirty="0" err="1">
                <a:latin typeface="Helvetica Light" panose="020B0403020202020204" pitchFamily="34" charset="0"/>
              </a:rPr>
              <a:t>eutils.ncbi.nlm.nih.gov</a:t>
            </a:r>
            <a:r>
              <a:rPr lang="en-US" sz="2200" b="1" dirty="0">
                <a:latin typeface="Helvetica Light" panose="020B0403020202020204" pitchFamily="34" charset="0"/>
              </a:rPr>
              <a:t>/entrez/</a:t>
            </a:r>
            <a:r>
              <a:rPr lang="en-US" sz="2200" b="1" dirty="0" err="1">
                <a:latin typeface="Helvetica Light" panose="020B0403020202020204" pitchFamily="34" charset="0"/>
              </a:rPr>
              <a:t>eutils</a:t>
            </a:r>
            <a:r>
              <a:rPr lang="en-US" sz="2200" b="1" dirty="0">
                <a:latin typeface="Helvetica Light" panose="020B0403020202020204" pitchFamily="34" charset="0"/>
              </a:rPr>
              <a:t>/</a:t>
            </a:r>
            <a:r>
              <a:rPr lang="en-US" sz="2200" b="1" dirty="0" err="1">
                <a:latin typeface="Helvetica Light" panose="020B0403020202020204" pitchFamily="34" charset="0"/>
              </a:rPr>
              <a:t>efetch.fcgi?db</a:t>
            </a:r>
            <a:r>
              <a:rPr lang="en-US" sz="2200" b="1" dirty="0">
                <a:latin typeface="Helvetica Light" panose="020B0403020202020204" pitchFamily="34" charset="0"/>
              </a:rPr>
              <a:t>=</a:t>
            </a:r>
            <a:r>
              <a:rPr lang="en-US" sz="2200" b="1" dirty="0" err="1">
                <a:latin typeface="Helvetica Light" panose="020B0403020202020204" pitchFamily="34" charset="0"/>
              </a:rPr>
              <a:t>nuccore&amp;id</a:t>
            </a:r>
            <a:r>
              <a:rPr lang="en-US" sz="2200" b="1" dirty="0">
                <a:latin typeface="Helvetica Light" panose="020B0403020202020204" pitchFamily="34" charset="0"/>
              </a:rPr>
              <a:t>=NM_007294.4&amp;rettype=</a:t>
            </a:r>
            <a:r>
              <a:rPr lang="en-US" sz="2200" b="1" dirty="0" err="1">
                <a:latin typeface="Helvetica Light" panose="020B0403020202020204" pitchFamily="34" charset="0"/>
              </a:rPr>
              <a:t>fasta&amp;retmode</a:t>
            </a:r>
            <a:r>
              <a:rPr lang="en-US" sz="2200" b="1" dirty="0">
                <a:latin typeface="Helvetica Light" panose="020B0403020202020204" pitchFamily="34" charset="0"/>
              </a:rPr>
              <a:t>=text" -o BRCA1.fasta</a:t>
            </a:r>
          </a:p>
          <a:p>
            <a:endParaRPr lang="en-US" sz="2200" b="1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539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62B70A-6642-8C42-A9E5-06F92DFB7FDA}"/>
              </a:ext>
            </a:extLst>
          </p:cNvPr>
          <p:cNvSpPr txBox="1"/>
          <p:nvPr/>
        </p:nvSpPr>
        <p:spPr>
          <a:xfrm>
            <a:off x="634142" y="484679"/>
            <a:ext cx="533511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Helvetica Light" panose="020B0403020202020204" pitchFamily="34" charset="0"/>
              </a:rPr>
              <a:t>4. </a:t>
            </a:r>
            <a:r>
              <a:rPr lang="en-US" sz="3000" dirty="0">
                <a:latin typeface="Helvetica Light" panose="020B0403020202020204" pitchFamily="34" charset="0"/>
              </a:rPr>
              <a:t>Permissions and file modes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C788E0-4FE6-5649-8A7B-5CE567845AC0}"/>
              </a:ext>
            </a:extLst>
          </p:cNvPr>
          <p:cNvSpPr txBox="1"/>
          <p:nvPr/>
        </p:nvSpPr>
        <p:spPr>
          <a:xfrm>
            <a:off x="1079698" y="1784179"/>
            <a:ext cx="756008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>
                <a:latin typeface="Helvetica Light" panose="020B0403020202020204" pitchFamily="34" charset="0"/>
              </a:rPr>
              <a:t>$ ls –l</a:t>
            </a:r>
            <a:r>
              <a:rPr lang="en-US" sz="2600" dirty="0">
                <a:latin typeface="Helvetica Light" panose="020B0403020202020204" pitchFamily="34" charset="0"/>
              </a:rPr>
              <a:t>		#detailed file info, including permissions</a:t>
            </a:r>
            <a:endParaRPr lang="en-US" sz="2600" b="1" dirty="0">
              <a:latin typeface="Helvetica Light" panose="020B0403020202020204" pitchFamily="34" charset="0"/>
            </a:endParaRPr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7AA3903B-EC7F-564E-8544-8DFCDC818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360" y="2703254"/>
            <a:ext cx="8117280" cy="301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831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DB713A-FC87-2A49-AFF2-27ECBC84D063}"/>
              </a:ext>
            </a:extLst>
          </p:cNvPr>
          <p:cNvSpPr txBox="1"/>
          <p:nvPr/>
        </p:nvSpPr>
        <p:spPr>
          <a:xfrm>
            <a:off x="970647" y="473582"/>
            <a:ext cx="405591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Reading permissions</a:t>
            </a:r>
          </a:p>
          <a:p>
            <a:endParaRPr lang="en-US" sz="3200" dirty="0">
              <a:latin typeface="Helvetica Light" panose="020B0403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DA6E25-5E06-9248-88B9-428A4D328BF6}"/>
              </a:ext>
            </a:extLst>
          </p:cNvPr>
          <p:cNvSpPr/>
          <p:nvPr/>
        </p:nvSpPr>
        <p:spPr>
          <a:xfrm>
            <a:off x="3300677" y="3397719"/>
            <a:ext cx="2621230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500" dirty="0">
                <a:latin typeface="Helvetica Light" panose="020B0403020202020204" pitchFamily="34" charset="0"/>
              </a:rPr>
              <a:t>-</a:t>
            </a:r>
            <a:r>
              <a:rPr lang="en-US" sz="4500" dirty="0" err="1">
                <a:latin typeface="Helvetica Light" panose="020B0403020202020204" pitchFamily="34" charset="0"/>
              </a:rPr>
              <a:t>rwxr</a:t>
            </a:r>
            <a:r>
              <a:rPr lang="en-US" sz="4500" dirty="0">
                <a:latin typeface="Helvetica Light" panose="020B0403020202020204" pitchFamily="34" charset="0"/>
              </a:rPr>
              <a:t>-</a:t>
            </a:r>
            <a:r>
              <a:rPr lang="en-US" sz="4500" dirty="0" err="1">
                <a:latin typeface="Helvetica Light" panose="020B0403020202020204" pitchFamily="34" charset="0"/>
              </a:rPr>
              <a:t>xr</a:t>
            </a:r>
            <a:r>
              <a:rPr lang="en-US" sz="4500" dirty="0">
                <a:latin typeface="Helvetica Light" panose="020B0403020202020204" pitchFamily="34" charset="0"/>
              </a:rPr>
              <a:t>-x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C92B3AF-90CB-0F43-9769-2A59587F8F38}"/>
              </a:ext>
            </a:extLst>
          </p:cNvPr>
          <p:cNvCxnSpPr>
            <a:cxnSpLocks/>
          </p:cNvCxnSpPr>
          <p:nvPr/>
        </p:nvCxnSpPr>
        <p:spPr>
          <a:xfrm>
            <a:off x="3593051" y="4067800"/>
            <a:ext cx="789317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093FA6-0B31-734C-AFC7-9A353FB6F48D}"/>
              </a:ext>
            </a:extLst>
          </p:cNvPr>
          <p:cNvCxnSpPr>
            <a:cxnSpLocks/>
          </p:cNvCxnSpPr>
          <p:nvPr/>
        </p:nvCxnSpPr>
        <p:spPr>
          <a:xfrm>
            <a:off x="4460006" y="4076405"/>
            <a:ext cx="646980" cy="0"/>
          </a:xfrm>
          <a:prstGeom prst="line">
            <a:avLst/>
          </a:prstGeom>
          <a:ln w="635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53712AC-5E0B-0D41-80A8-22C37F795811}"/>
              </a:ext>
            </a:extLst>
          </p:cNvPr>
          <p:cNvCxnSpPr>
            <a:cxnSpLocks/>
          </p:cNvCxnSpPr>
          <p:nvPr/>
        </p:nvCxnSpPr>
        <p:spPr>
          <a:xfrm>
            <a:off x="5190343" y="4072071"/>
            <a:ext cx="646980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5300AB8-AC9A-4649-9F40-9A75543A8838}"/>
              </a:ext>
            </a:extLst>
          </p:cNvPr>
          <p:cNvCxnSpPr>
            <a:cxnSpLocks/>
          </p:cNvCxnSpPr>
          <p:nvPr/>
        </p:nvCxnSpPr>
        <p:spPr>
          <a:xfrm flipH="1">
            <a:off x="3006375" y="4159467"/>
            <a:ext cx="858408" cy="508994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6213A42-17ED-D84B-95B5-52CE1EDE3E2B}"/>
              </a:ext>
            </a:extLst>
          </p:cNvPr>
          <p:cNvCxnSpPr>
            <a:cxnSpLocks/>
          </p:cNvCxnSpPr>
          <p:nvPr/>
        </p:nvCxnSpPr>
        <p:spPr>
          <a:xfrm flipH="1">
            <a:off x="4588410" y="4159466"/>
            <a:ext cx="197994" cy="52837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7424801-1A83-8543-90B1-68652819726E}"/>
              </a:ext>
            </a:extLst>
          </p:cNvPr>
          <p:cNvCxnSpPr>
            <a:cxnSpLocks/>
          </p:cNvCxnSpPr>
          <p:nvPr/>
        </p:nvCxnSpPr>
        <p:spPr>
          <a:xfrm>
            <a:off x="5485798" y="4159466"/>
            <a:ext cx="646980" cy="392415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0734B0D-5ADF-BC46-9EB1-79286245D632}"/>
              </a:ext>
            </a:extLst>
          </p:cNvPr>
          <p:cNvSpPr txBox="1"/>
          <p:nvPr/>
        </p:nvSpPr>
        <p:spPr>
          <a:xfrm>
            <a:off x="1393879" y="4798856"/>
            <a:ext cx="21991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‘</a:t>
            </a:r>
            <a:r>
              <a:rPr lang="en-US" b="1" dirty="0">
                <a:latin typeface="Helvetica Light" panose="020B0403020202020204" pitchFamily="34" charset="0"/>
              </a:rPr>
              <a:t>user</a:t>
            </a:r>
            <a:r>
              <a:rPr lang="en-US" dirty="0">
                <a:latin typeface="Helvetica Light" panose="020B0403020202020204" pitchFamily="34" charset="0"/>
              </a:rPr>
              <a:t>’ has </a:t>
            </a:r>
            <a:r>
              <a:rPr lang="en-US" b="1" dirty="0">
                <a:latin typeface="Helvetica Light" panose="020B0403020202020204" pitchFamily="34" charset="0"/>
              </a:rPr>
              <a:t>read</a:t>
            </a:r>
            <a:r>
              <a:rPr lang="en-US" dirty="0">
                <a:latin typeface="Helvetica Light" panose="020B0403020202020204" pitchFamily="34" charset="0"/>
              </a:rPr>
              <a:t>, </a:t>
            </a:r>
            <a:r>
              <a:rPr lang="en-US" b="1" dirty="0">
                <a:latin typeface="Helvetica Light" panose="020B0403020202020204" pitchFamily="34" charset="0"/>
              </a:rPr>
              <a:t>write</a:t>
            </a:r>
            <a:r>
              <a:rPr lang="en-US" dirty="0">
                <a:latin typeface="Helvetica Light" panose="020B0403020202020204" pitchFamily="34" charset="0"/>
              </a:rPr>
              <a:t>, and </a:t>
            </a:r>
            <a:r>
              <a:rPr lang="en-US" b="1" dirty="0">
                <a:latin typeface="Helvetica Light" panose="020B0403020202020204" pitchFamily="34" charset="0"/>
              </a:rPr>
              <a:t>execute</a:t>
            </a:r>
            <a:r>
              <a:rPr lang="en-US" dirty="0">
                <a:latin typeface="Helvetica Light" panose="020B0403020202020204" pitchFamily="34" charset="0"/>
              </a:rPr>
              <a:t> permissions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EC33D6-F91E-5C4E-9609-A0BA9E63027C}"/>
              </a:ext>
            </a:extLst>
          </p:cNvPr>
          <p:cNvSpPr txBox="1"/>
          <p:nvPr/>
        </p:nvSpPr>
        <p:spPr>
          <a:xfrm>
            <a:off x="3822570" y="4761226"/>
            <a:ext cx="18408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‘</a:t>
            </a:r>
            <a:r>
              <a:rPr lang="en-US" b="1" dirty="0">
                <a:latin typeface="Helvetica Light" panose="020B0403020202020204" pitchFamily="34" charset="0"/>
              </a:rPr>
              <a:t>group</a:t>
            </a:r>
            <a:r>
              <a:rPr lang="en-US" dirty="0">
                <a:latin typeface="Helvetica Light" panose="020B0403020202020204" pitchFamily="34" charset="0"/>
              </a:rPr>
              <a:t>’ has </a:t>
            </a:r>
            <a:r>
              <a:rPr lang="en-US" b="1" dirty="0">
                <a:latin typeface="Helvetica Light" panose="020B0403020202020204" pitchFamily="34" charset="0"/>
              </a:rPr>
              <a:t>read</a:t>
            </a:r>
            <a:r>
              <a:rPr lang="en-US" dirty="0">
                <a:latin typeface="Helvetica Light" panose="020B0403020202020204" pitchFamily="34" charset="0"/>
              </a:rPr>
              <a:t> and </a:t>
            </a:r>
            <a:r>
              <a:rPr lang="en-US" b="1" dirty="0">
                <a:latin typeface="Helvetica Light" panose="020B0403020202020204" pitchFamily="34" charset="0"/>
              </a:rPr>
              <a:t>execute</a:t>
            </a:r>
            <a:r>
              <a:rPr lang="en-US" dirty="0">
                <a:latin typeface="Helvetica Light" panose="020B0403020202020204" pitchFamily="34" charset="0"/>
              </a:rPr>
              <a:t> permissions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627367-F783-424C-8427-23BA0ABBFE13}"/>
              </a:ext>
            </a:extLst>
          </p:cNvPr>
          <p:cNvSpPr txBox="1"/>
          <p:nvPr/>
        </p:nvSpPr>
        <p:spPr>
          <a:xfrm>
            <a:off x="6016321" y="4798856"/>
            <a:ext cx="2364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‘other’ has </a:t>
            </a:r>
            <a:r>
              <a:rPr lang="en-US" b="1" dirty="0">
                <a:latin typeface="Helvetica Light" panose="020B0403020202020204" pitchFamily="34" charset="0"/>
              </a:rPr>
              <a:t>read</a:t>
            </a:r>
            <a:r>
              <a:rPr lang="en-US" dirty="0">
                <a:latin typeface="Helvetica Light" panose="020B0403020202020204" pitchFamily="34" charset="0"/>
              </a:rPr>
              <a:t> and </a:t>
            </a:r>
            <a:r>
              <a:rPr lang="en-US" b="1" dirty="0">
                <a:latin typeface="Helvetica Light" panose="020B0403020202020204" pitchFamily="34" charset="0"/>
              </a:rPr>
              <a:t>execute</a:t>
            </a:r>
            <a:r>
              <a:rPr lang="en-US" dirty="0">
                <a:latin typeface="Helvetica Light" panose="020B0403020202020204" pitchFamily="34" charset="0"/>
              </a:rPr>
              <a:t> permissions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96BA697-6ECC-DD4F-A7FF-706A2FC75E84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1975598" y="3644117"/>
            <a:ext cx="1325079" cy="14601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755062A-140A-8D48-A76B-67E58623C351}"/>
              </a:ext>
            </a:extLst>
          </p:cNvPr>
          <p:cNvSpPr txBox="1"/>
          <p:nvPr/>
        </p:nvSpPr>
        <p:spPr>
          <a:xfrm>
            <a:off x="799435" y="3419328"/>
            <a:ext cx="2199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File type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7B2D13-0E76-757D-789C-C4FB3D300474}"/>
              </a:ext>
            </a:extLst>
          </p:cNvPr>
          <p:cNvSpPr txBox="1"/>
          <p:nvPr/>
        </p:nvSpPr>
        <p:spPr>
          <a:xfrm>
            <a:off x="1090873" y="1517486"/>
            <a:ext cx="731963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3 sets of 3 characters: </a:t>
            </a:r>
            <a:r>
              <a:rPr lang="en-US" sz="3000" b="1" dirty="0">
                <a:latin typeface="Helvetica Light" panose="020B0403020202020204" pitchFamily="34" charset="0"/>
              </a:rPr>
              <a:t>user, group, other</a:t>
            </a:r>
          </a:p>
          <a:p>
            <a:pPr algn="ctr"/>
            <a:r>
              <a:rPr lang="en-US" sz="3000" b="1" dirty="0">
                <a:latin typeface="Helvetica Light" panose="020B0403020202020204" pitchFamily="34" charset="0"/>
              </a:rPr>
              <a:t>r: read		  w: write 		 x: </a:t>
            </a:r>
            <a:r>
              <a:rPr lang="en-US" sz="3000" b="1" dirty="0" err="1">
                <a:latin typeface="Helvetica Light" panose="020B0403020202020204" pitchFamily="34" charset="0"/>
              </a:rPr>
              <a:t>executre</a:t>
            </a:r>
            <a:endParaRPr lang="en-US" sz="3000" dirty="0">
              <a:latin typeface="Helvetica Light" panose="020B0403020202020204" pitchFamily="34" charset="0"/>
            </a:endParaRPr>
          </a:p>
          <a:p>
            <a:endParaRPr lang="en-US" sz="3000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70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67484B-A98F-1C4F-BA8E-0E3278A88376}"/>
              </a:ext>
            </a:extLst>
          </p:cNvPr>
          <p:cNvSpPr/>
          <p:nvPr/>
        </p:nvSpPr>
        <p:spPr>
          <a:xfrm>
            <a:off x="1020646" y="2885448"/>
            <a:ext cx="4572000" cy="18928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950" b="1" dirty="0">
                <a:latin typeface="Helvetica Light" panose="020B0403020202020204" pitchFamily="34" charset="0"/>
              </a:rPr>
              <a:t>Abbrev. 	User level</a:t>
            </a:r>
          </a:p>
          <a:p>
            <a:r>
              <a:rPr lang="en-US" sz="1950" b="1" dirty="0">
                <a:latin typeface="Helvetica Light" panose="020B0403020202020204" pitchFamily="34" charset="0"/>
              </a:rPr>
              <a:t>u</a:t>
            </a:r>
            <a:r>
              <a:rPr lang="en-US" sz="1950" dirty="0">
                <a:latin typeface="Helvetica Light" panose="020B0403020202020204" pitchFamily="34" charset="0"/>
              </a:rPr>
              <a:t>		 	User</a:t>
            </a:r>
          </a:p>
          <a:p>
            <a:r>
              <a:rPr lang="en-US" sz="1950" b="1" dirty="0">
                <a:latin typeface="Helvetica Light" panose="020B0403020202020204" pitchFamily="34" charset="0"/>
              </a:rPr>
              <a:t>g</a:t>
            </a:r>
            <a:r>
              <a:rPr lang="en-US" sz="1950" dirty="0">
                <a:latin typeface="Helvetica Light" panose="020B0403020202020204" pitchFamily="34" charset="0"/>
              </a:rPr>
              <a:t>			Group</a:t>
            </a:r>
          </a:p>
          <a:p>
            <a:r>
              <a:rPr lang="en-US" sz="1950" b="1" dirty="0">
                <a:latin typeface="Helvetica Light" panose="020B0403020202020204" pitchFamily="34" charset="0"/>
              </a:rPr>
              <a:t>o</a:t>
            </a:r>
            <a:r>
              <a:rPr lang="en-US" sz="1950" dirty="0">
                <a:latin typeface="Helvetica Light" panose="020B0403020202020204" pitchFamily="34" charset="0"/>
              </a:rPr>
              <a:t>			Other</a:t>
            </a:r>
          </a:p>
          <a:p>
            <a:r>
              <a:rPr lang="en-US" sz="1950" b="1" dirty="0">
                <a:latin typeface="Helvetica Light" panose="020B0403020202020204" pitchFamily="34" charset="0"/>
              </a:rPr>
              <a:t>a</a:t>
            </a:r>
            <a:r>
              <a:rPr lang="en-US" sz="1950" dirty="0">
                <a:latin typeface="Helvetica Light" panose="020B0403020202020204" pitchFamily="34" charset="0"/>
              </a:rPr>
              <a:t>			All</a:t>
            </a:r>
            <a:br>
              <a:rPr lang="en-US" sz="1950" dirty="0">
                <a:latin typeface="Helvetica Light" panose="020B0403020202020204" pitchFamily="34" charset="0"/>
              </a:rPr>
            </a:br>
            <a:endParaRPr lang="en-US" sz="1950" dirty="0">
              <a:latin typeface="Helvetica Light" panose="020B0403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FBB2DB1-7514-9141-A2FD-A9DD05372680}"/>
              </a:ext>
            </a:extLst>
          </p:cNvPr>
          <p:cNvCxnSpPr/>
          <p:nvPr/>
        </p:nvCxnSpPr>
        <p:spPr>
          <a:xfrm>
            <a:off x="860511" y="3202394"/>
            <a:ext cx="293729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2B15B5B-BCE1-E941-A4BC-BE87AEDC6D66}"/>
              </a:ext>
            </a:extLst>
          </p:cNvPr>
          <p:cNvCxnSpPr/>
          <p:nvPr/>
        </p:nvCxnSpPr>
        <p:spPr>
          <a:xfrm>
            <a:off x="860511" y="4455380"/>
            <a:ext cx="293729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1">
            <a:extLst>
              <a:ext uri="{FF2B5EF4-FFF2-40B4-BE49-F238E27FC236}">
                <a16:creationId xmlns:a16="http://schemas.microsoft.com/office/drawing/2014/main" id="{D686D137-640C-F345-8AB8-95B6971DD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568" y="3436470"/>
            <a:ext cx="160941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750">
                <a:solidFill>
                  <a:srgbClr val="D4D4D4"/>
                </a:solidFill>
                <a:latin typeface="-apple-system"/>
              </a:rPr>
              <a:t> </a:t>
            </a:r>
            <a:endParaRPr lang="en-US" altLang="en-US" sz="1350">
              <a:latin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454B883-38F0-994A-9E53-E72EA0F75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558500"/>
              </p:ext>
            </p:extLst>
          </p:nvPr>
        </p:nvGraphicFramePr>
        <p:xfrm>
          <a:off x="4922719" y="2823108"/>
          <a:ext cx="7886700" cy="2633666"/>
        </p:xfrm>
        <a:graphic>
          <a:graphicData uri="http://schemas.openxmlformats.org/drawingml/2006/table">
            <a:tbl>
              <a:tblPr/>
              <a:tblGrid>
                <a:gridCol w="1273475">
                  <a:extLst>
                    <a:ext uri="{9D8B030D-6E8A-4147-A177-3AD203B41FA5}">
                      <a16:colId xmlns:a16="http://schemas.microsoft.com/office/drawing/2014/main" val="879523005"/>
                    </a:ext>
                  </a:extLst>
                </a:gridCol>
                <a:gridCol w="6613225">
                  <a:extLst>
                    <a:ext uri="{9D8B030D-6E8A-4147-A177-3AD203B41FA5}">
                      <a16:colId xmlns:a16="http://schemas.microsoft.com/office/drawing/2014/main" val="2957955911"/>
                    </a:ext>
                  </a:extLst>
                </a:gridCol>
              </a:tblGrid>
              <a:tr h="368618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effectLst/>
                          <a:latin typeface="Helvetica Light" panose="020B0403020202020204" pitchFamily="34" charset="0"/>
                        </a:rPr>
                        <a:t>Operator</a:t>
                      </a: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effectLst/>
                          <a:latin typeface="Helvetica Light" panose="020B0403020202020204" pitchFamily="34" charset="0"/>
                        </a:rPr>
                        <a:t>Action/level</a:t>
                      </a: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5142025"/>
                  </a:ext>
                </a:extLst>
              </a:tr>
              <a:tr h="368618">
                <a:tc>
                  <a:txBody>
                    <a:bodyPr/>
                    <a:lstStyle/>
                    <a:p>
                      <a:r>
                        <a:rPr lang="en-US" sz="2000" b="1" i="0" dirty="0">
                          <a:effectLst/>
                          <a:latin typeface="Helvetica Light" panose="020B0403020202020204" pitchFamily="34" charset="0"/>
                        </a:rPr>
                        <a:t>+</a:t>
                      </a: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dirty="0">
                          <a:effectLst/>
                          <a:latin typeface="Helvetica Light" panose="020B0403020202020204" pitchFamily="34" charset="0"/>
                        </a:rPr>
                        <a:t>add</a:t>
                      </a: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3736247"/>
                  </a:ext>
                </a:extLst>
              </a:tr>
              <a:tr h="368618">
                <a:tc>
                  <a:txBody>
                    <a:bodyPr/>
                    <a:lstStyle/>
                    <a:p>
                      <a:r>
                        <a:rPr lang="en-US" sz="2000" b="1" i="0" dirty="0">
                          <a:effectLst/>
                          <a:latin typeface="Helvetica Light" panose="020B0403020202020204" pitchFamily="34" charset="0"/>
                        </a:rPr>
                        <a:t>-</a:t>
                      </a: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>
                          <a:effectLst/>
                          <a:latin typeface="Helvetica Light" panose="020B0403020202020204" pitchFamily="34" charset="0"/>
                        </a:rPr>
                        <a:t>Remove</a:t>
                      </a: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6621093"/>
                  </a:ext>
                </a:extLst>
              </a:tr>
              <a:tr h="368618">
                <a:tc>
                  <a:txBody>
                    <a:bodyPr/>
                    <a:lstStyle/>
                    <a:p>
                      <a:r>
                        <a:rPr lang="en-US" sz="2000" b="1" i="0" dirty="0">
                          <a:effectLst/>
                          <a:latin typeface="Helvetica Light" panose="020B0403020202020204" pitchFamily="34" charset="0"/>
                        </a:rPr>
                        <a:t>=</a:t>
                      </a: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>
                          <a:effectLst/>
                          <a:latin typeface="Helvetica Light" panose="020B0403020202020204" pitchFamily="34" charset="0"/>
                        </a:rPr>
                        <a:t>sets permission</a:t>
                      </a: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483756"/>
                  </a:ext>
                </a:extLst>
              </a:tr>
              <a:tr h="368618">
                <a:tc>
                  <a:txBody>
                    <a:bodyPr/>
                    <a:lstStyle/>
                    <a:p>
                      <a:r>
                        <a:rPr lang="en-US" sz="2000" b="1" i="0" dirty="0">
                          <a:effectLst/>
                          <a:latin typeface="Helvetica Light" panose="020B0403020202020204" pitchFamily="34" charset="0"/>
                        </a:rPr>
                        <a:t>r</a:t>
                      </a: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dirty="0">
                          <a:effectLst/>
                          <a:latin typeface="Helvetica Light" panose="020B0403020202020204" pitchFamily="34" charset="0"/>
                        </a:rPr>
                        <a:t>read</a:t>
                      </a: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7192849"/>
                  </a:ext>
                </a:extLst>
              </a:tr>
              <a:tr h="368618">
                <a:tc>
                  <a:txBody>
                    <a:bodyPr/>
                    <a:lstStyle/>
                    <a:p>
                      <a:r>
                        <a:rPr lang="en-US" sz="2000" b="1" i="0" dirty="0">
                          <a:effectLst/>
                          <a:latin typeface="Helvetica Light" panose="020B0403020202020204" pitchFamily="34" charset="0"/>
                        </a:rPr>
                        <a:t>w</a:t>
                      </a: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dirty="0">
                          <a:effectLst/>
                          <a:latin typeface="Helvetica Light" panose="020B0403020202020204" pitchFamily="34" charset="0"/>
                        </a:rPr>
                        <a:t>write</a:t>
                      </a: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6622076"/>
                  </a:ext>
                </a:extLst>
              </a:tr>
              <a:tr h="368618">
                <a:tc>
                  <a:txBody>
                    <a:bodyPr/>
                    <a:lstStyle/>
                    <a:p>
                      <a:r>
                        <a:rPr lang="en-US" sz="2000" b="1" i="0" dirty="0">
                          <a:effectLst/>
                          <a:latin typeface="Helvetica Light" panose="020B0403020202020204" pitchFamily="34" charset="0"/>
                        </a:rPr>
                        <a:t>x</a:t>
                      </a: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dirty="0">
                          <a:effectLst/>
                          <a:latin typeface="Helvetica Light" panose="020B0403020202020204" pitchFamily="34" charset="0"/>
                        </a:rPr>
                        <a:t>execute</a:t>
                      </a: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262725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0453005-FC32-2F4C-9CC7-4E33D283E2F9}"/>
              </a:ext>
            </a:extLst>
          </p:cNvPr>
          <p:cNvCxnSpPr/>
          <p:nvPr/>
        </p:nvCxnSpPr>
        <p:spPr>
          <a:xfrm>
            <a:off x="4821087" y="3202352"/>
            <a:ext cx="293729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D7CB03E-373A-8E46-AB8F-0827F86302BF}"/>
              </a:ext>
            </a:extLst>
          </p:cNvPr>
          <p:cNvCxnSpPr/>
          <p:nvPr/>
        </p:nvCxnSpPr>
        <p:spPr>
          <a:xfrm>
            <a:off x="4717570" y="5456774"/>
            <a:ext cx="293729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E725622-2E21-AC46-98BB-1A9F53FE6E0A}"/>
              </a:ext>
            </a:extLst>
          </p:cNvPr>
          <p:cNvSpPr txBox="1"/>
          <p:nvPr/>
        </p:nvSpPr>
        <p:spPr>
          <a:xfrm>
            <a:off x="789591" y="464496"/>
            <a:ext cx="540083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changing permissions: </a:t>
            </a:r>
            <a:r>
              <a:rPr lang="en-US" sz="3000" b="1" dirty="0" err="1">
                <a:latin typeface="Helvetica Light" panose="020B0403020202020204" pitchFamily="34" charset="0"/>
              </a:rPr>
              <a:t>chmod</a:t>
            </a:r>
            <a:endParaRPr lang="en-US" sz="3000" b="1" dirty="0">
              <a:latin typeface="Helvetica Light" panose="020B0403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8E6B23-031E-F14D-97E4-DB5338EEBFC2}"/>
              </a:ext>
            </a:extLst>
          </p:cNvPr>
          <p:cNvSpPr/>
          <p:nvPr/>
        </p:nvSpPr>
        <p:spPr>
          <a:xfrm>
            <a:off x="1149063" y="1657118"/>
            <a:ext cx="636905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b="1" dirty="0">
                <a:latin typeface="Helvetica Light" panose="020B0403020202020204" pitchFamily="34" charset="0"/>
              </a:rPr>
              <a:t>$ </a:t>
            </a:r>
            <a:r>
              <a:rPr lang="en-US" sz="2600" b="1" dirty="0" err="1">
                <a:latin typeface="Helvetica Light" panose="020B0403020202020204" pitchFamily="34" charset="0"/>
              </a:rPr>
              <a:t>chmod</a:t>
            </a:r>
            <a:r>
              <a:rPr lang="en-US" sz="2600" b="1" dirty="0">
                <a:latin typeface="Helvetica Light" panose="020B0403020202020204" pitchFamily="34" charset="0"/>
              </a:rPr>
              <a:t> &lt;</a:t>
            </a:r>
            <a:r>
              <a:rPr lang="en-US" sz="2600" b="1" dirty="0" err="1">
                <a:latin typeface="Helvetica Light" panose="020B0403020202020204" pitchFamily="34" charset="0"/>
              </a:rPr>
              <a:t>userabrev</a:t>
            </a:r>
            <a:r>
              <a:rPr lang="en-US" sz="2600" b="1" dirty="0">
                <a:latin typeface="Helvetica Light" panose="020B0403020202020204" pitchFamily="34" charset="0"/>
              </a:rPr>
              <a:t>&gt;&lt;operators&gt; </a:t>
            </a:r>
            <a:r>
              <a:rPr lang="en-US" sz="2600" b="1" dirty="0" err="1">
                <a:latin typeface="Helvetica Light" panose="020B0403020202020204" pitchFamily="34" charset="0"/>
              </a:rPr>
              <a:t>file.txt</a:t>
            </a:r>
            <a:endParaRPr lang="en-US" sz="2600" b="1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788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EB5281-81C0-C742-AEB3-7E173C169FB9}"/>
              </a:ext>
            </a:extLst>
          </p:cNvPr>
          <p:cNvSpPr/>
          <p:nvPr/>
        </p:nvSpPr>
        <p:spPr>
          <a:xfrm>
            <a:off x="788871" y="2017630"/>
            <a:ext cx="816594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Convert the .</a:t>
            </a:r>
            <a:r>
              <a:rPr lang="en-US" sz="2400" dirty="0" err="1">
                <a:latin typeface="Helvetica Light" panose="020B0403020202020204" pitchFamily="34" charset="0"/>
              </a:rPr>
              <a:t>sh</a:t>
            </a:r>
            <a:r>
              <a:rPr lang="en-US" sz="2400" dirty="0">
                <a:latin typeface="Helvetica Light" panose="020B0403020202020204" pitchFamily="34" charset="0"/>
              </a:rPr>
              <a:t> file to executable for all users:</a:t>
            </a:r>
          </a:p>
          <a:p>
            <a:endParaRPr lang="en-US" sz="2100" dirty="0">
              <a:latin typeface="Helvetica Light" panose="020B0403020202020204" pitchFamily="34" charset="0"/>
            </a:endParaRPr>
          </a:p>
          <a:p>
            <a:r>
              <a:rPr lang="en-US" sz="2600" b="1" dirty="0">
                <a:latin typeface="Helvetica Light" panose="020B0403020202020204" pitchFamily="34" charset="0"/>
              </a:rPr>
              <a:t>$ </a:t>
            </a:r>
            <a:r>
              <a:rPr lang="en-US" sz="2600" b="1" dirty="0" err="1">
                <a:latin typeface="Helvetica Light" panose="020B0403020202020204" pitchFamily="34" charset="0"/>
              </a:rPr>
              <a:t>chmod</a:t>
            </a:r>
            <a:r>
              <a:rPr lang="en-US" sz="2600" b="1" dirty="0">
                <a:latin typeface="Helvetica Light" panose="020B0403020202020204" pitchFamily="34" charset="0"/>
              </a:rPr>
              <a:t> </a:t>
            </a:r>
            <a:r>
              <a:rPr lang="en-US" sz="2600" b="1" dirty="0" err="1">
                <a:latin typeface="Helvetica Light" panose="020B0403020202020204" pitchFamily="34" charset="0"/>
              </a:rPr>
              <a:t>a+x</a:t>
            </a:r>
            <a:r>
              <a:rPr lang="en-US" sz="2600" b="1" dirty="0">
                <a:latin typeface="Helvetica Light" panose="020B0403020202020204" pitchFamily="34" charset="0"/>
              </a:rPr>
              <a:t> </a:t>
            </a:r>
            <a:r>
              <a:rPr lang="en-US" sz="2600" b="1" dirty="0" err="1">
                <a:latin typeface="Helvetica Light" panose="020B0403020202020204" pitchFamily="34" charset="0"/>
              </a:rPr>
              <a:t>rsync_mirror_laptop.sh</a:t>
            </a:r>
            <a:r>
              <a:rPr lang="en-US" sz="2600" b="1" dirty="0">
                <a:latin typeface="Helvetica Light" panose="020B0403020202020204" pitchFamily="34" charset="0"/>
              </a:rPr>
              <a:t> </a:t>
            </a:r>
            <a:br>
              <a:rPr lang="en-US" sz="2600" b="1" dirty="0">
                <a:latin typeface="Helvetica Light" panose="020B0403020202020204" pitchFamily="34" charset="0"/>
              </a:rPr>
            </a:br>
            <a:endParaRPr lang="en-US" sz="2600" b="1" dirty="0">
              <a:latin typeface="Helvetica Light" panose="020B0403020202020204" pitchFamily="34" charset="0"/>
            </a:endParaRPr>
          </a:p>
          <a:p>
            <a:r>
              <a:rPr lang="en-US" sz="2400" dirty="0">
                <a:latin typeface="Helvetica Light" panose="020B0403020202020204" pitchFamily="34" charset="0"/>
              </a:rPr>
              <a:t>This script can then be executed from the current directory:</a:t>
            </a:r>
          </a:p>
          <a:p>
            <a:endParaRPr lang="en-US" sz="2100" dirty="0">
              <a:latin typeface="Helvetica Light" panose="020B0403020202020204" pitchFamily="34" charset="0"/>
            </a:endParaRPr>
          </a:p>
          <a:p>
            <a:r>
              <a:rPr lang="en-US" sz="2600" b="1" dirty="0">
                <a:latin typeface="Helvetica Light" panose="020B0403020202020204" pitchFamily="34" charset="0"/>
              </a:rPr>
              <a:t>$ ./</a:t>
            </a:r>
            <a:r>
              <a:rPr lang="en-US" sz="2600" b="1" dirty="0" err="1">
                <a:latin typeface="Helvetica Light" panose="020B0403020202020204" pitchFamily="34" charset="0"/>
              </a:rPr>
              <a:t>rsync_mirror_laptop.sh</a:t>
            </a:r>
            <a:endParaRPr lang="en-US" sz="2600" b="1" dirty="0">
              <a:latin typeface="Helvetica Light" panose="020B0403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5AB44E-7CCE-B545-AF5C-D64394050D6D}"/>
              </a:ext>
            </a:extLst>
          </p:cNvPr>
          <p:cNvSpPr txBox="1"/>
          <p:nvPr/>
        </p:nvSpPr>
        <p:spPr>
          <a:xfrm>
            <a:off x="788871" y="526670"/>
            <a:ext cx="546495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Changing permissions: </a:t>
            </a:r>
            <a:r>
              <a:rPr lang="en-US" sz="3000" b="1" dirty="0" err="1">
                <a:latin typeface="Helvetica Light" panose="020B0403020202020204" pitchFamily="34" charset="0"/>
              </a:rPr>
              <a:t>chmod</a:t>
            </a:r>
            <a:endParaRPr lang="en-US" sz="3000" b="1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5590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41557C-E993-2A4B-91C5-D58362076F74}"/>
              </a:ext>
            </a:extLst>
          </p:cNvPr>
          <p:cNvSpPr txBox="1"/>
          <p:nvPr/>
        </p:nvSpPr>
        <p:spPr>
          <a:xfrm>
            <a:off x="533062" y="431781"/>
            <a:ext cx="69862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>
                <a:latin typeface="Helvetica Light" panose="020B0403020202020204" pitchFamily="34" charset="0"/>
              </a:rPr>
              <a:t>stdout</a:t>
            </a:r>
            <a:r>
              <a:rPr lang="en-US" sz="3200" b="1" dirty="0">
                <a:latin typeface="Helvetica Light" panose="020B0403020202020204" pitchFamily="34" charset="0"/>
              </a:rPr>
              <a:t>, redirection (&gt;), and pipes (|)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743DCB-39B2-DD40-921D-863428E05D94}"/>
              </a:ext>
            </a:extLst>
          </p:cNvPr>
          <p:cNvSpPr txBox="1"/>
          <p:nvPr/>
        </p:nvSpPr>
        <p:spPr>
          <a:xfrm>
            <a:off x="499341" y="1580028"/>
            <a:ext cx="82866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50" dirty="0">
                <a:latin typeface="Helvetica Light" panose="020B0403020202020204" pitchFamily="34" charset="0"/>
              </a:rPr>
              <a:t>Pipes (</a:t>
            </a:r>
            <a:r>
              <a:rPr lang="en-US" sz="2250" b="1" dirty="0">
                <a:latin typeface="Helvetica Light" panose="020B0403020202020204" pitchFamily="34" charset="0"/>
              </a:rPr>
              <a:t>|</a:t>
            </a:r>
            <a:r>
              <a:rPr lang="en-US" sz="2250" dirty="0">
                <a:latin typeface="Helvetica Light" panose="020B0403020202020204" pitchFamily="34" charset="0"/>
              </a:rPr>
              <a:t>) send </a:t>
            </a:r>
            <a:r>
              <a:rPr lang="en-US" sz="2250" b="1" dirty="0" err="1">
                <a:latin typeface="Helvetica Light" panose="020B0403020202020204" pitchFamily="34" charset="0"/>
              </a:rPr>
              <a:t>stdout</a:t>
            </a:r>
            <a:r>
              <a:rPr lang="en-US" sz="2250" dirty="0">
                <a:latin typeface="Helvetica Light" panose="020B0403020202020204" pitchFamily="34" charset="0"/>
              </a:rPr>
              <a:t> from one command into another.</a:t>
            </a:r>
          </a:p>
          <a:p>
            <a:pPr marL="342900" indent="-342900">
              <a:buFontTx/>
              <a:buChar char="-"/>
            </a:pPr>
            <a:endParaRPr lang="en-US" sz="2250" b="1" dirty="0">
              <a:latin typeface="Helvetica Light" panose="020B0403020202020204" pitchFamily="34" charset="0"/>
            </a:endParaRPr>
          </a:p>
          <a:p>
            <a:endParaRPr lang="en-US" sz="2250" b="1" dirty="0">
              <a:latin typeface="Helvetica Light" panose="020B0403020202020204" pitchFamily="34" charset="0"/>
            </a:endParaRPr>
          </a:p>
          <a:p>
            <a:r>
              <a:rPr lang="en-US" sz="2250" b="1" dirty="0">
                <a:latin typeface="Helvetica Light" panose="020B0403020202020204" pitchFamily="34" charset="0"/>
              </a:rPr>
              <a:t>$ ls | </a:t>
            </a:r>
            <a:r>
              <a:rPr lang="en-US" sz="2250" b="1" dirty="0" err="1">
                <a:latin typeface="Helvetica Light" panose="020B0403020202020204" pitchFamily="34" charset="0"/>
              </a:rPr>
              <a:t>wc</a:t>
            </a:r>
            <a:r>
              <a:rPr lang="en-US" sz="2250" b="1" dirty="0">
                <a:latin typeface="Helvetica Light" panose="020B0403020202020204" pitchFamily="34" charset="0"/>
              </a:rPr>
              <a:t> -l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E4B7AA-335C-404D-9123-3C90719A913E}"/>
              </a:ext>
            </a:extLst>
          </p:cNvPr>
          <p:cNvSpPr/>
          <p:nvPr/>
        </p:nvSpPr>
        <p:spPr>
          <a:xfrm>
            <a:off x="499341" y="3744589"/>
            <a:ext cx="4889480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00" b="1" dirty="0">
                <a:latin typeface="Helvetica Light" panose="020B0403020202020204" pitchFamily="34" charset="0"/>
              </a:rPr>
              <a:t>$ cut -f 3 </a:t>
            </a:r>
            <a:r>
              <a:rPr lang="en-US" sz="2100" b="1" dirty="0" err="1">
                <a:latin typeface="Helvetica Light" panose="020B0403020202020204" pitchFamily="34" charset="0"/>
              </a:rPr>
              <a:t>yeast_genome.gff</a:t>
            </a:r>
            <a:r>
              <a:rPr lang="en-US" sz="2100" b="1" dirty="0">
                <a:latin typeface="Helvetica Light" panose="020B0403020202020204" pitchFamily="34" charset="0"/>
              </a:rPr>
              <a:t> | sort | </a:t>
            </a:r>
            <a:r>
              <a:rPr lang="en-US" sz="2100" b="1" dirty="0" err="1">
                <a:latin typeface="Helvetica Light" panose="020B0403020202020204" pitchFamily="34" charset="0"/>
              </a:rPr>
              <a:t>uniq</a:t>
            </a:r>
            <a:endParaRPr lang="en-US" sz="2100" b="1" dirty="0">
              <a:latin typeface="Helvetica Light" panose="020B0403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4290F9-6A53-4E40-A19F-64EE7372BCB5}"/>
              </a:ext>
            </a:extLst>
          </p:cNvPr>
          <p:cNvSpPr txBox="1"/>
          <p:nvPr/>
        </p:nvSpPr>
        <p:spPr>
          <a:xfrm>
            <a:off x="786128" y="4701033"/>
            <a:ext cx="212775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Extract the 3</a:t>
            </a:r>
            <a:r>
              <a:rPr lang="en-US" sz="2000" baseline="30000" dirty="0"/>
              <a:t>rd</a:t>
            </a:r>
            <a:r>
              <a:rPr lang="en-US" sz="2000" dirty="0"/>
              <a:t> field from each line of </a:t>
            </a:r>
            <a:r>
              <a:rPr lang="en-US" sz="2000" dirty="0" err="1"/>
              <a:t>yeast_genome.gff</a:t>
            </a:r>
            <a:endParaRPr lang="en-US" sz="20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154D7CF-758C-1944-BA8D-3F1CC40E4B80}"/>
              </a:ext>
            </a:extLst>
          </p:cNvPr>
          <p:cNvCxnSpPr>
            <a:cxnSpLocks/>
          </p:cNvCxnSpPr>
          <p:nvPr/>
        </p:nvCxnSpPr>
        <p:spPr>
          <a:xfrm flipV="1">
            <a:off x="1439333" y="4185621"/>
            <a:ext cx="96859" cy="584519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FABB3CF-E980-7348-A1A5-C95B7586F249}"/>
              </a:ext>
            </a:extLst>
          </p:cNvPr>
          <p:cNvCxnSpPr>
            <a:cxnSpLocks/>
          </p:cNvCxnSpPr>
          <p:nvPr/>
        </p:nvCxnSpPr>
        <p:spPr>
          <a:xfrm flipV="1">
            <a:off x="4279900" y="4185621"/>
            <a:ext cx="97028" cy="63558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8329741-8DF4-4A47-9713-1A4C8EDA6276}"/>
              </a:ext>
            </a:extLst>
          </p:cNvPr>
          <p:cNvSpPr txBox="1"/>
          <p:nvPr/>
        </p:nvSpPr>
        <p:spPr>
          <a:xfrm>
            <a:off x="3988530" y="4821208"/>
            <a:ext cx="9670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sort lines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336ECA-E002-0A41-97BD-FE8868360C8A}"/>
              </a:ext>
            </a:extLst>
          </p:cNvPr>
          <p:cNvSpPr txBox="1"/>
          <p:nvPr/>
        </p:nvSpPr>
        <p:spPr>
          <a:xfrm>
            <a:off x="5228623" y="4770140"/>
            <a:ext cx="15671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Print only unique items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6A9B63A-96BF-FF46-B2DA-95BB62A57534}"/>
              </a:ext>
            </a:extLst>
          </p:cNvPr>
          <p:cNvCxnSpPr>
            <a:cxnSpLocks/>
          </p:cNvCxnSpPr>
          <p:nvPr/>
        </p:nvCxnSpPr>
        <p:spPr>
          <a:xfrm flipH="1" flipV="1">
            <a:off x="5300533" y="4185621"/>
            <a:ext cx="282161" cy="48415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2239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30CB1-009A-91CC-1353-52C4E628DEA4}"/>
              </a:ext>
            </a:extLst>
          </p:cNvPr>
          <p:cNvSpPr txBox="1"/>
          <p:nvPr/>
        </p:nvSpPr>
        <p:spPr>
          <a:xfrm>
            <a:off x="533062" y="431781"/>
            <a:ext cx="76803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Helvetica Light" panose="020B0403020202020204" pitchFamily="34" charset="0"/>
              </a:rPr>
              <a:t>Sources of output, and redirection control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308177-AD7A-5473-146D-65B031D671CB}"/>
              </a:ext>
            </a:extLst>
          </p:cNvPr>
          <p:cNvSpPr txBox="1"/>
          <p:nvPr/>
        </p:nvSpPr>
        <p:spPr>
          <a:xfrm>
            <a:off x="533062" y="1520456"/>
            <a:ext cx="841955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HELVETICA LIGHT" panose="020B0403020202020204" pitchFamily="34" charset="0"/>
              </a:rPr>
              <a:t>Standard </a:t>
            </a:r>
            <a:r>
              <a:rPr lang="en-US" sz="2200" b="1" dirty="0">
                <a:latin typeface="Helvetica Light" panose="020B0403020202020204" pitchFamily="34" charset="0"/>
              </a:rPr>
              <a:t>output </a:t>
            </a:r>
            <a:r>
              <a:rPr lang="en-US" sz="2200" dirty="0">
                <a:latin typeface="Helvetica Light" panose="020B0403020202020204" pitchFamily="34" charset="0"/>
              </a:rPr>
              <a:t>(`</a:t>
            </a:r>
            <a:r>
              <a:rPr lang="en-US" sz="2200" dirty="0" err="1">
                <a:latin typeface="Helvetica Light" panose="020B0403020202020204" pitchFamily="34" charset="0"/>
              </a:rPr>
              <a:t>stdout</a:t>
            </a:r>
            <a:r>
              <a:rPr lang="en-US" sz="2200" dirty="0">
                <a:latin typeface="Helvetica Light" panose="020B0403020202020204" pitchFamily="34" charset="0"/>
              </a:rPr>
              <a:t>`) - the normal output produced by a command.</a:t>
            </a:r>
          </a:p>
          <a:p>
            <a:endParaRPr lang="en-US" sz="2200" dirty="0">
              <a:latin typeface="Helvetica Light" panose="020B0403020202020204" pitchFamily="34" charset="0"/>
            </a:endParaRPr>
          </a:p>
          <a:p>
            <a:r>
              <a:rPr lang="en-US" sz="2200" b="1" dirty="0">
                <a:latin typeface="HELVETICA LIGHT" panose="020B0403020202020204" pitchFamily="34" charset="0"/>
              </a:rPr>
              <a:t>Standard </a:t>
            </a:r>
            <a:r>
              <a:rPr lang="en-US" sz="2200" b="1" dirty="0">
                <a:latin typeface="Helvetica Light" panose="020B0403020202020204" pitchFamily="34" charset="0"/>
              </a:rPr>
              <a:t>error </a:t>
            </a:r>
            <a:r>
              <a:rPr lang="en-US" sz="2200" dirty="0">
                <a:latin typeface="Helvetica Light" panose="020B0403020202020204" pitchFamily="34" charset="0"/>
              </a:rPr>
              <a:t>(`stderr`) - error messages and warnings.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E3D244-E483-A305-666B-234A36BC7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451" y="3429000"/>
            <a:ext cx="4903529" cy="223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945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6DC6D0-BF60-D53D-E1CE-A09855867FE2}"/>
              </a:ext>
            </a:extLst>
          </p:cNvPr>
          <p:cNvSpPr txBox="1"/>
          <p:nvPr/>
        </p:nvSpPr>
        <p:spPr>
          <a:xfrm>
            <a:off x="533062" y="431781"/>
            <a:ext cx="76803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Helvetica Light" panose="020B0403020202020204" pitchFamily="34" charset="0"/>
              </a:rPr>
              <a:t>Sources of output, and redirection control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893183-F624-D5CB-D439-30FABBD3B78B}"/>
              </a:ext>
            </a:extLst>
          </p:cNvPr>
          <p:cNvSpPr txBox="1"/>
          <p:nvPr/>
        </p:nvSpPr>
        <p:spPr>
          <a:xfrm>
            <a:off x="533054" y="2469695"/>
            <a:ext cx="7680307" cy="4308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$ grep "gene"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yeast_genome.gff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&gt;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genes.txt</a:t>
            </a:r>
            <a:endParaRPr lang="en-US" sz="2200" b="0" i="0" dirty="0">
              <a:solidFill>
                <a:srgbClr val="333333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BA0C92-CE37-34F5-7B7A-D7AE9CA231AB}"/>
              </a:ext>
            </a:extLst>
          </p:cNvPr>
          <p:cNvSpPr txBox="1"/>
          <p:nvPr/>
        </p:nvSpPr>
        <p:spPr>
          <a:xfrm>
            <a:off x="533056" y="3713589"/>
            <a:ext cx="7680307" cy="4308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$ grep "gene"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yeast_genome.gff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&gt;&gt;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genes.txt</a:t>
            </a:r>
            <a:endParaRPr lang="en-US" sz="2200" b="0" i="0" dirty="0">
              <a:solidFill>
                <a:srgbClr val="333333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B04549-0110-0B63-64EF-2B21455FA867}"/>
              </a:ext>
            </a:extLst>
          </p:cNvPr>
          <p:cNvSpPr txBox="1"/>
          <p:nvPr/>
        </p:nvSpPr>
        <p:spPr>
          <a:xfrm>
            <a:off x="533056" y="5425899"/>
            <a:ext cx="7680307" cy="7694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$ grep "gene"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yeast_genome.gff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&gt;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genes.txt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2&gt;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errors.txt</a:t>
            </a:r>
            <a:endParaRPr lang="en-US" sz="2200" b="0" i="0" dirty="0">
              <a:solidFill>
                <a:srgbClr val="333333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AB50A1-1B9B-3C9A-151A-585001B289BC}"/>
              </a:ext>
            </a:extLst>
          </p:cNvPr>
          <p:cNvSpPr txBox="1"/>
          <p:nvPr/>
        </p:nvSpPr>
        <p:spPr>
          <a:xfrm>
            <a:off x="485210" y="1613540"/>
            <a:ext cx="84195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Redirects </a:t>
            </a:r>
            <a:r>
              <a:rPr lang="en-US" sz="2000" dirty="0" err="1">
                <a:latin typeface="Helvetica Light" panose="020B0403020202020204" pitchFamily="34" charset="0"/>
              </a:rPr>
              <a:t>stdout</a:t>
            </a:r>
            <a:r>
              <a:rPr lang="en-US" sz="2000" dirty="0">
                <a:latin typeface="Helvetica Light" panose="020B0403020202020204" pitchFamily="34" charset="0"/>
              </a:rPr>
              <a:t> to a file,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genes.txt</a:t>
            </a:r>
            <a:r>
              <a:rPr lang="en-US" sz="2000" dirty="0">
                <a:latin typeface="Helvetica Light" panose="020B0403020202020204" pitchFamily="34" charset="0"/>
              </a:rPr>
              <a:t>. Creates file on the fly or overwrites if file of this name exists: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7A0517-71ED-B7DA-8B5E-C0FF0159796E}"/>
              </a:ext>
            </a:extLst>
          </p:cNvPr>
          <p:cNvSpPr txBox="1"/>
          <p:nvPr/>
        </p:nvSpPr>
        <p:spPr>
          <a:xfrm>
            <a:off x="485210" y="3187350"/>
            <a:ext cx="77759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Appends </a:t>
            </a:r>
            <a:r>
              <a:rPr lang="en-US" sz="2000" dirty="0" err="1">
                <a:latin typeface="Helvetica Light" panose="020B0403020202020204" pitchFamily="34" charset="0"/>
              </a:rPr>
              <a:t>stdout</a:t>
            </a:r>
            <a:r>
              <a:rPr lang="en-US" sz="2000" dirty="0">
                <a:latin typeface="Helvetica Light" panose="020B0403020202020204" pitchFamily="34" charset="0"/>
              </a:rPr>
              <a:t> to a file,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genes.txt</a:t>
            </a:r>
            <a:r>
              <a:rPr lang="en-US" sz="2000" dirty="0">
                <a:latin typeface="Helvetica Light" panose="020B0403020202020204" pitchFamily="34" charset="0"/>
              </a:rPr>
              <a:t>, making file larger: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77595D-9949-2227-F775-52AD1E972DE3}"/>
              </a:ext>
            </a:extLst>
          </p:cNvPr>
          <p:cNvSpPr txBox="1"/>
          <p:nvPr/>
        </p:nvSpPr>
        <p:spPr>
          <a:xfrm>
            <a:off x="485210" y="4591884"/>
            <a:ext cx="77759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Writes </a:t>
            </a:r>
            <a:r>
              <a:rPr lang="en-US" sz="2000" dirty="0" err="1">
                <a:latin typeface="Helvetica Light" panose="020B0403020202020204" pitchFamily="34" charset="0"/>
              </a:rPr>
              <a:t>stdout</a:t>
            </a:r>
            <a:r>
              <a:rPr lang="en-US" sz="2000" dirty="0">
                <a:latin typeface="Helvetica Light" panose="020B0403020202020204" pitchFamily="34" charset="0"/>
              </a:rPr>
              <a:t> to a file,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genes.txt</a:t>
            </a:r>
            <a:r>
              <a:rPr lang="en-US" sz="2000" dirty="0">
                <a:latin typeface="Helvetica Light" panose="020B0403020202020204" pitchFamily="34" charset="0"/>
              </a:rPr>
              <a:t>, and writes stderr (error messages) to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errors.txt</a:t>
            </a:r>
            <a:r>
              <a:rPr lang="en-US" sz="2000" dirty="0">
                <a:latin typeface="Helvetica Light" panose="020B040302020202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764256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2579" y="224135"/>
            <a:ext cx="81788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Two ways to write shell scripts (or Unix programs)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545" y="1149440"/>
            <a:ext cx="8334883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Helvetica Light" panose="020B0403020202020204" pitchFamily="34" charset="0"/>
              </a:rPr>
              <a:t>1</a:t>
            </a:r>
            <a:r>
              <a:rPr lang="en-US" sz="2000" dirty="0">
                <a:latin typeface="Helvetica Light" panose="020B0403020202020204" pitchFamily="34" charset="0"/>
              </a:rPr>
              <a:t>. Save the commands you want to execute in a file, e.g., </a:t>
            </a:r>
            <a:r>
              <a:rPr lang="en-US" sz="2000" dirty="0" err="1">
                <a:latin typeface="Helvetica Light" panose="020B0403020202020204" pitchFamily="34" charset="0"/>
              </a:rPr>
              <a:t>commands.txt</a:t>
            </a:r>
            <a:r>
              <a:rPr lang="en-US" sz="2000" dirty="0">
                <a:latin typeface="Helvetica Light" panose="020B0403020202020204" pitchFamily="34" charset="0"/>
              </a:rPr>
              <a:t> and use the </a:t>
            </a:r>
            <a:r>
              <a:rPr lang="en-US" sz="2000" dirty="0" err="1">
                <a:latin typeface="Helvetica Light" panose="020B0403020202020204" pitchFamily="34" charset="0"/>
              </a:rPr>
              <a:t>unix</a:t>
            </a:r>
            <a:r>
              <a:rPr lang="en-US" sz="2000" dirty="0">
                <a:latin typeface="Helvetica Light" panose="020B0403020202020204" pitchFamily="34" charset="0"/>
              </a:rPr>
              <a:t> </a:t>
            </a:r>
            <a:r>
              <a:rPr lang="en-US" sz="2000" b="1" dirty="0">
                <a:latin typeface="Helvetica Light" panose="020B0403020202020204" pitchFamily="34" charset="0"/>
              </a:rPr>
              <a:t>source</a:t>
            </a:r>
            <a:r>
              <a:rPr lang="en-US" sz="2000" dirty="0">
                <a:latin typeface="Helvetica Light" panose="020B0403020202020204" pitchFamily="34" charset="0"/>
              </a:rPr>
              <a:t> command:</a:t>
            </a:r>
          </a:p>
          <a:p>
            <a:endParaRPr lang="en-US" dirty="0">
              <a:latin typeface="Helvetica Light" panose="020B0403020202020204" pitchFamily="34" charset="0"/>
            </a:endParaRPr>
          </a:p>
          <a:p>
            <a:r>
              <a:rPr lang="en-US" b="1" dirty="0">
                <a:latin typeface="Helvetica Light" panose="020B0403020202020204" pitchFamily="34" charset="0"/>
              </a:rPr>
              <a:t>$ source </a:t>
            </a:r>
            <a:r>
              <a:rPr lang="en-US" b="1" dirty="0" err="1">
                <a:latin typeface="Helvetica Light" panose="020B0403020202020204" pitchFamily="34" charset="0"/>
              </a:rPr>
              <a:t>commands.txt</a:t>
            </a:r>
            <a:r>
              <a:rPr lang="en-US" b="1" dirty="0">
                <a:latin typeface="Helvetica Light" panose="020B0403020202020204" pitchFamily="34" charset="0"/>
              </a:rPr>
              <a:t>        OR</a:t>
            </a:r>
          </a:p>
          <a:p>
            <a:r>
              <a:rPr lang="en-US" b="1" dirty="0">
                <a:latin typeface="Helvetica Light" panose="020B0403020202020204" pitchFamily="34" charset="0"/>
              </a:rPr>
              <a:t>$ </a:t>
            </a:r>
            <a:r>
              <a:rPr lang="en-US" b="1" dirty="0" err="1">
                <a:latin typeface="Helvetica Light" panose="020B0403020202020204" pitchFamily="34" charset="0"/>
              </a:rPr>
              <a:t>zsh</a:t>
            </a:r>
            <a:r>
              <a:rPr lang="en-US" b="1" dirty="0">
                <a:latin typeface="Helvetica Light" panose="020B0403020202020204" pitchFamily="34" charset="0"/>
              </a:rPr>
              <a:t> </a:t>
            </a:r>
            <a:r>
              <a:rPr lang="en-US" b="1" dirty="0" err="1">
                <a:latin typeface="Helvetica Light" panose="020B0403020202020204" pitchFamily="34" charset="0"/>
              </a:rPr>
              <a:t>commands.txt</a:t>
            </a:r>
            <a:endParaRPr lang="en-US" b="1" dirty="0">
              <a:latin typeface="Helvetica Light" panose="020B0403020202020204" pitchFamily="34" charset="0"/>
            </a:endParaRPr>
          </a:p>
          <a:p>
            <a:endParaRPr lang="en-US" dirty="0">
              <a:latin typeface="Helvetica Light" panose="020B0403020202020204" pitchFamily="34" charset="0"/>
            </a:endParaRPr>
          </a:p>
          <a:p>
            <a:r>
              <a:rPr lang="en-US" dirty="0">
                <a:latin typeface="Helvetica Light" panose="020B0403020202020204" pitchFamily="34" charset="0"/>
              </a:rPr>
              <a:t>## This will execute the </a:t>
            </a:r>
            <a:r>
              <a:rPr lang="en-US" dirty="0" err="1">
                <a:latin typeface="Helvetica Light" panose="020B0403020202020204" pitchFamily="34" charset="0"/>
              </a:rPr>
              <a:t>linux</a:t>
            </a:r>
            <a:r>
              <a:rPr lang="en-US" dirty="0">
                <a:latin typeface="Helvetica Light" panose="020B0403020202020204" pitchFamily="34" charset="0"/>
              </a:rPr>
              <a:t> commands you have saved in that file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9D79D9-46E4-6341-9AF6-5B16AEE2B1E8}"/>
              </a:ext>
            </a:extLst>
          </p:cNvPr>
          <p:cNvSpPr/>
          <p:nvPr/>
        </p:nvSpPr>
        <p:spPr>
          <a:xfrm>
            <a:off x="482545" y="3610525"/>
            <a:ext cx="8502682" cy="2646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Helvetica Light" panose="020B0403020202020204" pitchFamily="34" charset="0"/>
              </a:rPr>
              <a:t>2</a:t>
            </a:r>
            <a:r>
              <a:rPr lang="en-US" sz="2000" dirty="0">
                <a:latin typeface="Helvetica Light" panose="020B0403020202020204" pitchFamily="34" charset="0"/>
              </a:rPr>
              <a:t>. Write a shell script (basically the same idea, but preferred for a variety of reasons)</a:t>
            </a:r>
          </a:p>
          <a:p>
            <a:endParaRPr lang="en-US" dirty="0">
              <a:latin typeface="Helvetica Light" panose="020B0403020202020204" pitchFamily="34" charset="0"/>
            </a:endParaRPr>
          </a:p>
          <a:p>
            <a:r>
              <a:rPr lang="en-US" dirty="0">
                <a:latin typeface="Helvetica Light" panose="020B0403020202020204" pitchFamily="34" charset="0"/>
              </a:rPr>
              <a:t>Top line of your shell script needs to be:</a:t>
            </a:r>
          </a:p>
          <a:p>
            <a:endParaRPr lang="en-US" dirty="0">
              <a:latin typeface="Helvetica Light" panose="020B0403020202020204" pitchFamily="34" charset="0"/>
            </a:endParaRPr>
          </a:p>
          <a:p>
            <a:r>
              <a:rPr lang="en-US" b="1" dirty="0">
                <a:latin typeface="Helvetica Light" panose="020B0403020202020204" pitchFamily="34" charset="0"/>
              </a:rPr>
              <a:t>#!/bin/</a:t>
            </a:r>
            <a:r>
              <a:rPr lang="en-US" b="1" dirty="0" err="1">
                <a:latin typeface="Helvetica Light" panose="020B0403020202020204" pitchFamily="34" charset="0"/>
              </a:rPr>
              <a:t>zsh</a:t>
            </a:r>
            <a:endParaRPr lang="en-US" b="1" dirty="0">
              <a:latin typeface="Helvetica Light" panose="020B0403020202020204" pitchFamily="34" charset="0"/>
            </a:endParaRPr>
          </a:p>
          <a:p>
            <a:endParaRPr lang="en-US" dirty="0">
              <a:latin typeface="Helvetica Light" panose="020B0403020202020204" pitchFamily="34" charset="0"/>
            </a:endParaRPr>
          </a:p>
          <a:p>
            <a:r>
              <a:rPr lang="en-US" dirty="0">
                <a:latin typeface="Helvetica Light" panose="020B0403020202020204" pitchFamily="34" charset="0"/>
              </a:rPr>
              <a:t>#This tells your system that bash is the interpreter to use, and that it lives in </a:t>
            </a:r>
            <a:r>
              <a:rPr lang="en-US" dirty="0" err="1">
                <a:latin typeface="Helvetica Light" panose="020B0403020202020204" pitchFamily="34" charset="0"/>
              </a:rPr>
              <a:t>usr</a:t>
            </a:r>
            <a:r>
              <a:rPr lang="en-US" dirty="0">
                <a:latin typeface="Helvetica Light" panose="020B0403020202020204" pitchFamily="34" charset="0"/>
              </a:rPr>
              <a:t>/bin/ ** You will do something similar when writing python code.</a:t>
            </a:r>
          </a:p>
        </p:txBody>
      </p:sp>
    </p:spTree>
    <p:extLst>
      <p:ext uri="{BB962C8B-B14F-4D97-AF65-F5344CB8AC3E}">
        <p14:creationId xmlns:p14="http://schemas.microsoft.com/office/powerpoint/2010/main" val="724259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41261" y="195839"/>
            <a:ext cx="485742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Simple</a:t>
            </a:r>
            <a:r>
              <a:rPr lang="en-US" sz="2800" dirty="0">
                <a:latin typeface="Helvetica Light" panose="020B0403020202020204" pitchFamily="34" charset="0"/>
              </a:rPr>
              <a:t> shell script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45044" y="1788762"/>
            <a:ext cx="3972562" cy="1015663"/>
          </a:xfrm>
          <a:prstGeom prst="rect">
            <a:avLst/>
          </a:prstGeom>
          <a:ln>
            <a:solidFill>
              <a:srgbClr val="80000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#!/bin/</a:t>
            </a:r>
            <a:r>
              <a:rPr lang="en-US" sz="2000" dirty="0" err="1">
                <a:latin typeface="Helvetica Light" panose="020B0403020202020204" pitchFamily="34" charset="0"/>
              </a:rPr>
              <a:t>zsh</a:t>
            </a:r>
            <a:r>
              <a:rPr lang="en-US" sz="2000" dirty="0">
                <a:latin typeface="Helvetica Light" panose="020B0403020202020204" pitchFamily="34" charset="0"/>
              </a:rPr>
              <a:t>          </a:t>
            </a:r>
          </a:p>
          <a:p>
            <a:r>
              <a:rPr lang="it-IT" sz="2000" dirty="0">
                <a:latin typeface="Helvetica Light" panose="020B0403020202020204" pitchFamily="34" charset="0"/>
              </a:rPr>
              <a:t>            STR="</a:t>
            </a:r>
            <a:r>
              <a:rPr lang="it-IT" sz="2000" dirty="0" err="1">
                <a:latin typeface="Helvetica Light" panose="020B0403020202020204" pitchFamily="34" charset="0"/>
              </a:rPr>
              <a:t>Good</a:t>
            </a:r>
            <a:r>
              <a:rPr lang="it-IT" sz="2000" dirty="0">
                <a:latin typeface="Helvetica Light" panose="020B0403020202020204" pitchFamily="34" charset="0"/>
              </a:rPr>
              <a:t> Dog </a:t>
            </a:r>
            <a:r>
              <a:rPr lang="it-IT" sz="2000" dirty="0" err="1">
                <a:latin typeface="Helvetica Light" panose="020B0403020202020204" pitchFamily="34" charset="0"/>
              </a:rPr>
              <a:t>Shipley</a:t>
            </a:r>
            <a:r>
              <a:rPr lang="it-IT" sz="2000" dirty="0">
                <a:latin typeface="Helvetica Light" panose="020B0403020202020204" pitchFamily="34" charset="0"/>
              </a:rPr>
              <a:t>!"</a:t>
            </a:r>
          </a:p>
          <a:p>
            <a:r>
              <a:rPr lang="es-ES_tradnl" sz="2000" dirty="0">
                <a:latin typeface="Helvetica Light" panose="020B0403020202020204" pitchFamily="34" charset="0"/>
              </a:rPr>
              <a:t>            echo $STR</a:t>
            </a:r>
            <a:endParaRPr lang="en-US" sz="2000" dirty="0">
              <a:latin typeface="Helvetica Light" panose="020B0403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80172" y="1707547"/>
            <a:ext cx="397256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Save this in a text file, simple1.sh</a:t>
            </a:r>
          </a:p>
          <a:p>
            <a:endParaRPr lang="en-US" sz="2000" dirty="0">
              <a:latin typeface="Helvetica Light" panose="020B0403020202020204" pitchFamily="34" charset="0"/>
            </a:endParaRPr>
          </a:p>
          <a:p>
            <a:r>
              <a:rPr lang="en-US" sz="2000" dirty="0">
                <a:latin typeface="Helvetica Light" panose="020B0403020202020204" pitchFamily="34" charset="0"/>
              </a:rPr>
              <a:t>From the command line:</a:t>
            </a:r>
          </a:p>
          <a:p>
            <a:r>
              <a:rPr lang="en-US" sz="2000" b="1" dirty="0">
                <a:latin typeface="Helvetica Light" panose="020B0403020202020204" pitchFamily="34" charset="0"/>
              </a:rPr>
              <a:t>$ </a:t>
            </a:r>
            <a:r>
              <a:rPr lang="en-US" sz="2000" b="1" dirty="0" err="1">
                <a:latin typeface="Helvetica Light" panose="020B0403020202020204" pitchFamily="34" charset="0"/>
              </a:rPr>
              <a:t>zsh</a:t>
            </a:r>
            <a:r>
              <a:rPr lang="en-US" sz="2000" b="1" dirty="0">
                <a:latin typeface="Helvetica Light" panose="020B0403020202020204" pitchFamily="34" charset="0"/>
              </a:rPr>
              <a:t> simple1.sh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488" y="3762135"/>
            <a:ext cx="3526905" cy="2246769"/>
          </a:xfrm>
          <a:prstGeom prst="rect">
            <a:avLst/>
          </a:prstGeom>
          <a:ln>
            <a:solidFill>
              <a:srgbClr val="80000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#!/bin/</a:t>
            </a:r>
            <a:r>
              <a:rPr lang="en-US" sz="2000" dirty="0" err="1">
                <a:latin typeface="Helvetica Light" panose="020B0403020202020204" pitchFamily="34" charset="0"/>
              </a:rPr>
              <a:t>zsh</a:t>
            </a:r>
            <a:r>
              <a:rPr lang="en-US" sz="2000" dirty="0">
                <a:latin typeface="Helvetica Light" panose="020B0403020202020204" pitchFamily="34" charset="0"/>
              </a:rPr>
              <a:t>          </a:t>
            </a:r>
          </a:p>
          <a:p>
            <a:r>
              <a:rPr lang="en-US" sz="2000" dirty="0">
                <a:latin typeface="Helvetica Light" panose="020B0403020202020204" pitchFamily="34" charset="0"/>
              </a:rPr>
              <a:t>            echo "List of files:"</a:t>
            </a:r>
          </a:p>
          <a:p>
            <a:r>
              <a:rPr lang="en-US" sz="2000" dirty="0">
                <a:latin typeface="Helvetica Light" panose="020B0403020202020204" pitchFamily="34" charset="0"/>
              </a:rPr>
              <a:t>			</a:t>
            </a:r>
            <a:r>
              <a:rPr lang="en-US" sz="2000" dirty="0" err="1">
                <a:latin typeface="Helvetica Light" panose="020B0403020202020204" pitchFamily="34" charset="0"/>
              </a:rPr>
              <a:t>ls</a:t>
            </a:r>
            <a:r>
              <a:rPr lang="en-US" sz="2000" dirty="0">
                <a:latin typeface="Helvetica Light" panose="020B0403020202020204" pitchFamily="34" charset="0"/>
              </a:rPr>
              <a:t> -l</a:t>
            </a:r>
          </a:p>
          <a:p>
            <a:r>
              <a:rPr lang="en-US" sz="2000" dirty="0">
                <a:latin typeface="Helvetica Light" panose="020B0403020202020204" pitchFamily="34" charset="0"/>
              </a:rPr>
              <a:t>			echo "home:"</a:t>
            </a:r>
          </a:p>
          <a:p>
            <a:r>
              <a:rPr lang="en-US" sz="2000" dirty="0">
                <a:latin typeface="Helvetica Light" panose="020B0403020202020204" pitchFamily="34" charset="0"/>
              </a:rPr>
              <a:t>			</a:t>
            </a:r>
            <a:r>
              <a:rPr lang="en-US" sz="2000" dirty="0" err="1">
                <a:latin typeface="Helvetica Light" panose="020B0403020202020204" pitchFamily="34" charset="0"/>
              </a:rPr>
              <a:t>pwd</a:t>
            </a:r>
            <a:endParaRPr lang="en-US" sz="2000" dirty="0">
              <a:latin typeface="Helvetica Light" panose="020B0403020202020204" pitchFamily="34" charset="0"/>
            </a:endParaRPr>
          </a:p>
          <a:p>
            <a:r>
              <a:rPr lang="en-US" sz="2000" dirty="0">
                <a:latin typeface="Helvetica Light" panose="020B0403020202020204" pitchFamily="34" charset="0"/>
              </a:rPr>
              <a:t>			echo "Today:"</a:t>
            </a:r>
          </a:p>
          <a:p>
            <a:r>
              <a:rPr lang="en-US" sz="2000" dirty="0">
                <a:latin typeface="Helvetica Light" panose="020B0403020202020204" pitchFamily="34" charset="0"/>
              </a:rPr>
              <a:t>			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172" y="3932507"/>
            <a:ext cx="397256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Save this in a text file, simple2.sh</a:t>
            </a:r>
          </a:p>
          <a:p>
            <a:endParaRPr lang="en-US" sz="2000" dirty="0">
              <a:latin typeface="Helvetica Light" panose="020B0403020202020204" pitchFamily="34" charset="0"/>
            </a:endParaRPr>
          </a:p>
          <a:p>
            <a:r>
              <a:rPr lang="en-US" sz="2000" dirty="0">
                <a:latin typeface="Helvetica Light" panose="020B0403020202020204" pitchFamily="34" charset="0"/>
              </a:rPr>
              <a:t>From the command line:</a:t>
            </a:r>
          </a:p>
          <a:p>
            <a:r>
              <a:rPr lang="en-US" sz="2000" b="1" dirty="0">
                <a:latin typeface="Helvetica Light" panose="020B0403020202020204" pitchFamily="34" charset="0"/>
              </a:rPr>
              <a:t>$ </a:t>
            </a:r>
            <a:r>
              <a:rPr lang="en-US" sz="2000" b="1" dirty="0" err="1">
                <a:latin typeface="Helvetica Light" panose="020B0403020202020204" pitchFamily="34" charset="0"/>
              </a:rPr>
              <a:t>zsh</a:t>
            </a:r>
            <a:r>
              <a:rPr lang="en-US" sz="2000" b="1" dirty="0">
                <a:latin typeface="Helvetica Light" panose="020B0403020202020204" pitchFamily="34" charset="0"/>
              </a:rPr>
              <a:t> simple2.sh</a:t>
            </a:r>
          </a:p>
        </p:txBody>
      </p:sp>
    </p:spTree>
    <p:extLst>
      <p:ext uri="{BB962C8B-B14F-4D97-AF65-F5344CB8AC3E}">
        <p14:creationId xmlns:p14="http://schemas.microsoft.com/office/powerpoint/2010/main" val="1178177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4706" y="1109009"/>
            <a:ext cx="5559717" cy="2862322"/>
          </a:xfrm>
          <a:prstGeom prst="rect">
            <a:avLst/>
          </a:prstGeom>
          <a:ln>
            <a:solidFill>
              <a:srgbClr val="80000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#!/bin/</a:t>
            </a:r>
            <a:r>
              <a:rPr lang="en-US" sz="2000" dirty="0" err="1">
                <a:latin typeface="Helvetica Light" panose="020B0403020202020204" pitchFamily="34" charset="0"/>
              </a:rPr>
              <a:t>zsh</a:t>
            </a:r>
            <a:r>
              <a:rPr lang="en-US" sz="2000" dirty="0">
                <a:latin typeface="Helvetica Light" panose="020B0403020202020204" pitchFamily="34" charset="0"/>
              </a:rPr>
              <a:t>          </a:t>
            </a:r>
          </a:p>
          <a:p>
            <a:r>
              <a:rPr lang="en-US" sz="2000" dirty="0">
                <a:latin typeface="Helvetica Light" panose="020B0403020202020204" pitchFamily="34" charset="0"/>
              </a:rPr>
              <a:t>            echo "The script starts now"</a:t>
            </a:r>
          </a:p>
          <a:p>
            <a:r>
              <a:rPr lang="en-US" sz="2000" dirty="0">
                <a:latin typeface="Helvetica Light" panose="020B0403020202020204" pitchFamily="34" charset="0"/>
              </a:rPr>
              <a:t>            echo "Hi, $USER!"</a:t>
            </a:r>
          </a:p>
          <a:p>
            <a:r>
              <a:rPr lang="en-US" sz="2000" dirty="0">
                <a:latin typeface="Helvetica Light" panose="020B0403020202020204" pitchFamily="34" charset="0"/>
              </a:rPr>
              <a:t>            echo "I am setting two variables"</a:t>
            </a:r>
          </a:p>
          <a:p>
            <a:r>
              <a:rPr lang="en-US" sz="2000" dirty="0">
                <a:latin typeface="Helvetica Light" panose="020B0403020202020204" pitchFamily="34" charset="0"/>
              </a:rPr>
              <a:t>            COLOR="black"</a:t>
            </a:r>
          </a:p>
          <a:p>
            <a:r>
              <a:rPr lang="en-US" sz="2000" dirty="0">
                <a:latin typeface="Helvetica Light" panose="020B0403020202020204" pitchFamily="34" charset="0"/>
              </a:rPr>
              <a:t>            VALUE="9"</a:t>
            </a:r>
          </a:p>
          <a:p>
            <a:r>
              <a:rPr lang="en-US" sz="2000" dirty="0">
                <a:latin typeface="Helvetica Light" panose="020B0403020202020204" pitchFamily="34" charset="0"/>
              </a:rPr>
              <a:t>            echo "This is a string: $COLOR"</a:t>
            </a:r>
          </a:p>
          <a:p>
            <a:r>
              <a:rPr lang="en-US" sz="2000" dirty="0">
                <a:latin typeface="Helvetica Light" panose="020B0403020202020204" pitchFamily="34" charset="0"/>
              </a:rPr>
              <a:t>	     echo "And this is a number: $VALUE"</a:t>
            </a:r>
          </a:p>
          <a:p>
            <a:r>
              <a:rPr lang="en-US" sz="2000" dirty="0">
                <a:latin typeface="Helvetica Light" panose="020B0403020202020204" pitchFamily="34" charset="0"/>
              </a:rPr>
              <a:t>	     echo "We are now done"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1236" y="237063"/>
            <a:ext cx="53415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Simplest bash scripts continued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2597" y="1811862"/>
            <a:ext cx="268535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Save this as simple3.sh</a:t>
            </a:r>
          </a:p>
          <a:p>
            <a:endParaRPr lang="en-US" dirty="0">
              <a:latin typeface="Helvetica Light" panose="020B0403020202020204" pitchFamily="34" charset="0"/>
            </a:endParaRPr>
          </a:p>
          <a:p>
            <a:r>
              <a:rPr lang="en-US" dirty="0">
                <a:latin typeface="Helvetica Light" panose="020B0403020202020204" pitchFamily="34" charset="0"/>
              </a:rPr>
              <a:t>From the command line:</a:t>
            </a:r>
          </a:p>
          <a:p>
            <a:endParaRPr lang="en-US" dirty="0">
              <a:latin typeface="Helvetica Light" panose="020B0403020202020204" pitchFamily="34" charset="0"/>
            </a:endParaRPr>
          </a:p>
          <a:p>
            <a:r>
              <a:rPr lang="en-US" dirty="0">
                <a:latin typeface="Helvetica Light" panose="020B0403020202020204" pitchFamily="34" charset="0"/>
              </a:rPr>
              <a:t>$ </a:t>
            </a:r>
            <a:r>
              <a:rPr lang="en-US" dirty="0" err="1">
                <a:latin typeface="Helvetica Light" panose="020B0403020202020204" pitchFamily="34" charset="0"/>
              </a:rPr>
              <a:t>zsh</a:t>
            </a:r>
            <a:r>
              <a:rPr lang="en-US" dirty="0">
                <a:latin typeface="Helvetica Light" panose="020B0403020202020204" pitchFamily="34" charset="0"/>
              </a:rPr>
              <a:t> simple3.sh</a:t>
            </a:r>
          </a:p>
        </p:txBody>
      </p:sp>
    </p:spTree>
    <p:extLst>
      <p:ext uri="{BB962C8B-B14F-4D97-AF65-F5344CB8AC3E}">
        <p14:creationId xmlns:p14="http://schemas.microsoft.com/office/powerpoint/2010/main" val="1228729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64A9D9-D2A0-5640-A20C-9CE223DDBD67}"/>
              </a:ext>
            </a:extLst>
          </p:cNvPr>
          <p:cNvSpPr/>
          <p:nvPr/>
        </p:nvSpPr>
        <p:spPr>
          <a:xfrm>
            <a:off x="908746" y="3682093"/>
            <a:ext cx="4684296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Change the script to executable:</a:t>
            </a:r>
          </a:p>
          <a:p>
            <a:endParaRPr lang="en-US" sz="2400" b="1" dirty="0">
              <a:latin typeface="Helvetica Light" panose="020B0403020202020204" pitchFamily="34" charset="0"/>
            </a:endParaRPr>
          </a:p>
          <a:p>
            <a:r>
              <a:rPr lang="en-US" sz="2400" b="1" dirty="0">
                <a:latin typeface="Helvetica Light" panose="020B0403020202020204" pitchFamily="34" charset="0"/>
              </a:rPr>
              <a:t>$ </a:t>
            </a:r>
            <a:r>
              <a:rPr lang="en-US" sz="2400" b="1" dirty="0" err="1">
                <a:latin typeface="Helvetica Light" panose="020B0403020202020204" pitchFamily="34" charset="0"/>
              </a:rPr>
              <a:t>chmod</a:t>
            </a:r>
            <a:r>
              <a:rPr lang="en-US" sz="2400" b="1" dirty="0">
                <a:latin typeface="Helvetica Light" panose="020B0403020202020204" pitchFamily="34" charset="0"/>
              </a:rPr>
              <a:t> </a:t>
            </a:r>
            <a:r>
              <a:rPr lang="en-US" sz="2400" b="1" dirty="0" err="1">
                <a:latin typeface="Helvetica Light" panose="020B0403020202020204" pitchFamily="34" charset="0"/>
              </a:rPr>
              <a:t>a+x</a:t>
            </a:r>
            <a:r>
              <a:rPr lang="en-US" sz="2400" b="1" dirty="0">
                <a:latin typeface="Helvetica Light" panose="020B0403020202020204" pitchFamily="34" charset="0"/>
              </a:rPr>
              <a:t> </a:t>
            </a:r>
            <a:r>
              <a:rPr lang="en-US" sz="2400" b="1" dirty="0" err="1">
                <a:latin typeface="Helvetica Light" panose="020B0403020202020204" pitchFamily="34" charset="0"/>
              </a:rPr>
              <a:t>mybash_script.sh</a:t>
            </a:r>
            <a:endParaRPr lang="en-US" sz="2400" b="1" dirty="0">
              <a:latin typeface="Helvetica Light" panose="020B0403020202020204" pitchFamily="34" charset="0"/>
            </a:endParaRPr>
          </a:p>
          <a:p>
            <a:endParaRPr lang="en-US" sz="2400" b="1" dirty="0">
              <a:latin typeface="Helvetica Light" panose="020B0403020202020204" pitchFamily="34" charset="0"/>
            </a:endParaRPr>
          </a:p>
          <a:p>
            <a:r>
              <a:rPr lang="en-US" sz="2400" b="1" dirty="0">
                <a:latin typeface="Helvetica Light" panose="020B0403020202020204" pitchFamily="34" charset="0"/>
              </a:rPr>
              <a:t>$ ./</a:t>
            </a:r>
            <a:r>
              <a:rPr lang="en-US" sz="2400" b="1" dirty="0" err="1">
                <a:latin typeface="Helvetica Light" panose="020B0403020202020204" pitchFamily="34" charset="0"/>
              </a:rPr>
              <a:t>mybash_script.sh</a:t>
            </a:r>
            <a:endParaRPr lang="en-US" sz="2400" b="1" dirty="0">
              <a:latin typeface="Helvetica Light" panose="020B0403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0E03A0-A82F-4545-83CB-9800DBF4A125}"/>
              </a:ext>
            </a:extLst>
          </p:cNvPr>
          <p:cNvSpPr/>
          <p:nvPr/>
        </p:nvSpPr>
        <p:spPr>
          <a:xfrm>
            <a:off x="908746" y="1458686"/>
            <a:ext cx="647965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Specify the interpreter from the command line</a:t>
            </a:r>
          </a:p>
          <a:p>
            <a:endParaRPr lang="en-US" sz="2400" b="1" dirty="0">
              <a:latin typeface="Helvetica Light" panose="020B0403020202020204" pitchFamily="34" charset="0"/>
            </a:endParaRPr>
          </a:p>
          <a:p>
            <a:r>
              <a:rPr lang="en-US" sz="2400" b="1" dirty="0">
                <a:latin typeface="Helvetica Light" panose="020B0403020202020204" pitchFamily="34" charset="0"/>
              </a:rPr>
              <a:t>$ </a:t>
            </a:r>
            <a:r>
              <a:rPr lang="en-US" sz="2400" b="1" dirty="0" err="1">
                <a:latin typeface="Helvetica Light" panose="020B0403020202020204" pitchFamily="34" charset="0"/>
              </a:rPr>
              <a:t>zsh</a:t>
            </a:r>
            <a:r>
              <a:rPr lang="en-US" sz="2400" b="1" dirty="0">
                <a:latin typeface="Helvetica Light" panose="020B0403020202020204" pitchFamily="34" charset="0"/>
              </a:rPr>
              <a:t> </a:t>
            </a:r>
            <a:r>
              <a:rPr lang="en-US" sz="2400" b="1" dirty="0" err="1">
                <a:latin typeface="Helvetica Light" panose="020B0403020202020204" pitchFamily="34" charset="0"/>
              </a:rPr>
              <a:t>mybash_script.sh</a:t>
            </a:r>
            <a:endParaRPr lang="en-US" sz="2400" b="1" dirty="0">
              <a:latin typeface="Helvetica Light" panose="020B0403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53C886-734D-0847-8D2E-B3772D7B1891}"/>
              </a:ext>
            </a:extLst>
          </p:cNvPr>
          <p:cNvSpPr txBox="1"/>
          <p:nvPr/>
        </p:nvSpPr>
        <p:spPr>
          <a:xfrm>
            <a:off x="1901236" y="237063"/>
            <a:ext cx="50417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Two ways you can run scripts:</a:t>
            </a:r>
          </a:p>
        </p:txBody>
      </p:sp>
    </p:spTree>
    <p:extLst>
      <p:ext uri="{BB962C8B-B14F-4D97-AF65-F5344CB8AC3E}">
        <p14:creationId xmlns:p14="http://schemas.microsoft.com/office/powerpoint/2010/main" val="17230003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0F0F13-2A98-C547-8F49-FADDA69A98EB}"/>
              </a:ext>
            </a:extLst>
          </p:cNvPr>
          <p:cNvSpPr txBox="1"/>
          <p:nvPr/>
        </p:nvSpPr>
        <p:spPr>
          <a:xfrm>
            <a:off x="651641" y="378372"/>
            <a:ext cx="565411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Week 3 primer and assignment: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A2DB02-DA85-1747-AEF9-A09352AB64A2}"/>
              </a:ext>
            </a:extLst>
          </p:cNvPr>
          <p:cNvSpPr txBox="1"/>
          <p:nvPr/>
        </p:nvSpPr>
        <p:spPr>
          <a:xfrm>
            <a:off x="374054" y="1124413"/>
            <a:ext cx="863115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2200" dirty="0">
                <a:latin typeface="Helvetica Light" panose="020B0403020202020204" pitchFamily="34" charset="0"/>
              </a:rPr>
              <a:t>Unix commands involved: </a:t>
            </a:r>
            <a:r>
              <a:rPr lang="en-US" sz="2200" b="1" dirty="0">
                <a:latin typeface="Helvetica Light" panose="020B0403020202020204" pitchFamily="34" charset="0"/>
              </a:rPr>
              <a:t>split</a:t>
            </a:r>
            <a:r>
              <a:rPr lang="en-US" sz="2200" dirty="0">
                <a:latin typeface="Helvetica Light" panose="020B0403020202020204" pitchFamily="34" charset="0"/>
              </a:rPr>
              <a:t>, </a:t>
            </a:r>
            <a:r>
              <a:rPr lang="en-US" sz="2200" b="1" dirty="0">
                <a:latin typeface="Helvetica Light" panose="020B0403020202020204" pitchFamily="34" charset="0"/>
              </a:rPr>
              <a:t>cat</a:t>
            </a:r>
            <a:r>
              <a:rPr lang="en-US" sz="2200" dirty="0">
                <a:latin typeface="Helvetica Light" panose="020B0403020202020204" pitchFamily="34" charset="0"/>
              </a:rPr>
              <a:t>, </a:t>
            </a:r>
            <a:r>
              <a:rPr lang="en-US" sz="2200" b="1" dirty="0">
                <a:latin typeface="Helvetica Light" panose="020B0403020202020204" pitchFamily="34" charset="0"/>
              </a:rPr>
              <a:t>head</a:t>
            </a:r>
            <a:r>
              <a:rPr lang="en-US" sz="2200" dirty="0">
                <a:latin typeface="Helvetica Light" panose="020B0403020202020204" pitchFamily="34" charset="0"/>
              </a:rPr>
              <a:t>, </a:t>
            </a:r>
            <a:r>
              <a:rPr lang="en-US" sz="2200" b="1" dirty="0">
                <a:latin typeface="Helvetica Light" panose="020B0403020202020204" pitchFamily="34" charset="0"/>
              </a:rPr>
              <a:t>tail</a:t>
            </a:r>
            <a:r>
              <a:rPr lang="en-US" sz="2200" dirty="0">
                <a:latin typeface="Helvetica Light" panose="020B0403020202020204" pitchFamily="34" charset="0"/>
              </a:rPr>
              <a:t>, </a:t>
            </a:r>
            <a:r>
              <a:rPr lang="en-US" sz="2200" b="1" dirty="0">
                <a:latin typeface="Helvetica Light" panose="020B0403020202020204" pitchFamily="34" charset="0"/>
              </a:rPr>
              <a:t>curl</a:t>
            </a:r>
            <a:r>
              <a:rPr lang="en-US" sz="2200" dirty="0">
                <a:latin typeface="Helvetica Light" panose="020B0403020202020204" pitchFamily="34" charset="0"/>
              </a:rPr>
              <a:t>, </a:t>
            </a:r>
            <a:r>
              <a:rPr lang="en-US" sz="2200" b="1" dirty="0" err="1">
                <a:latin typeface="Helvetica Light" panose="020B0403020202020204" pitchFamily="34" charset="0"/>
              </a:rPr>
              <a:t>wget</a:t>
            </a:r>
            <a:r>
              <a:rPr lang="en-US" sz="2200" dirty="0">
                <a:latin typeface="Helvetica Light" panose="020B0403020202020204" pitchFamily="34" charset="0"/>
              </a:rPr>
              <a:t>, </a:t>
            </a:r>
            <a:r>
              <a:rPr lang="en-US" sz="2200" b="1" dirty="0">
                <a:latin typeface="Helvetica Light" panose="020B0403020202020204" pitchFamily="34" charset="0"/>
              </a:rPr>
              <a:t>grep</a:t>
            </a:r>
            <a:r>
              <a:rPr lang="en-US" sz="2200" dirty="0">
                <a:latin typeface="Helvetica Light" panose="020B0403020202020204" pitchFamily="34" charset="0"/>
              </a:rPr>
              <a:t>, </a:t>
            </a:r>
            <a:r>
              <a:rPr lang="en-US" sz="2200" b="1" dirty="0">
                <a:latin typeface="Helvetica Light" panose="020B0403020202020204" pitchFamily="34" charset="0"/>
              </a:rPr>
              <a:t>tr</a:t>
            </a:r>
          </a:p>
          <a:p>
            <a:pPr marL="514350" indent="-514350">
              <a:buAutoNum type="arabicPeriod"/>
            </a:pPr>
            <a:endParaRPr lang="en-US" sz="2200" b="1" dirty="0">
              <a:latin typeface="Helvetica Light" panose="020B0403020202020204" pitchFamily="34" charset="0"/>
            </a:endParaRPr>
          </a:p>
          <a:p>
            <a:pPr marL="514350" indent="-514350">
              <a:buFontTx/>
              <a:buAutoNum type="arabicPeriod"/>
            </a:pPr>
            <a:r>
              <a:rPr lang="en-US" sz="2200" dirty="0">
                <a:latin typeface="Helvetica Light" panose="020B0403020202020204" pitchFamily="34" charset="0"/>
              </a:rPr>
              <a:t>Turn in text file with commands from assignment by Monday evening (each week assignments will be due at this time). </a:t>
            </a:r>
            <a:r>
              <a:rPr lang="en-US" sz="2200" b="1" i="1" dirty="0">
                <a:latin typeface="Helvetica Light" panose="020B0403020202020204" pitchFamily="34" charset="0"/>
              </a:rPr>
              <a:t>Ideally use markdown for this……</a:t>
            </a:r>
            <a:r>
              <a:rPr lang="en-US" sz="2200" dirty="0">
                <a:latin typeface="Helvetica Light" panose="020B0403020202020204" pitchFamily="34" charset="0"/>
              </a:rPr>
              <a:t> </a:t>
            </a:r>
          </a:p>
          <a:p>
            <a:pPr marL="514350" indent="-514350">
              <a:buFontTx/>
              <a:buAutoNum type="arabicPeriod"/>
            </a:pPr>
            <a:endParaRPr lang="en-US" sz="2200" i="1" u="sng" dirty="0">
              <a:latin typeface="Helvetica Light" panose="020B0403020202020204" pitchFamily="34" charset="0"/>
            </a:endParaRPr>
          </a:p>
          <a:p>
            <a:pPr marL="514350" indent="-514350">
              <a:buFontTx/>
              <a:buAutoNum type="arabicPeriod"/>
            </a:pPr>
            <a:endParaRPr lang="en-US" sz="2200" i="1" u="sng" dirty="0">
              <a:latin typeface="Helvetica Light" panose="020B0403020202020204" pitchFamily="34" charset="0"/>
            </a:endParaRPr>
          </a:p>
          <a:p>
            <a:pPr marL="514350" indent="-514350">
              <a:buFontTx/>
              <a:buAutoNum type="arabicPeriod"/>
            </a:pPr>
            <a:r>
              <a:rPr lang="en-US" sz="2200" dirty="0">
                <a:latin typeface="Helvetica Light" panose="020B0403020202020204" pitchFamily="34" charset="0"/>
              </a:rPr>
              <a:t>Fields in assignment requiring solutions will be marked:</a:t>
            </a:r>
          </a:p>
          <a:p>
            <a:pPr lvl="1"/>
            <a:r>
              <a:rPr lang="en-US" sz="2200" dirty="0">
                <a:latin typeface="Helvetica Light" panose="020B0403020202020204" pitchFamily="34" charset="0"/>
              </a:rPr>
              <a:t>	 </a:t>
            </a:r>
          </a:p>
        </p:txBody>
      </p:sp>
      <p:pic>
        <p:nvPicPr>
          <p:cNvPr id="7" name="Picture 6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B3868D16-9A1E-6845-8E90-0A0EE1720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585" y="4347492"/>
            <a:ext cx="7432830" cy="2251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483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33329</TotalTime>
  <Words>1386</Words>
  <Application>Microsoft Macintosh PowerPoint</Application>
  <PresentationFormat>On-screen Show (4:3)</PresentationFormat>
  <Paragraphs>188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-apple-system</vt:lpstr>
      <vt:lpstr>Arial</vt:lpstr>
      <vt:lpstr>Calibri</vt:lpstr>
      <vt:lpstr>Courier New</vt:lpstr>
      <vt:lpstr>Helvetica Light</vt:lpstr>
      <vt:lpstr>Helvetica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Nevada Reno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 Parchman</dc:creator>
  <cp:lastModifiedBy>Thomas L Parchman</cp:lastModifiedBy>
  <cp:revision>169</cp:revision>
  <dcterms:created xsi:type="dcterms:W3CDTF">2014-08-13T21:22:38Z</dcterms:created>
  <dcterms:modified xsi:type="dcterms:W3CDTF">2026-09-08T17:48:32Z</dcterms:modified>
</cp:coreProperties>
</file>