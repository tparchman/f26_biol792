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9" r:id="rId3"/>
    <p:sldId id="300" r:id="rId4"/>
    <p:sldId id="261" r:id="rId5"/>
    <p:sldId id="301" r:id="rId6"/>
    <p:sldId id="260" r:id="rId7"/>
    <p:sldId id="268" r:id="rId8"/>
    <p:sldId id="269" r:id="rId9"/>
    <p:sldId id="270" r:id="rId10"/>
    <p:sldId id="304" r:id="rId11"/>
    <p:sldId id="280" r:id="rId12"/>
    <p:sldId id="281" r:id="rId13"/>
    <p:sldId id="284" r:id="rId14"/>
    <p:sldId id="305" r:id="rId15"/>
    <p:sldId id="306" r:id="rId16"/>
    <p:sldId id="257" r:id="rId17"/>
    <p:sldId id="298" r:id="rId18"/>
    <p:sldId id="2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40"/>
    <p:restoredTop sz="96301"/>
  </p:normalViewPr>
  <p:slideViewPr>
    <p:cSldViewPr snapToGrid="0" snapToObjects="1">
      <p:cViewPr varScale="1">
        <p:scale>
          <a:sx n="116" d="100"/>
          <a:sy n="116" d="100"/>
        </p:scale>
        <p:origin x="20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77398-3147-2349-91B4-8DD464C64BCA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3CC19-939B-124D-AEB5-0A0C0D7E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50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09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9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32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11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ADD6A-EC06-D14C-8D1D-18FC362807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9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ADD6A-EC06-D14C-8D1D-18FC362807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75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08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AC52-CB45-1649-A5EB-B5CF5A3F0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78E9D-C946-7A4C-BF8A-A3EBB35F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6166-02E5-7E48-ABFF-46975656F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9ADA-4759-6640-8030-BF59E32D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92F1B-E422-FA4E-BB44-06168A50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7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5E69-8338-254E-8CB3-0AD781CE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F2BA0-BB82-FB41-9875-80607573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96E44-51FF-E448-BB1A-64D69E3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B8095-2CFE-2142-BCE0-53D0AB86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2C08A-3E24-3A48-BAF0-6ED32C6F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7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1160-8C44-AD4D-A8FC-A902B52C4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43547-0854-2A48-A8E4-49C0F08D6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012E7-A8B9-4C4D-A582-46905F3B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DBFC0-F547-ED45-BC46-EE531F25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2DE46-4008-C740-A5E6-4751DAAE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6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2C79-C0DA-5D4A-B623-F86683A42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528E3-584E-5446-AB18-C41851557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23828-D36F-5A4B-9531-29AB9D2BD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A7106-EF07-6944-9C4D-9E64A5E4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C1322-F2CE-4F40-95E4-6002A2D8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D561D-479C-ED4B-A607-89A07A37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2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BE64-87ED-074A-885A-47F4550D6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1EE5E-23A8-6F46-9416-FB3F27D13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E83D5-ECA7-9241-AB62-5865B02EB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B87C9-900D-6441-80BF-16A24478F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5A0EC-8846-B84C-B1A8-519BA673D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8976A-FB57-2C47-8B02-41354D20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014E1-B8E5-504F-9082-9661A937E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58CF4-6692-FB49-851F-8CD767ED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0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9AB3-B693-8C43-B380-3032E709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042C3-7D43-1C46-A244-6ED4676F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0058E-E573-E747-A4EB-43FAE07D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892F4-45F0-7F4F-AF80-C9763503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0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4FB97-29A8-BB4F-8E88-EC94F4D0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49ED1-F055-DC43-B449-BEE1EDFA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FC88B-D1BC-C848-933C-25838CEC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6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B21D-B04E-CD47-820A-933D2B92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99CA-70A6-674F-9AA5-C6E33C201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0C7BD-1368-8F4D-89A8-581FAF8C7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00B65-5B56-EA4E-822C-12938824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F5739-E635-AB42-A028-B278F630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9AFFE-663D-0F46-97B4-1971EAE3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4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5B5F-093B-7D4E-99F7-F87CCCA3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AB09E-5DDD-9447-B3CC-06C03ACD2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B95A2-5B04-554A-824D-CF2D2FD63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C7B56-1408-4B46-A30D-3FD6FCC4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10950-AC5D-4543-A022-8E6C21CE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C943-2D9A-3246-A7C7-125F15E8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85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4A5C-C2B1-D849-AAE4-4633476E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6A700-22C5-BE41-A1C7-C61E5CA1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B2EE-11C3-BF4F-84CA-D3029C01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55669-F17E-BE42-9E3C-BFEB4F48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1771-419A-5840-AD78-695F0CE0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1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CADF0-14B8-DE4F-8F9E-7C49F5DB8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1B6C-9A82-1049-9B44-0E5CF50E1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112F-A19D-284F-B6AE-3D78ED14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AB3CD-1B48-4F48-9786-422BB15A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A4695-26F4-D741-B753-A435D632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3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A9701-7235-5043-BD0A-3A8DAB29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5391-72DC-D047-9FD1-4B9549494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38E62-EECD-A847-9806-E9C1757CA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F0107-2D27-914A-9F22-DFB09E04F050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70979-A224-D14F-989C-CB295CC8B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5D838-C43C-8B4C-9943-2B0BEFEFB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0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945453" y="1182231"/>
            <a:ext cx="714169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I. </a:t>
            </a:r>
            <a:r>
              <a:rPr lang="en-US" sz="2600" dirty="0">
                <a:latin typeface="Helvetica Light" panose="020B0403020202020204" pitchFamily="34" charset="0"/>
              </a:rPr>
              <a:t>$PATH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II. </a:t>
            </a:r>
            <a:r>
              <a:rPr lang="en-US" sz="2600" dirty="0">
                <a:latin typeface="Helvetica Light" panose="020B0403020202020204" pitchFamily="34" charset="0"/>
              </a:rPr>
              <a:t>Rapid text processing</a:t>
            </a:r>
          </a:p>
          <a:p>
            <a:r>
              <a:rPr lang="en-US" sz="2600" dirty="0">
                <a:latin typeface="Helvetica Light" panose="020B0403020202020204" pitchFamily="34" charset="0"/>
              </a:rPr>
              <a:t>(</a:t>
            </a:r>
            <a:r>
              <a:rPr lang="en-US" sz="2600" b="1" dirty="0">
                <a:latin typeface="Helvetica Light" panose="020B0403020202020204" pitchFamily="34" charset="0"/>
              </a:rPr>
              <a:t>tr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b="1" dirty="0">
                <a:latin typeface="Helvetica Light" panose="020B0403020202020204" pitchFamily="34" charset="0"/>
              </a:rPr>
              <a:t>sed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b="1" dirty="0">
                <a:latin typeface="Helvetica Light" panose="020B0403020202020204" pitchFamily="34" charset="0"/>
              </a:rPr>
              <a:t>awk</a:t>
            </a:r>
            <a:r>
              <a:rPr lang="en-US" sz="2600" dirty="0">
                <a:latin typeface="Helvetica Light" panose="020B0403020202020204" pitchFamily="34" charset="0"/>
              </a:rPr>
              <a:t>; more detail on </a:t>
            </a:r>
            <a:r>
              <a:rPr lang="en-US" sz="2600" b="1" dirty="0">
                <a:latin typeface="Helvetica Light" panose="020B0403020202020204" pitchFamily="34" charset="0"/>
              </a:rPr>
              <a:t>grep</a:t>
            </a:r>
            <a:r>
              <a:rPr lang="en-US" sz="2600" dirty="0">
                <a:latin typeface="Helvetica Light" panose="020B0403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III. </a:t>
            </a:r>
            <a:r>
              <a:rPr lang="en-US" sz="2600" dirty="0">
                <a:latin typeface="Helvetica Light" panose="020B0403020202020204" pitchFamily="34" charset="0"/>
              </a:rPr>
              <a:t>Line endings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IV. </a:t>
            </a:r>
            <a:r>
              <a:rPr lang="en-US" sz="2600" dirty="0">
                <a:latin typeface="Helvetica Light" panose="020B0403020202020204" pitchFamily="34" charset="0"/>
              </a:rPr>
              <a:t>More on shell scripts: arguments and loops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2625929" y="343552"/>
            <a:ext cx="64636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Week 4: some more advanced Linux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B364D-5079-2E43-B88C-A46C35DAC4E5}"/>
              </a:ext>
            </a:extLst>
          </p:cNvPr>
          <p:cNvSpPr txBox="1"/>
          <p:nvPr/>
        </p:nvSpPr>
        <p:spPr>
          <a:xfrm>
            <a:off x="441018" y="6187473"/>
            <a:ext cx="507863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Bradnam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 and Korf primer U29-U40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22C78-12BF-8049-A004-AD24A12D54C7}"/>
              </a:ext>
            </a:extLst>
          </p:cNvPr>
          <p:cNvSpPr txBox="1"/>
          <p:nvPr/>
        </p:nvSpPr>
        <p:spPr>
          <a:xfrm>
            <a:off x="5783204" y="6187472"/>
            <a:ext cx="61879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LinuxIV_primer.md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, unix_assignment_4.md </a:t>
            </a:r>
          </a:p>
        </p:txBody>
      </p:sp>
    </p:spTree>
    <p:extLst>
      <p:ext uri="{BB962C8B-B14F-4D97-AF65-F5344CB8AC3E}">
        <p14:creationId xmlns:p14="http://schemas.microsoft.com/office/powerpoint/2010/main" val="318997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64385" y="1126044"/>
            <a:ext cx="1047624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1. Write a pipeline to 1. grab the information for transcripts on </a:t>
            </a:r>
            <a:r>
              <a:rPr lang="en-US" sz="2200" dirty="0" err="1">
                <a:latin typeface="Helvetica Light" panose="020B0403020202020204" pitchFamily="34" charset="0"/>
              </a:rPr>
              <a:t>chrIII</a:t>
            </a:r>
            <a:r>
              <a:rPr lang="en-US" sz="2200" dirty="0">
                <a:latin typeface="Helvetica Light" panose="020B0403020202020204" pitchFamily="34" charset="0"/>
              </a:rPr>
              <a:t>, 2. Grab only the first 100 of these, 3. grab the “feature” (3</a:t>
            </a:r>
            <a:r>
              <a:rPr lang="en-US" sz="2200" baseline="30000" dirty="0">
                <a:latin typeface="Helvetica Light" panose="020B0403020202020204" pitchFamily="34" charset="0"/>
              </a:rPr>
              <a:t>rd</a:t>
            </a:r>
            <a:r>
              <a:rPr lang="en-US" sz="2200" dirty="0">
                <a:latin typeface="Helvetica Light" panose="020B0403020202020204" pitchFamily="34" charset="0"/>
              </a:rPr>
              <a:t> field) field, and 4. Write to a file.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$ </a:t>
            </a:r>
            <a:r>
              <a:rPr lang="en-US" sz="2200" b="1" dirty="0" err="1">
                <a:latin typeface="Helvetica Light" panose="020B0403020202020204" pitchFamily="34" charset="0"/>
              </a:rPr>
              <a:t>grep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b="1" dirty="0" err="1">
                <a:latin typeface="Helvetica Light" panose="020B0403020202020204" pitchFamily="34" charset="0"/>
              </a:rPr>
              <a:t>chrIII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b="1" dirty="0">
                <a:latin typeface="Helvetica Light" panose="020B0403020202020204" pitchFamily="34" charset="0"/>
              </a:rPr>
              <a:t> | head –n 100 | cut -f 3 &gt; </a:t>
            </a:r>
            <a:r>
              <a:rPr lang="en-US" sz="2200" b="1" dirty="0" err="1">
                <a:latin typeface="Helvetica Light" panose="020B0403020202020204" pitchFamily="34" charset="0"/>
              </a:rPr>
              <a:t>features.txt</a:t>
            </a:r>
            <a:endParaRPr lang="en-US" sz="2200" b="1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FDE10-E745-8F46-A00C-41F947B2980E}"/>
              </a:ext>
            </a:extLst>
          </p:cNvPr>
          <p:cNvSpPr txBox="1"/>
          <p:nvPr/>
        </p:nvSpPr>
        <p:spPr>
          <a:xfrm>
            <a:off x="3857246" y="210879"/>
            <a:ext cx="44775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From unix_assignment3:</a:t>
            </a:r>
          </a:p>
          <a:p>
            <a:endParaRPr lang="en-US" dirty="0">
              <a:latin typeface="Helvetica Light" panose="020B04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73CEE-A315-C849-A416-4C799FA367FC}"/>
              </a:ext>
            </a:extLst>
          </p:cNvPr>
          <p:cNvSpPr/>
          <p:nvPr/>
        </p:nvSpPr>
        <p:spPr>
          <a:xfrm>
            <a:off x="964385" y="2995316"/>
            <a:ext cx="1018916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2. Write a pipeline to output the information for sequences on chromosome III that represent CDS.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$ grep "</a:t>
            </a:r>
            <a:r>
              <a:rPr lang="en-US" sz="2200" b="1" dirty="0" err="1">
                <a:latin typeface="Helvetica Light" panose="020B0403020202020204" pitchFamily="34" charset="0"/>
              </a:rPr>
              <a:t>chrIII</a:t>
            </a:r>
            <a:r>
              <a:rPr lang="en-US" sz="2200" b="1" dirty="0">
                <a:latin typeface="Helvetica Light" panose="020B0403020202020204" pitchFamily="34" charset="0"/>
              </a:rPr>
              <a:t>" </a:t>
            </a:r>
            <a:r>
              <a:rPr lang="en-US" sz="22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b="1" dirty="0">
                <a:latin typeface="Helvetica Light" panose="020B0403020202020204" pitchFamily="34" charset="0"/>
              </a:rPr>
              <a:t> | grep CDS | less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D51D8-73CA-A24C-A2E0-2F1754FFDBB4}"/>
              </a:ext>
            </a:extLst>
          </p:cNvPr>
          <p:cNvSpPr/>
          <p:nvPr/>
        </p:nvSpPr>
        <p:spPr>
          <a:xfrm>
            <a:off x="964385" y="4876780"/>
            <a:ext cx="1047624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3. Write out a file that lists in sorted order, all of the unique feature categories in </a:t>
            </a:r>
            <a:r>
              <a:rPr lang="en-US" sz="2200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dirty="0">
                <a:latin typeface="Helvetica Light" panose="020B0403020202020204" pitchFamily="34" charset="0"/>
              </a:rPr>
              <a:t>. 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Helvetica Light" panose="020B0403020202020204" pitchFamily="34" charset="0"/>
              </a:rPr>
              <a:t>$ cut -f 3 </a:t>
            </a:r>
            <a:r>
              <a:rPr lang="en-US" sz="22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b="1" dirty="0">
                <a:latin typeface="Helvetica Light" panose="020B0403020202020204" pitchFamily="34" charset="0"/>
              </a:rPr>
              <a:t> | sort | </a:t>
            </a:r>
            <a:r>
              <a:rPr lang="en-US" sz="2200" b="1" dirty="0" err="1">
                <a:latin typeface="Helvetica Light" panose="020B0403020202020204" pitchFamily="34" charset="0"/>
              </a:rPr>
              <a:t>uniq</a:t>
            </a:r>
            <a:endParaRPr lang="en-US" sz="22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9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91FDE-1247-F64A-BFC5-0E58A6657807}"/>
              </a:ext>
            </a:extLst>
          </p:cNvPr>
          <p:cNvSpPr txBox="1"/>
          <p:nvPr/>
        </p:nvSpPr>
        <p:spPr>
          <a:xfrm>
            <a:off x="1143361" y="1597282"/>
            <a:ext cx="99052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Bash script to backup local directory to an external drive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D47716-3A32-5041-BCC2-1F957C9415F5}"/>
              </a:ext>
            </a:extLst>
          </p:cNvPr>
          <p:cNvSpPr/>
          <p:nvPr/>
        </p:nvSpPr>
        <p:spPr>
          <a:xfrm>
            <a:off x="1716433" y="2454404"/>
            <a:ext cx="8759129" cy="138499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#!/bin/</a:t>
            </a:r>
            <a:r>
              <a:rPr lang="en-US" sz="2800" dirty="0" err="1">
                <a:latin typeface="Helvetica Light" panose="020B0403020202020204" pitchFamily="34" charset="0"/>
              </a:rPr>
              <a:t>zsh</a:t>
            </a:r>
            <a:endParaRPr lang="en-US" sz="2800" dirty="0">
              <a:latin typeface="Helvetica Light" panose="020B0403020202020204" pitchFamily="34" charset="0"/>
            </a:endParaRP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 err="1">
                <a:latin typeface="Helvetica Light" panose="020B0403020202020204" pitchFamily="34" charset="0"/>
              </a:rPr>
              <a:t>rsync</a:t>
            </a:r>
            <a:r>
              <a:rPr lang="en-US" sz="2800" dirty="0">
                <a:latin typeface="Helvetica Light" panose="020B0403020202020204" pitchFamily="34" charset="0"/>
              </a:rPr>
              <a:t> -av --delete </a:t>
            </a:r>
            <a:r>
              <a:rPr lang="en-US" sz="2800" dirty="0" err="1">
                <a:latin typeface="Helvetica Light" panose="020B0403020202020204" pitchFamily="34" charset="0"/>
              </a:rPr>
              <a:t>homedirectory</a:t>
            </a:r>
            <a:r>
              <a:rPr lang="en-US" sz="2800" dirty="0">
                <a:latin typeface="Helvetica Light" panose="020B0403020202020204" pitchFamily="34" charset="0"/>
              </a:rPr>
              <a:t> /Volumes/MYDRIVE/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B2CA7-C2A5-0649-A425-CC097460623C}"/>
              </a:ext>
            </a:extLst>
          </p:cNvPr>
          <p:cNvSpPr txBox="1"/>
          <p:nvPr/>
        </p:nvSpPr>
        <p:spPr>
          <a:xfrm>
            <a:off x="3857246" y="210879"/>
            <a:ext cx="44775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From unix_assignment3:</a:t>
            </a:r>
          </a:p>
          <a:p>
            <a:endParaRPr lang="en-US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83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5288" y="381119"/>
            <a:ext cx="4652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I. Stray from $PATH?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2403" y="3686518"/>
            <a:ext cx="1057841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echo $PATH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/</a:t>
            </a:r>
            <a:r>
              <a:rPr lang="en-US" sz="2800" dirty="0" err="1">
                <a:latin typeface="Helvetica Light" panose="020B0403020202020204" pitchFamily="34" charset="0"/>
              </a:rPr>
              <a:t>sw</a:t>
            </a:r>
            <a:r>
              <a:rPr lang="en-US" sz="2800" dirty="0">
                <a:latin typeface="Helvetica Light" panose="020B0403020202020204" pitchFamily="34" charset="0"/>
              </a:rPr>
              <a:t>/bin:/</a:t>
            </a:r>
            <a:r>
              <a:rPr lang="en-US" sz="2800" dirty="0" err="1">
                <a:latin typeface="Helvetica Light" panose="020B0403020202020204" pitchFamily="34" charset="0"/>
              </a:rPr>
              <a:t>sw</a:t>
            </a:r>
            <a:r>
              <a:rPr lang="en-US" sz="2800" dirty="0">
                <a:latin typeface="Helvetica Light" panose="020B0403020202020204" pitchFamily="34" charset="0"/>
              </a:rPr>
              <a:t>/</a:t>
            </a:r>
            <a:r>
              <a:rPr lang="en-US" sz="2800" dirty="0" err="1">
                <a:latin typeface="Helvetica Light" panose="020B0403020202020204" pitchFamily="34" charset="0"/>
              </a:rPr>
              <a:t>sbin</a:t>
            </a:r>
            <a:r>
              <a:rPr lang="en-US" sz="2800" dirty="0">
                <a:latin typeface="Helvetica Light" panose="020B0403020202020204" pitchFamily="34" charset="0"/>
              </a:rPr>
              <a:t>:/</a:t>
            </a:r>
            <a:r>
              <a:rPr lang="en-US" sz="2800" dirty="0" err="1">
                <a:latin typeface="Helvetica Light" panose="020B0403020202020204" pitchFamily="34" charset="0"/>
              </a:rPr>
              <a:t>usr</a:t>
            </a:r>
            <a:r>
              <a:rPr lang="en-US" sz="2800" dirty="0">
                <a:latin typeface="Helvetica Light" panose="020B0403020202020204" pitchFamily="34" charset="0"/>
              </a:rPr>
              <a:t>/bin:/bin:/</a:t>
            </a:r>
            <a:r>
              <a:rPr lang="en-US" sz="2800" dirty="0" err="1">
                <a:latin typeface="Helvetica Light" panose="020B0403020202020204" pitchFamily="34" charset="0"/>
              </a:rPr>
              <a:t>usr</a:t>
            </a:r>
            <a:r>
              <a:rPr lang="en-US" sz="2800" dirty="0">
                <a:latin typeface="Helvetica Light" panose="020B0403020202020204" pitchFamily="34" charset="0"/>
              </a:rPr>
              <a:t>/</a:t>
            </a:r>
            <a:r>
              <a:rPr lang="en-US" sz="2800" dirty="0" err="1">
                <a:latin typeface="Helvetica Light" panose="020B0403020202020204" pitchFamily="34" charset="0"/>
              </a:rPr>
              <a:t>sbin</a:t>
            </a:r>
            <a:r>
              <a:rPr lang="en-US" sz="2800" dirty="0">
                <a:latin typeface="Helvetica Light" panose="020B0403020202020204" pitchFamily="34" charset="0"/>
              </a:rPr>
              <a:t>:/</a:t>
            </a:r>
            <a:r>
              <a:rPr lang="en-US" sz="2800" dirty="0" err="1">
                <a:latin typeface="Helvetica Light" panose="020B0403020202020204" pitchFamily="34" charset="0"/>
              </a:rPr>
              <a:t>sbin</a:t>
            </a:r>
            <a:r>
              <a:rPr lang="en-US" sz="2800" dirty="0">
                <a:latin typeface="Helvetica Light" panose="020B0403020202020204" pitchFamily="34" charset="0"/>
              </a:rPr>
              <a:t>:/</a:t>
            </a:r>
            <a:r>
              <a:rPr lang="en-US" sz="2800" dirty="0" err="1">
                <a:latin typeface="Helvetica Light" panose="020B0403020202020204" pitchFamily="34" charset="0"/>
              </a:rPr>
              <a:t>usr</a:t>
            </a:r>
            <a:r>
              <a:rPr lang="en-US" sz="2800" dirty="0">
                <a:latin typeface="Helvetica Light" panose="020B0403020202020204" pitchFamily="34" charset="0"/>
              </a:rPr>
              <a:t>/local/bin:/opt/X11/bin:/</a:t>
            </a:r>
            <a:r>
              <a:rPr lang="en-US" sz="2800" dirty="0" err="1">
                <a:latin typeface="Helvetica Light" panose="020B0403020202020204" pitchFamily="34" charset="0"/>
              </a:rPr>
              <a:t>usr</a:t>
            </a:r>
            <a:r>
              <a:rPr lang="en-US" sz="2800" dirty="0">
                <a:latin typeface="Helvetica Light" panose="020B0403020202020204" pitchFamily="34" charset="0"/>
              </a:rPr>
              <a:t>/local/bin:/Users/</a:t>
            </a:r>
            <a:r>
              <a:rPr lang="en-US" sz="2800" dirty="0" err="1">
                <a:latin typeface="Helvetica Light" panose="020B0403020202020204" pitchFamily="34" charset="0"/>
              </a:rPr>
              <a:t>parchman</a:t>
            </a:r>
            <a:r>
              <a:rPr lang="en-US" sz="2800" dirty="0">
                <a:latin typeface="Helvetica Light" panose="020B0403020202020204" pitchFamily="34" charset="0"/>
              </a:rPr>
              <a:t>/bin:.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2403" y="1544186"/>
            <a:ext cx="10015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Executables stored in </a:t>
            </a:r>
            <a:r>
              <a:rPr lang="en-US" sz="2400" b="1" dirty="0">
                <a:latin typeface="Helvetica Light" panose="020B0403020202020204" pitchFamily="34" charset="0"/>
              </a:rPr>
              <a:t>$PATH </a:t>
            </a:r>
            <a:r>
              <a:rPr lang="en-US" sz="2400" dirty="0">
                <a:latin typeface="Helvetica Light" panose="020B0403020202020204" pitchFamily="34" charset="0"/>
              </a:rPr>
              <a:t>directories can be called to run from anywhere on your 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6562B-F804-0B44-BF4D-85490F1574FD}"/>
              </a:ext>
            </a:extLst>
          </p:cNvPr>
          <p:cNvSpPr txBox="1"/>
          <p:nvPr/>
        </p:nvSpPr>
        <p:spPr>
          <a:xfrm>
            <a:off x="3807493" y="6386629"/>
            <a:ext cx="10015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See also Haddock and Dunn </a:t>
            </a:r>
            <a:r>
              <a:rPr lang="en-US" sz="2000" dirty="0" err="1">
                <a:latin typeface="Helvetica Light" panose="020B0403020202020204" pitchFamily="34" charset="0"/>
              </a:rPr>
              <a:t>pgs</a:t>
            </a:r>
            <a:r>
              <a:rPr lang="en-US" sz="2000" dirty="0">
                <a:latin typeface="Helvetica Light" panose="020B0403020202020204" pitchFamily="34" charset="0"/>
              </a:rPr>
              <a:t> 87-88, </a:t>
            </a:r>
            <a:r>
              <a:rPr lang="en-US" sz="2000" dirty="0" err="1">
                <a:latin typeface="Helvetica Light" panose="020B0403020202020204" pitchFamily="34" charset="0"/>
              </a:rPr>
              <a:t>Bradnam</a:t>
            </a:r>
            <a:r>
              <a:rPr lang="en-US" sz="2000" dirty="0">
                <a:latin typeface="Helvetica Light" panose="020B0403020202020204" pitchFamily="34" charset="0"/>
              </a:rPr>
              <a:t> and Korf primer U30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04EC6D-4B1B-2346-A919-BA02A38D6F7F}"/>
              </a:ext>
            </a:extLst>
          </p:cNvPr>
          <p:cNvSpPr txBox="1"/>
          <p:nvPr/>
        </p:nvSpPr>
        <p:spPr>
          <a:xfrm>
            <a:off x="922403" y="2867434"/>
            <a:ext cx="1001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To see the directories in </a:t>
            </a:r>
            <a:r>
              <a:rPr lang="en-US" sz="2400" b="1" dirty="0">
                <a:latin typeface="Helvetica Light" panose="020B0403020202020204" pitchFamily="34" charset="0"/>
              </a:rPr>
              <a:t>$PATH</a:t>
            </a:r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96867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69AF51-D869-684D-8DAB-A0C5223A6F7F}"/>
              </a:ext>
            </a:extLst>
          </p:cNvPr>
          <p:cNvSpPr txBox="1"/>
          <p:nvPr/>
        </p:nvSpPr>
        <p:spPr>
          <a:xfrm>
            <a:off x="882869" y="528265"/>
            <a:ext cx="106154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If you want to store scripts in a </a:t>
            </a:r>
            <a:r>
              <a:rPr lang="en-US" sz="3000" b="1" dirty="0">
                <a:latin typeface="Helvetica Light" panose="020B0403020202020204" pitchFamily="34" charset="0"/>
              </a:rPr>
              <a:t>$PATH </a:t>
            </a:r>
            <a:r>
              <a:rPr lang="en-US" sz="3000" dirty="0">
                <a:latin typeface="Helvetica Light" panose="020B0403020202020204" pitchFamily="34" charset="0"/>
              </a:rPr>
              <a:t>directory: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940A7-1640-A041-B0EB-57B75134ADB8}"/>
              </a:ext>
            </a:extLst>
          </p:cNvPr>
          <p:cNvSpPr txBox="1"/>
          <p:nvPr/>
        </p:nvSpPr>
        <p:spPr>
          <a:xfrm>
            <a:off x="1072056" y="1448343"/>
            <a:ext cx="10615448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1. Make a directory to store script (e.g., ~/scripts/) and add to $PATH </a:t>
            </a:r>
            <a:r>
              <a:rPr lang="en-US">
                <a:latin typeface="Helvetica Light" panose="020B0403020202020204" pitchFamily="34" charset="0"/>
              </a:rPr>
              <a:t>(following </a:t>
            </a:r>
            <a:r>
              <a:rPr lang="en-US" dirty="0" err="1">
                <a:latin typeface="Helvetica Light" panose="020B0403020202020204" pitchFamily="34" charset="0"/>
              </a:rPr>
              <a:t>pg</a:t>
            </a:r>
            <a:r>
              <a:rPr lang="en-US" dirty="0">
                <a:latin typeface="Helvetica Light" panose="020B0403020202020204" pitchFamily="34" charset="0"/>
              </a:rPr>
              <a:t> 87 of Haddock and Dunn):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add the below line to .</a:t>
            </a:r>
            <a:r>
              <a:rPr lang="en-US" sz="2600" dirty="0" err="1">
                <a:latin typeface="Helvetica Light" panose="020B0403020202020204" pitchFamily="34" charset="0"/>
              </a:rPr>
              <a:t>bash_profile</a:t>
            </a:r>
            <a:r>
              <a:rPr lang="en-US" sz="2600" dirty="0">
                <a:latin typeface="Helvetica Light" panose="020B0403020202020204" pitchFamily="34" charset="0"/>
              </a:rPr>
              <a:t>, .</a:t>
            </a:r>
            <a:r>
              <a:rPr lang="en-US" sz="2600" dirty="0" err="1">
                <a:latin typeface="Helvetica Light" panose="020B0403020202020204" pitchFamily="34" charset="0"/>
              </a:rPr>
              <a:t>bashrc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dirty="0" err="1">
                <a:latin typeface="Helvetica Light" panose="020B0403020202020204" pitchFamily="34" charset="0"/>
              </a:rPr>
              <a:t>etc</a:t>
            </a:r>
            <a:r>
              <a:rPr lang="en-US" sz="2600" dirty="0">
                <a:latin typeface="Helvetica Light" panose="020B0403020202020204" pitchFamily="34" charset="0"/>
              </a:rPr>
              <a:t>: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      export PATH="$PATH:$HOME/scripts"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Before storing in ~/scripts/, convert to executable: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$ </a:t>
            </a:r>
            <a:r>
              <a:rPr lang="en-US" sz="2600" b="1" dirty="0" err="1">
                <a:latin typeface="Helvetica Light" panose="020B0403020202020204" pitchFamily="34" charset="0"/>
              </a:rPr>
              <a:t>chmod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u+x</a:t>
            </a:r>
            <a:r>
              <a:rPr lang="en-US" sz="2600" b="1" dirty="0">
                <a:latin typeface="Helvetica Light" panose="020B0403020202020204" pitchFamily="34" charset="0"/>
              </a:rPr>
              <a:t> mac2unix.sh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2F6B4-5801-3A49-B776-B0F7919F7C66}"/>
              </a:ext>
            </a:extLst>
          </p:cNvPr>
          <p:cNvSpPr/>
          <p:nvPr/>
        </p:nvSpPr>
        <p:spPr>
          <a:xfrm>
            <a:off x="1072056" y="4940221"/>
            <a:ext cx="10247585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2. Then can be called from any directory simply by scripts name: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$ mac2unix.sh  </a:t>
            </a:r>
          </a:p>
        </p:txBody>
      </p:sp>
    </p:spTree>
    <p:extLst>
      <p:ext uri="{BB962C8B-B14F-4D97-AF65-F5344CB8AC3E}">
        <p14:creationId xmlns:p14="http://schemas.microsoft.com/office/powerpoint/2010/main" val="169914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904" y="339740"/>
            <a:ext cx="7632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An alternative (simpler) way to look at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6744" y="1244139"/>
            <a:ext cx="1108841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Programs (scripts) are just code stored in text files. Especially for interpreted languages that don</a:t>
            </a:r>
            <a:r>
              <a:rPr lang="fr-FR" sz="2600" dirty="0">
                <a:latin typeface="Helvetica Light" panose="020B0403020202020204" pitchFamily="34" charset="0"/>
              </a:rPr>
              <a:t>’</a:t>
            </a:r>
            <a:r>
              <a:rPr lang="en-US" sz="2600" dirty="0">
                <a:latin typeface="Helvetica Light" panose="020B0403020202020204" pitchFamily="34" charset="0"/>
              </a:rPr>
              <a:t>t need to be compiled (</a:t>
            </a:r>
            <a:r>
              <a:rPr lang="en-US" sz="2600" b="1" dirty="0">
                <a:latin typeface="Helvetica Light" panose="020B0403020202020204" pitchFamily="34" charset="0"/>
              </a:rPr>
              <a:t>bash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b="1" dirty="0" err="1">
                <a:latin typeface="Helvetica Light" panose="020B0403020202020204" pitchFamily="34" charset="0"/>
              </a:rPr>
              <a:t>perl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b="1" dirty="0">
                <a:latin typeface="Helvetica Light" panose="020B0403020202020204" pitchFamily="34" charset="0"/>
              </a:rPr>
              <a:t>python</a:t>
            </a:r>
            <a:r>
              <a:rPr lang="en-US" sz="2600" dirty="0">
                <a:latin typeface="Helvetica Light" panose="020B0403020202020204" pitchFamily="34" charset="0"/>
              </a:rPr>
              <a:t>).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You can run a program from </a:t>
            </a:r>
            <a:r>
              <a:rPr lang="en-US" sz="2600" b="1" dirty="0">
                <a:latin typeface="Helvetica Light" panose="020B0403020202020204" pitchFamily="34" charset="0"/>
              </a:rPr>
              <a:t>the directory you are working in</a:t>
            </a:r>
            <a:r>
              <a:rPr lang="en-US" sz="2600" dirty="0">
                <a:latin typeface="Helvetica Light" panose="020B0403020202020204" pitchFamily="34" charset="0"/>
              </a:rPr>
              <a:t>, without changing to executable.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python </a:t>
            </a:r>
            <a:r>
              <a:rPr lang="en-US" sz="2600" b="1" dirty="0" err="1">
                <a:latin typeface="Helvetica Light" panose="020B0403020202020204" pitchFamily="34" charset="0"/>
              </a:rPr>
              <a:t>translateDNA.py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DNA.fasta</a:t>
            </a:r>
            <a:endParaRPr lang="en-US" sz="2600" b="1" dirty="0">
              <a:latin typeface="Helvetica Light" panose="020B0403020202020204" pitchFamily="34" charset="0"/>
            </a:endParaRP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600" b="1" dirty="0" err="1">
                <a:latin typeface="Helvetica Light" panose="020B0403020202020204" pitchFamily="34" charset="0"/>
              </a:rPr>
              <a:t>zsh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rsync_laptop.sh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9744" y="5625708"/>
            <a:ext cx="10732512" cy="892552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**For this class, I suggest you run programs like this, rather than changing them to executable, and avoiding messing with $PATH</a:t>
            </a:r>
          </a:p>
        </p:txBody>
      </p:sp>
    </p:spTree>
    <p:extLst>
      <p:ext uri="{BB962C8B-B14F-4D97-AF65-F5344CB8AC3E}">
        <p14:creationId xmlns:p14="http://schemas.microsoft.com/office/powerpoint/2010/main" val="166995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6952" y="1699987"/>
            <a:ext cx="11078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sed</a:t>
            </a:r>
            <a:r>
              <a:rPr lang="en-US" sz="2800" dirty="0">
                <a:latin typeface="Helvetica Light" panose="020B0403020202020204" pitchFamily="34" charset="0"/>
              </a:rPr>
              <a:t> – a command for rapid text manipulation (e.g., find and replace)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6952" y="2448269"/>
            <a:ext cx="10163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When we work with regular expressions in </a:t>
            </a:r>
            <a:r>
              <a:rPr lang="en-US" sz="2400" b="1" dirty="0">
                <a:latin typeface="Helvetica Light" panose="020B0403020202020204" pitchFamily="34" charset="0"/>
              </a:rPr>
              <a:t>python</a:t>
            </a:r>
            <a:r>
              <a:rPr lang="en-US" sz="2400" dirty="0">
                <a:latin typeface="Helvetica Light" panose="020B0403020202020204" pitchFamily="34" charset="0"/>
              </a:rPr>
              <a:t>, this will feel familiar. This is a preview of how we will perform substitutions and matching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6952" y="3685488"/>
            <a:ext cx="89514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Helvetica Light" panose="020B0403020202020204" pitchFamily="34" charset="0"/>
              </a:rPr>
              <a:t>$ sed ‘s/</a:t>
            </a:r>
            <a:r>
              <a:rPr lang="en-US" sz="2500" b="1" dirty="0" err="1">
                <a:solidFill>
                  <a:srgbClr val="C00000"/>
                </a:solidFill>
                <a:latin typeface="Helvetica Light" panose="020B0403020202020204" pitchFamily="34" charset="0"/>
              </a:rPr>
              <a:t>string_to_match</a:t>
            </a:r>
            <a:r>
              <a:rPr lang="en-US" sz="2500" b="1" dirty="0">
                <a:latin typeface="Helvetica Light" panose="020B0403020202020204" pitchFamily="34" charset="0"/>
              </a:rPr>
              <a:t>/</a:t>
            </a:r>
            <a:r>
              <a:rPr lang="en-US" sz="2500" b="1" dirty="0" err="1">
                <a:solidFill>
                  <a:srgbClr val="002060"/>
                </a:solidFill>
                <a:latin typeface="Helvetica Light" panose="020B0403020202020204" pitchFamily="34" charset="0"/>
              </a:rPr>
              <a:t>string_to_replace</a:t>
            </a:r>
            <a:r>
              <a:rPr lang="en-US" sz="2500" b="1" dirty="0">
                <a:latin typeface="Helvetica Light" panose="020B0403020202020204" pitchFamily="34" charset="0"/>
              </a:rPr>
              <a:t>/’ </a:t>
            </a:r>
            <a:r>
              <a:rPr lang="en-US" sz="2500" b="1" dirty="0" err="1">
                <a:latin typeface="Helvetica Light" panose="020B0403020202020204" pitchFamily="34" charset="0"/>
              </a:rPr>
              <a:t>file_to_workon.txt</a:t>
            </a:r>
            <a:endParaRPr lang="en-US" sz="2500" b="1" dirty="0">
              <a:latin typeface="Helvetica Light" panose="020B04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3594" y="5347193"/>
            <a:ext cx="61205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Helvetica Light" panose="020B0403020202020204" pitchFamily="34" charset="0"/>
              </a:rPr>
              <a:t>Finds </a:t>
            </a:r>
            <a:r>
              <a:rPr lang="en-US" sz="2100" b="1" dirty="0">
                <a:solidFill>
                  <a:srgbClr val="C00000"/>
                </a:solidFill>
                <a:latin typeface="Helvetica Light" panose="020B0403020202020204" pitchFamily="34" charset="0"/>
              </a:rPr>
              <a:t>this pattern </a:t>
            </a:r>
            <a:r>
              <a:rPr lang="en-US" sz="2100" dirty="0">
                <a:latin typeface="Helvetica Light" panose="020B0403020202020204" pitchFamily="34" charset="0"/>
              </a:rPr>
              <a:t>and replaces it with </a:t>
            </a:r>
            <a:r>
              <a:rPr lang="en-US" sz="2100" b="1" dirty="0">
                <a:solidFill>
                  <a:srgbClr val="002060"/>
                </a:solidFill>
                <a:latin typeface="Helvetica Light" panose="020B0403020202020204" pitchFamily="34" charset="0"/>
              </a:rPr>
              <a:t>this pattern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 flipV="1">
            <a:off x="5812221" y="4293996"/>
            <a:ext cx="329998" cy="974647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986805" y="4252986"/>
            <a:ext cx="417545" cy="100376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25A147-7680-EE4A-87DE-F9F4F797A404}"/>
              </a:ext>
            </a:extLst>
          </p:cNvPr>
          <p:cNvSpPr txBox="1"/>
          <p:nvPr/>
        </p:nvSpPr>
        <p:spPr>
          <a:xfrm>
            <a:off x="2169397" y="420746"/>
            <a:ext cx="81580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II. Useful commands for rapid text processing </a:t>
            </a:r>
          </a:p>
        </p:txBody>
      </p:sp>
    </p:spTree>
    <p:extLst>
      <p:ext uri="{BB962C8B-B14F-4D97-AF65-F5344CB8AC3E}">
        <p14:creationId xmlns:p14="http://schemas.microsoft.com/office/powerpoint/2010/main" val="309766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5693" y="2753392"/>
            <a:ext cx="6192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sed</a:t>
            </a:r>
            <a:r>
              <a:rPr lang="en-US" sz="2400" b="1" dirty="0">
                <a:latin typeface="Helvetica Light" panose="020B0403020202020204" pitchFamily="34" charset="0"/>
              </a:rPr>
              <a:t> 's/@/&gt;/’ </a:t>
            </a:r>
            <a:r>
              <a:rPr lang="en-US" sz="24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400" b="1" dirty="0">
                <a:latin typeface="Helvetica Light" panose="020B0403020202020204" pitchFamily="34" charset="0"/>
              </a:rPr>
              <a:t> | less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35235" y="4779868"/>
            <a:ext cx="763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sed 's/TAG/_STOP_/</a:t>
            </a:r>
            <a:r>
              <a:rPr lang="en-US" sz="2400" b="1" dirty="0">
                <a:solidFill>
                  <a:srgbClr val="C00000"/>
                </a:solidFill>
                <a:latin typeface="Helvetica Light" panose="020B0403020202020204" pitchFamily="34" charset="0"/>
              </a:rPr>
              <a:t>g</a:t>
            </a:r>
            <a:r>
              <a:rPr lang="en-US" sz="2400" b="1" dirty="0">
                <a:latin typeface="Helvetica Light" panose="020B0403020202020204" pitchFamily="34" charset="0"/>
              </a:rPr>
              <a:t>’ </a:t>
            </a:r>
            <a:r>
              <a:rPr lang="en-US" sz="24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400" b="1" dirty="0">
                <a:latin typeface="Helvetica Light" panose="020B0403020202020204" pitchFamily="34" charset="0"/>
              </a:rPr>
              <a:t> | 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5693" y="4161146"/>
            <a:ext cx="7608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Finding stop codon “TAG” and replacing with _STOP_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5693" y="2165408"/>
            <a:ext cx="9551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Replacing the “</a:t>
            </a:r>
            <a:r>
              <a:rPr lang="en-US" sz="2400" b="1" dirty="0">
                <a:latin typeface="Helvetica Light" panose="020B0403020202020204" pitchFamily="34" charset="0"/>
              </a:rPr>
              <a:t>@</a:t>
            </a:r>
            <a:r>
              <a:rPr lang="en-US" sz="2400" dirty="0">
                <a:latin typeface="Helvetica Light" panose="020B0403020202020204" pitchFamily="34" charset="0"/>
              </a:rPr>
              <a:t>” at line beginnings with “</a:t>
            </a:r>
            <a:r>
              <a:rPr lang="en-US" sz="2400" b="1" dirty="0">
                <a:latin typeface="Helvetica Light" panose="020B0403020202020204" pitchFamily="34" charset="0"/>
              </a:rPr>
              <a:t>&gt;</a:t>
            </a:r>
            <a:r>
              <a:rPr lang="en-US" sz="2400" dirty="0">
                <a:latin typeface="Helvetica Light" panose="020B0403020202020204" pitchFamily="34" charset="0"/>
              </a:rPr>
              <a:t>”, and viewing with </a:t>
            </a:r>
            <a:r>
              <a:rPr lang="en-US" sz="2400" b="1" dirty="0">
                <a:latin typeface="Helvetica Light" panose="020B0403020202020204" pitchFamily="34" charset="0"/>
              </a:rPr>
              <a:t>less</a:t>
            </a:r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5693" y="913588"/>
            <a:ext cx="37753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Example uses of </a:t>
            </a:r>
            <a:r>
              <a:rPr lang="en-US" sz="3000" b="1" dirty="0" err="1">
                <a:latin typeface="Helvetica Light" panose="020B0403020202020204" pitchFamily="34" charset="0"/>
              </a:rPr>
              <a:t>sed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8E1FCD-40E5-4B40-A6E5-A9F71BBE5E73}"/>
              </a:ext>
            </a:extLst>
          </p:cNvPr>
          <p:cNvCxnSpPr>
            <a:cxnSpLocks/>
          </p:cNvCxnSpPr>
          <p:nvPr/>
        </p:nvCxnSpPr>
        <p:spPr>
          <a:xfrm flipV="1">
            <a:off x="4498428" y="5241534"/>
            <a:ext cx="178675" cy="47609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0D4590-C89B-5940-8026-6C4B2FA8DDED}"/>
              </a:ext>
            </a:extLst>
          </p:cNvPr>
          <p:cNvSpPr txBox="1"/>
          <p:nvPr/>
        </p:nvSpPr>
        <p:spPr>
          <a:xfrm>
            <a:off x="1914662" y="5790681"/>
            <a:ext cx="584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`g` means global; without it s/// will match and replace only the first encounter of match on line</a:t>
            </a:r>
          </a:p>
        </p:txBody>
      </p:sp>
    </p:spTree>
    <p:extLst>
      <p:ext uri="{BB962C8B-B14F-4D97-AF65-F5344CB8AC3E}">
        <p14:creationId xmlns:p14="http://schemas.microsoft.com/office/powerpoint/2010/main" val="49311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9328" y="633417"/>
            <a:ext cx="83375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Helvetica Light" panose="020B0403020202020204" pitchFamily="34" charset="0"/>
              </a:rPr>
              <a:t>awk</a:t>
            </a:r>
            <a:r>
              <a:rPr lang="en-US" sz="3200" dirty="0">
                <a:latin typeface="Helvetica Light" panose="020B0403020202020204" pitchFamily="34" charset="0"/>
              </a:rPr>
              <a:t>: versatile text extraction and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1CB22-96A2-CC49-B031-13E5BB1F412B}"/>
              </a:ext>
            </a:extLst>
          </p:cNvPr>
          <p:cNvSpPr/>
          <p:nvPr/>
        </p:nvSpPr>
        <p:spPr>
          <a:xfrm>
            <a:off x="878319" y="2439837"/>
            <a:ext cx="578235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$0 </a:t>
            </a:r>
            <a:r>
              <a:rPr lang="en-US" sz="2400" dirty="0">
                <a:latin typeface="Helvetica Light" panose="020B0403020202020204" pitchFamily="34" charset="0"/>
              </a:rPr>
              <a:t>for the whole line.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$1 </a:t>
            </a:r>
            <a:r>
              <a:rPr lang="en-US" sz="2400" dirty="0">
                <a:latin typeface="Helvetica Light" panose="020B0403020202020204" pitchFamily="34" charset="0"/>
              </a:rPr>
              <a:t>for the first field.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$2 </a:t>
            </a:r>
            <a:r>
              <a:rPr lang="en-US" sz="2400" dirty="0">
                <a:latin typeface="Helvetica Light" panose="020B0403020202020204" pitchFamily="34" charset="0"/>
              </a:rPr>
              <a:t>for the second field.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$n </a:t>
            </a:r>
            <a:r>
              <a:rPr lang="en-US" sz="2400" dirty="0">
                <a:latin typeface="Helvetica Light" panose="020B0403020202020204" pitchFamily="34" charset="0"/>
              </a:rPr>
              <a:t>for the nth field.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-</a:t>
            </a:r>
            <a:r>
              <a:rPr lang="en-US" sz="2400" b="1" dirty="0">
                <a:latin typeface="Helvetica Light" panose="020B0403020202020204" pitchFamily="34" charset="0"/>
              </a:rPr>
              <a:t>F</a:t>
            </a:r>
            <a:r>
              <a:rPr lang="en-US" sz="2400" dirty="0">
                <a:latin typeface="Helvetica Light" panose="020B0403020202020204" pitchFamily="34" charset="0"/>
              </a:rPr>
              <a:t> option sets field delimiter, 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e.g., -F ‘,’</a:t>
            </a:r>
          </a:p>
          <a:p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3918A5-F35A-344D-A9C1-1526374F249D}"/>
              </a:ext>
            </a:extLst>
          </p:cNvPr>
          <p:cNvSpPr txBox="1"/>
          <p:nvPr/>
        </p:nvSpPr>
        <p:spPr>
          <a:xfrm>
            <a:off x="539281" y="1822918"/>
            <a:ext cx="4717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A.</a:t>
            </a:r>
            <a:r>
              <a:rPr lang="en-US" sz="2400" dirty="0">
                <a:latin typeface="Helvetica Light" panose="020B0403020202020204" pitchFamily="34" charset="0"/>
              </a:rPr>
              <a:t> </a:t>
            </a:r>
            <a:r>
              <a:rPr lang="en-US" sz="2400" b="1" dirty="0">
                <a:latin typeface="Helvetica Light" panose="020B0403020202020204" pitchFamily="34" charset="0"/>
              </a:rPr>
              <a:t>{'print'} </a:t>
            </a:r>
            <a:r>
              <a:rPr lang="en-US" sz="2400" dirty="0">
                <a:latin typeface="Helvetica Light" panose="020B0403020202020204" pitchFamily="34" charset="0"/>
              </a:rPr>
              <a:t>extracts lines or fields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D9C896-63E0-2E4C-8971-F5DD3722150B}"/>
              </a:ext>
            </a:extLst>
          </p:cNvPr>
          <p:cNvSpPr txBox="1"/>
          <p:nvPr/>
        </p:nvSpPr>
        <p:spPr>
          <a:xfrm>
            <a:off x="5736128" y="1822918"/>
            <a:ext cx="578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B.</a:t>
            </a:r>
            <a:r>
              <a:rPr lang="en-US" sz="2400" dirty="0">
                <a:latin typeface="Helvetica Light" panose="020B0403020202020204" pitchFamily="34" charset="0"/>
              </a:rPr>
              <a:t> Expression matching: enclosed with </a:t>
            </a:r>
            <a:r>
              <a:rPr lang="en-US" sz="2400" b="1" dirty="0">
                <a:latin typeface="Helvetica Light" panose="020B0403020202020204" pitchFamily="34" charset="0"/>
              </a:rPr>
              <a:t>//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289BEB-FE4E-2340-A178-0A7356947CF4}"/>
              </a:ext>
            </a:extLst>
          </p:cNvPr>
          <p:cNvSpPr/>
          <p:nvPr/>
        </p:nvSpPr>
        <p:spPr>
          <a:xfrm>
            <a:off x="6096000" y="2347634"/>
            <a:ext cx="30184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/ATG/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B978B-F6B6-9446-9C1E-9215ADAAF259}"/>
              </a:ext>
            </a:extLst>
          </p:cNvPr>
          <p:cNvSpPr txBox="1"/>
          <p:nvPr/>
        </p:nvSpPr>
        <p:spPr>
          <a:xfrm>
            <a:off x="5736128" y="3874195"/>
            <a:ext cx="47708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C</a:t>
            </a:r>
            <a:r>
              <a:rPr lang="en-US" sz="2400" dirty="0">
                <a:latin typeface="Helvetica Light" panose="020B0403020202020204" pitchFamily="34" charset="0"/>
              </a:rPr>
              <a:t>. Conditionals: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{'if ($5 - $4 &gt; 400) print $1'},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9C33CD-DBF3-EA48-AA75-58C92D907141}"/>
              </a:ext>
            </a:extLst>
          </p:cNvPr>
          <p:cNvSpPr/>
          <p:nvPr/>
        </p:nvSpPr>
        <p:spPr>
          <a:xfrm>
            <a:off x="5927426" y="2918953"/>
            <a:ext cx="4017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‘/ATG/ {print}’ </a:t>
            </a:r>
            <a:r>
              <a:rPr lang="en-US" sz="2400" b="1" dirty="0" err="1">
                <a:latin typeface="Helvetica Light" panose="020B0403020202020204" pitchFamily="34" charset="0"/>
              </a:rPr>
              <a:t>fasta.fa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F30EF-0465-0543-AD3C-A3B58AA0D915}"/>
              </a:ext>
            </a:extLst>
          </p:cNvPr>
          <p:cNvSpPr/>
          <p:nvPr/>
        </p:nvSpPr>
        <p:spPr>
          <a:xfrm>
            <a:off x="539281" y="5642079"/>
            <a:ext cx="5216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{'print $2'}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76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552" y="373331"/>
            <a:ext cx="35814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Example uses of </a:t>
            </a:r>
            <a:r>
              <a:rPr lang="en-US" sz="2800" b="1" dirty="0" err="1">
                <a:latin typeface="Helvetica Light" panose="020B0403020202020204" pitchFamily="34" charset="0"/>
              </a:rPr>
              <a:t>awk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9552" y="2722520"/>
            <a:ext cx="5008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{'print $2'}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6330" y="1462717"/>
            <a:ext cx="45801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{'print'}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6330" y="3923406"/>
            <a:ext cx="67521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'/</a:t>
            </a:r>
            <a:r>
              <a:rPr lang="en-US" sz="2400" b="1" dirty="0" err="1">
                <a:latin typeface="Helvetica Light" panose="020B0403020202020204" pitchFamily="34" charset="0"/>
              </a:rPr>
              <a:t>repeat_region</a:t>
            </a:r>
            <a:r>
              <a:rPr lang="en-US" sz="2400" b="1" dirty="0">
                <a:latin typeface="Helvetica Light" panose="020B0403020202020204" pitchFamily="34" charset="0"/>
              </a:rPr>
              <a:t>/ {print}'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5489" y="2063083"/>
            <a:ext cx="57583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# simplest use, prints the whole file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7834" y="3218076"/>
            <a:ext cx="86853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Prints the second field of each line </a:t>
            </a:r>
            <a:r>
              <a:rPr lang="en-US" sz="1600" dirty="0">
                <a:latin typeface="Helvetica Light" panose="020B0403020202020204" pitchFamily="34" charset="0"/>
              </a:rPr>
              <a:t>(whitespace [tab or space] default delimiter)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5489" y="4503070"/>
            <a:ext cx="79271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Match: </a:t>
            </a:r>
            <a:r>
              <a:rPr lang="en-US" sz="2200" dirty="0">
                <a:latin typeface="Helvetica Light" panose="020B0403020202020204" pitchFamily="34" charset="0"/>
              </a:rPr>
              <a:t>Prints lines for sequences that contain “repeat region”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763BF4-A4DC-3547-AE7E-E8B16135340F}"/>
              </a:ext>
            </a:extLst>
          </p:cNvPr>
          <p:cNvSpPr/>
          <p:nvPr/>
        </p:nvSpPr>
        <p:spPr>
          <a:xfrm>
            <a:off x="992748" y="5241515"/>
            <a:ext cx="765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awk {'if ($5 - $4 &gt; 100) print $1'}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E0CFEA-C3D8-8F44-AB53-042F1CB6D173}"/>
              </a:ext>
            </a:extLst>
          </p:cNvPr>
          <p:cNvSpPr txBox="1"/>
          <p:nvPr/>
        </p:nvSpPr>
        <p:spPr>
          <a:xfrm>
            <a:off x="2621906" y="5821179"/>
            <a:ext cx="753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Conditional: </a:t>
            </a:r>
            <a:r>
              <a:rPr lang="en-US" sz="2200" dirty="0">
                <a:latin typeface="Helvetica Light" panose="020B0403020202020204" pitchFamily="34" charset="0"/>
              </a:rPr>
              <a:t>Prints first field for lines where the value in 9</a:t>
            </a:r>
            <a:r>
              <a:rPr lang="en-US" sz="2200" baseline="30000" dirty="0">
                <a:latin typeface="Helvetica Light" panose="020B0403020202020204" pitchFamily="34" charset="0"/>
              </a:rPr>
              <a:t>th</a:t>
            </a:r>
            <a:r>
              <a:rPr lang="en-US" sz="2200" dirty="0">
                <a:latin typeface="Helvetica Light" panose="020B0403020202020204" pitchFamily="34" charset="0"/>
              </a:rPr>
              <a:t> field minus the value in 4</a:t>
            </a:r>
            <a:r>
              <a:rPr lang="en-US" sz="2200" baseline="30000" dirty="0">
                <a:latin typeface="Helvetica Light" panose="020B0403020202020204" pitchFamily="34" charset="0"/>
              </a:rPr>
              <a:t>th</a:t>
            </a:r>
            <a:r>
              <a:rPr lang="en-US" sz="2200" dirty="0">
                <a:latin typeface="Helvetica Light" panose="020B0403020202020204" pitchFamily="34" charset="0"/>
              </a:rPr>
              <a:t> field is greater than 100</a:t>
            </a:r>
          </a:p>
        </p:txBody>
      </p:sp>
    </p:spTree>
    <p:extLst>
      <p:ext uri="{BB962C8B-B14F-4D97-AF65-F5344CB8AC3E}">
        <p14:creationId xmlns:p14="http://schemas.microsoft.com/office/powerpoint/2010/main" val="376874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874" y="433603"/>
            <a:ext cx="73212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>
                <a:latin typeface="Helvetica Light" panose="020B0403020202020204" pitchFamily="34" charset="0"/>
              </a:rPr>
              <a:t>tr</a:t>
            </a:r>
            <a:r>
              <a:rPr lang="en-US" sz="3000" dirty="0">
                <a:latin typeface="Helvetica Light" panose="020B0403020202020204" pitchFamily="34" charset="0"/>
              </a:rPr>
              <a:t>: a quick </a:t>
            </a:r>
            <a:r>
              <a:rPr lang="en-US" sz="3000" dirty="0" err="1">
                <a:latin typeface="Helvetica Light" panose="020B0403020202020204" pitchFamily="34" charset="0"/>
              </a:rPr>
              <a:t>unix</a:t>
            </a:r>
            <a:r>
              <a:rPr lang="en-US" sz="3000" dirty="0">
                <a:latin typeface="Helvetica Light" panose="020B0403020202020204" pitchFamily="34" charset="0"/>
              </a:rPr>
              <a:t> tool for ‘transliterating’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874" y="2018103"/>
            <a:ext cx="7449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$ tr 'T' 'U' &lt; </a:t>
            </a:r>
            <a:r>
              <a:rPr lang="en-US" sz="28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800" b="1" dirty="0">
                <a:latin typeface="Helvetica Light" panose="020B0403020202020204" pitchFamily="34" charset="0"/>
              </a:rPr>
              <a:t> &gt; </a:t>
            </a:r>
            <a:r>
              <a:rPr lang="en-US" sz="2800" b="1" dirty="0" err="1">
                <a:latin typeface="Helvetica Light" panose="020B0403020202020204" pitchFamily="34" charset="0"/>
              </a:rPr>
              <a:t>test.txt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45515" y="2039611"/>
            <a:ext cx="32447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#changes all ‘T’s to ‘U’s;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443497" y="2584668"/>
            <a:ext cx="348639" cy="511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46707" y="3289478"/>
            <a:ext cx="21914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Redirection to read the contents of file in for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9350" y="3289478"/>
            <a:ext cx="2191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Redirection to send the output to ‘</a:t>
            </a:r>
            <a:r>
              <a:rPr lang="en-US" sz="2000" dirty="0" err="1">
                <a:latin typeface="Helvetica Light" panose="020B0403020202020204" pitchFamily="34" charset="0"/>
              </a:rPr>
              <a:t>test.txt</a:t>
            </a:r>
            <a:r>
              <a:rPr lang="en-US" sz="2000" dirty="0">
                <a:latin typeface="Helvetica Light" panose="020B0403020202020204" pitchFamily="34" charset="0"/>
              </a:rPr>
              <a:t>’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7249612" y="2544139"/>
            <a:ext cx="320753" cy="6151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9045" y="5100401"/>
            <a:ext cx="789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$ cat </a:t>
            </a:r>
            <a:r>
              <a:rPr lang="en-US" sz="28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800" b="1" dirty="0">
                <a:latin typeface="Helvetica Light" panose="020B0403020202020204" pitchFamily="34" charset="0"/>
              </a:rPr>
              <a:t> | tr 'T' 'U' &gt; </a:t>
            </a:r>
            <a:r>
              <a:rPr lang="en-US" sz="2800" b="1" dirty="0" err="1">
                <a:latin typeface="Helvetica Light" panose="020B0403020202020204" pitchFamily="34" charset="0"/>
              </a:rPr>
              <a:t>test.txt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05941" y="5911050"/>
            <a:ext cx="8951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## this does the exact same thing as the first example, but uses </a:t>
            </a:r>
            <a:r>
              <a:rPr lang="en-US" sz="2000" b="1" dirty="0">
                <a:latin typeface="Helvetica Light" panose="020B0403020202020204" pitchFamily="34" charset="0"/>
              </a:rPr>
              <a:t>cat</a:t>
            </a:r>
            <a:r>
              <a:rPr lang="en-US" sz="2000" dirty="0">
                <a:latin typeface="Helvetica Light" panose="020B0403020202020204" pitchFamily="34" charset="0"/>
              </a:rPr>
              <a:t> and a “</a:t>
            </a:r>
            <a:r>
              <a:rPr lang="en-US" sz="2000" b="1" dirty="0">
                <a:latin typeface="Helvetica Light" panose="020B0403020202020204" pitchFamily="34" charset="0"/>
              </a:rPr>
              <a:t>|</a:t>
            </a:r>
            <a:r>
              <a:rPr lang="en-US" sz="2000" dirty="0">
                <a:latin typeface="Helvetica Light" panose="020B0403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189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62343" y="152684"/>
            <a:ext cx="3409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>
                <a:latin typeface="Helvetica Light" panose="020B0403020202020204" pitchFamily="34" charset="0"/>
              </a:rPr>
              <a:t>tr</a:t>
            </a:r>
            <a:r>
              <a:rPr lang="en-US" sz="3000" dirty="0">
                <a:latin typeface="Helvetica Light" panose="020B0403020202020204" pitchFamily="34" charset="0"/>
              </a:rPr>
              <a:t> with line endings</a:t>
            </a:r>
          </a:p>
        </p:txBody>
      </p:sp>
      <p:pic>
        <p:nvPicPr>
          <p:cNvPr id="4" name="Picture 3" descr="Screen Shot 2015-09-16 at 1.53.5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42" y="940116"/>
            <a:ext cx="8267176" cy="2297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61401" y="1347768"/>
            <a:ext cx="2431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^M </a:t>
            </a:r>
            <a:r>
              <a:rPr lang="en-US" sz="2000" dirty="0">
                <a:latin typeface="Helvetica Light" panose="020B0403020202020204" pitchFamily="34" charset="0"/>
              </a:rPr>
              <a:t>is what</a:t>
            </a:r>
            <a:r>
              <a:rPr lang="en-US" sz="2000" b="1" dirty="0">
                <a:latin typeface="Helvetica Light" panose="020B0403020202020204" pitchFamily="34" charset="0"/>
              </a:rPr>
              <a:t> Mac </a:t>
            </a:r>
            <a:r>
              <a:rPr lang="en-US" sz="2000" dirty="0">
                <a:latin typeface="Helvetica Light" panose="020B0403020202020204" pitchFamily="34" charset="0"/>
              </a:rPr>
              <a:t>line endings will appear as in your terminal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8752" y="3429000"/>
            <a:ext cx="5570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\r </a:t>
            </a:r>
            <a:r>
              <a:rPr lang="en-US" sz="2400" dirty="0">
                <a:latin typeface="Helvetica Light" panose="020B0403020202020204" pitchFamily="34" charset="0"/>
              </a:rPr>
              <a:t>		MAC ending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\n</a:t>
            </a:r>
            <a:r>
              <a:rPr lang="en-US" sz="2400" dirty="0">
                <a:latin typeface="Helvetica Light" panose="020B0403020202020204" pitchFamily="34" charset="0"/>
              </a:rPr>
              <a:t>		Unix ending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\r\n</a:t>
            </a:r>
            <a:r>
              <a:rPr lang="en-US" sz="2400" dirty="0">
                <a:latin typeface="Helvetica Light" panose="020B0403020202020204" pitchFamily="34" charset="0"/>
              </a:rPr>
              <a:t>		Windows/Dos ending</a:t>
            </a:r>
            <a:endParaRPr lang="en-US" sz="2200" dirty="0">
              <a:latin typeface="Helvetica Light" panose="020B04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10113" y="4970481"/>
            <a:ext cx="857177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$ cat </a:t>
            </a:r>
            <a:r>
              <a:rPr lang="en-US" sz="2800" b="1" dirty="0" err="1">
                <a:latin typeface="Helvetica Light" panose="020B0403020202020204" pitchFamily="34" charset="0"/>
              </a:rPr>
              <a:t>file_with_MAC_endings.txt</a:t>
            </a:r>
            <a:r>
              <a:rPr lang="en-US" sz="2800" b="1" dirty="0">
                <a:latin typeface="Helvetica Light" panose="020B0403020202020204" pitchFamily="34" charset="0"/>
              </a:rPr>
              <a:t> | </a:t>
            </a:r>
            <a:r>
              <a:rPr lang="en-US" sz="2800" b="1" dirty="0" err="1">
                <a:latin typeface="Helvetica Light" panose="020B0403020202020204" pitchFamily="34" charset="0"/>
              </a:rPr>
              <a:t>tr</a:t>
            </a:r>
            <a:r>
              <a:rPr lang="en-US" sz="2800" b="1" dirty="0">
                <a:latin typeface="Helvetica Light" panose="020B0403020202020204" pitchFamily="34" charset="0"/>
              </a:rPr>
              <a:t> ‘\r’ ‘\n’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## this will write to standard out. If you wanted to send it to a file, you would redirect with “&gt;” to a file of your naming</a:t>
            </a:r>
          </a:p>
        </p:txBody>
      </p:sp>
    </p:spTree>
    <p:extLst>
      <p:ext uri="{BB962C8B-B14F-4D97-AF65-F5344CB8AC3E}">
        <p14:creationId xmlns:p14="http://schemas.microsoft.com/office/powerpoint/2010/main" val="228611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3273" y="4268578"/>
            <a:ext cx="4572000" cy="1107996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#!/</a:t>
            </a:r>
            <a:r>
              <a:rPr lang="en-US" sz="2200" b="1" dirty="0" err="1">
                <a:latin typeface="Helvetica Light" panose="020B0403020202020204" pitchFamily="34" charset="0"/>
              </a:rPr>
              <a:t>usr</a:t>
            </a:r>
            <a:r>
              <a:rPr lang="en-US" sz="2200" b="1" dirty="0">
                <a:latin typeface="Helvetica Light" panose="020B0403020202020204" pitchFamily="34" charset="0"/>
              </a:rPr>
              <a:t>/bin/bash</a:t>
            </a:r>
          </a:p>
          <a:p>
            <a:endParaRPr lang="en-US" sz="2200" b="1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Helvetica Light" panose="020B0403020202020204" pitchFamily="34" charset="0"/>
              </a:rPr>
              <a:t>cat $1 | </a:t>
            </a:r>
            <a:r>
              <a:rPr lang="en-US" sz="2200" b="1" dirty="0" err="1">
                <a:latin typeface="Helvetica Light" panose="020B0403020202020204" pitchFamily="34" charset="0"/>
              </a:rPr>
              <a:t>tr</a:t>
            </a:r>
            <a:r>
              <a:rPr lang="en-US" sz="2200" b="1" dirty="0">
                <a:latin typeface="Helvetica Light" panose="020B0403020202020204" pitchFamily="34" charset="0"/>
              </a:rPr>
              <a:t> '\r' '\n' &gt; unix_$1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1752" y="285969"/>
            <a:ext cx="94172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Two ways we could write a shell script to change line endings from mac to </a:t>
            </a:r>
            <a:r>
              <a:rPr lang="en-US" sz="2800" dirty="0" err="1">
                <a:latin typeface="Helvetica Light" panose="020B0403020202020204" pitchFamily="34" charset="0"/>
              </a:rPr>
              <a:t>unix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1752" y="5857705"/>
            <a:ext cx="5094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From the command line: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$ </a:t>
            </a:r>
            <a:r>
              <a:rPr lang="en-US" b="1" dirty="0" err="1">
                <a:latin typeface="Helvetica Light" panose="020B0403020202020204" pitchFamily="34" charset="0"/>
              </a:rPr>
              <a:t>zsh</a:t>
            </a:r>
            <a:r>
              <a:rPr lang="en-US" b="1" dirty="0">
                <a:latin typeface="Helvetica Light" panose="020B0403020202020204" pitchFamily="34" charset="0"/>
              </a:rPr>
              <a:t> mac2unix.sh </a:t>
            </a:r>
            <a:r>
              <a:rPr lang="en-US" b="1" dirty="0" err="1">
                <a:latin typeface="Helvetica Light" panose="020B0403020202020204" pitchFamily="34" charset="0"/>
              </a:rPr>
              <a:t>ssr_results_MACendings.txt</a:t>
            </a:r>
            <a:r>
              <a:rPr lang="en-US" b="1" dirty="0">
                <a:latin typeface="Helvetica Light" panose="020B0403020202020204" pitchFamily="34" charset="0"/>
              </a:rPr>
              <a:t>  </a:t>
            </a:r>
          </a:p>
        </p:txBody>
      </p:sp>
      <p:sp>
        <p:nvSpPr>
          <p:cNvPr id="6" name="Rectangle 5"/>
          <p:cNvSpPr/>
          <p:nvPr/>
        </p:nvSpPr>
        <p:spPr>
          <a:xfrm>
            <a:off x="1298376" y="1852167"/>
            <a:ext cx="10111415" cy="1107996"/>
          </a:xfrm>
          <a:prstGeom prst="rect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#!/</a:t>
            </a:r>
            <a:r>
              <a:rPr lang="en-US" sz="2200" b="1" dirty="0" err="1">
                <a:latin typeface="Helvetica Light" panose="020B0403020202020204" pitchFamily="34" charset="0"/>
              </a:rPr>
              <a:t>usr</a:t>
            </a:r>
            <a:r>
              <a:rPr lang="en-US" sz="2200" b="1" dirty="0">
                <a:latin typeface="Helvetica Light" panose="020B0403020202020204" pitchFamily="34" charset="0"/>
              </a:rPr>
              <a:t>/bin/bash</a:t>
            </a:r>
          </a:p>
          <a:p>
            <a:endParaRPr lang="en-US" sz="2200" b="1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Helvetica Light" panose="020B0403020202020204" pitchFamily="34" charset="0"/>
              </a:rPr>
              <a:t>cat </a:t>
            </a:r>
            <a:r>
              <a:rPr lang="en-US" sz="2200" b="1" dirty="0" err="1">
                <a:latin typeface="Helvetica Light" panose="020B0403020202020204" pitchFamily="34" charset="0"/>
              </a:rPr>
              <a:t>ssr_results_MACendings.txt</a:t>
            </a:r>
            <a:r>
              <a:rPr lang="en-US" sz="2200" b="1" dirty="0">
                <a:latin typeface="Helvetica Light" panose="020B0403020202020204" pitchFamily="34" charset="0"/>
              </a:rPr>
              <a:t>  | </a:t>
            </a:r>
            <a:r>
              <a:rPr lang="en-US" sz="2200" b="1" dirty="0" err="1">
                <a:latin typeface="Helvetica Light" panose="020B0403020202020204" pitchFamily="34" charset="0"/>
              </a:rPr>
              <a:t>tr</a:t>
            </a:r>
            <a:r>
              <a:rPr lang="en-US" sz="2200" b="1" dirty="0">
                <a:latin typeface="Helvetica Light" panose="020B0403020202020204" pitchFamily="34" charset="0"/>
              </a:rPr>
              <a:t> '\r' '\n' &gt; </a:t>
            </a:r>
            <a:r>
              <a:rPr lang="en-US" sz="2200" b="1" dirty="0" err="1">
                <a:latin typeface="Helvetica Light" panose="020B0403020202020204" pitchFamily="34" charset="0"/>
              </a:rPr>
              <a:t>ssr_results_UNIX_endings.txt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2356550" y="3078687"/>
            <a:ext cx="511446" cy="3784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H="1" flipV="1">
            <a:off x="7616734" y="3090137"/>
            <a:ext cx="314133" cy="4720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02780" y="3525839"/>
            <a:ext cx="2790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“Hard” code input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5594" y="3546331"/>
            <a:ext cx="2886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“Hard” code </a:t>
            </a:r>
            <a:r>
              <a:rPr lang="en-US" sz="2000" dirty="0" err="1">
                <a:latin typeface="Helvetica Light" panose="020B0403020202020204" pitchFamily="34" charset="0"/>
              </a:rPr>
              <a:t>outputfile</a:t>
            </a:r>
            <a:endParaRPr lang="en-US" sz="2000" dirty="0">
              <a:latin typeface="Helvetica Light" panose="020B0403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0386" y="4222411"/>
            <a:ext cx="347892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 Light" panose="020B0403020202020204" pitchFamily="34" charset="0"/>
              </a:rPr>
              <a:t>$1 </a:t>
            </a:r>
            <a:r>
              <a:rPr lang="en-US" dirty="0">
                <a:latin typeface="Helvetica Light" panose="020B0403020202020204" pitchFamily="34" charset="0"/>
              </a:rPr>
              <a:t>is the first </a:t>
            </a:r>
            <a:r>
              <a:rPr lang="en-US" b="1" i="1" dirty="0">
                <a:latin typeface="Helvetica Light" panose="020B0403020202020204" pitchFamily="34" charset="0"/>
              </a:rPr>
              <a:t>argument</a:t>
            </a:r>
            <a:r>
              <a:rPr lang="en-US" dirty="0">
                <a:latin typeface="Helvetica Light" panose="020B0403020202020204" pitchFamily="34" charset="0"/>
              </a:rPr>
              <a:t> that comes from the command line, after the name of the program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9A71DA-D108-8745-9FF0-8DDCD711AB13}"/>
              </a:ext>
            </a:extLst>
          </p:cNvPr>
          <p:cNvCxnSpPr>
            <a:cxnSpLocks/>
          </p:cNvCxnSpPr>
          <p:nvPr/>
        </p:nvCxnSpPr>
        <p:spPr>
          <a:xfrm flipH="1">
            <a:off x="6432331" y="5937681"/>
            <a:ext cx="1341470" cy="3580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ADCC846-F365-B443-818E-09262061E9DB}"/>
              </a:ext>
            </a:extLst>
          </p:cNvPr>
          <p:cNvSpPr txBox="1"/>
          <p:nvPr/>
        </p:nvSpPr>
        <p:spPr>
          <a:xfrm>
            <a:off x="7930867" y="5568349"/>
            <a:ext cx="34789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File stored as </a:t>
            </a:r>
            <a:r>
              <a:rPr lang="en-US" b="1" dirty="0">
                <a:latin typeface="Helvetica Light" panose="020B0403020202020204" pitchFamily="34" charset="0"/>
              </a:rPr>
              <a:t>$1</a:t>
            </a:r>
            <a:endParaRPr lang="en-US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19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6648" y="728950"/>
            <a:ext cx="8602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Processing command line arguments in shell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2371" y="2310741"/>
            <a:ext cx="942437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zsh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 err="1">
                <a:latin typeface="Helvetica Light" panose="020B0403020202020204" pitchFamily="34" charset="0"/>
              </a:rPr>
              <a:t>make_dup_files.sh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25		</a:t>
            </a:r>
            <a:r>
              <a:rPr lang="en-US" sz="2400" b="1" dirty="0">
                <a:latin typeface="Helvetica Light" panose="020B0403020202020204" pitchFamily="34" charset="0"/>
              </a:rPr>
              <a:t>(one value becomes $1)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zsh</a:t>
            </a:r>
            <a:r>
              <a:rPr lang="en-US" sz="2400" b="1" dirty="0">
                <a:latin typeface="Helvetica Light" panose="020B0403020202020204" pitchFamily="34" charset="0"/>
              </a:rPr>
              <a:t> mac2unix.sh </a:t>
            </a:r>
            <a:r>
              <a:rPr lang="en-US" sz="2400" b="1" dirty="0" err="1">
                <a:solidFill>
                  <a:srgbClr val="FF0000"/>
                </a:solidFill>
                <a:latin typeface="Helvetica Light" panose="020B0403020202020204" pitchFamily="34" charset="0"/>
              </a:rPr>
              <a:t>example.txt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		</a:t>
            </a:r>
            <a:r>
              <a:rPr lang="en-US" sz="2400" b="1" dirty="0">
                <a:latin typeface="Helvetica Light" panose="020B0403020202020204" pitchFamily="34" charset="0"/>
              </a:rPr>
              <a:t>(one file becomes $1)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zsh</a:t>
            </a:r>
            <a:r>
              <a:rPr lang="en-US" sz="2400" b="1" dirty="0">
                <a:latin typeface="Helvetica Light" panose="020B0403020202020204" pitchFamily="34" charset="0"/>
              </a:rPr>
              <a:t> mac2unix.sh 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*.txt			</a:t>
            </a:r>
            <a:r>
              <a:rPr lang="en-US" sz="2400" b="1" dirty="0">
                <a:latin typeface="Helvetica Light" panose="020B0403020202020204" pitchFamily="34" charset="0"/>
              </a:rPr>
              <a:t>(a list of files becomes $@)</a:t>
            </a:r>
          </a:p>
        </p:txBody>
      </p:sp>
    </p:spTree>
    <p:extLst>
      <p:ext uri="{BB962C8B-B14F-4D97-AF65-F5344CB8AC3E}">
        <p14:creationId xmlns:p14="http://schemas.microsoft.com/office/powerpoint/2010/main" val="479429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6E0E4B-3E4D-EB44-AAE0-FB3A6BB4B518}"/>
              </a:ext>
            </a:extLst>
          </p:cNvPr>
          <p:cNvSpPr txBox="1"/>
          <p:nvPr/>
        </p:nvSpPr>
        <p:spPr>
          <a:xfrm>
            <a:off x="958388" y="291826"/>
            <a:ext cx="951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Lists of arguments are stored in a special list variable: </a:t>
            </a:r>
            <a:r>
              <a:rPr lang="en-US" sz="3200" b="1" dirty="0">
                <a:latin typeface="Helvetica Light" panose="020B0403020202020204" pitchFamily="34" charset="0"/>
              </a:rPr>
              <a:t>$@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EB622-D205-F745-AF19-FD09A8ABA00D}"/>
              </a:ext>
            </a:extLst>
          </p:cNvPr>
          <p:cNvSpPr txBox="1"/>
          <p:nvPr/>
        </p:nvSpPr>
        <p:spPr>
          <a:xfrm>
            <a:off x="958388" y="2468707"/>
            <a:ext cx="3842320" cy="2677656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#!/bin/bash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#demonstration script,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#</a:t>
            </a:r>
            <a:r>
              <a:rPr lang="en-US" sz="2400" b="1" dirty="0" err="1">
                <a:latin typeface="Helvetica Light" panose="020B0403020202020204" pitchFamily="34" charset="0"/>
              </a:rPr>
              <a:t>echo_stdin.sh</a:t>
            </a:r>
            <a:endParaRPr lang="en-US" sz="2400" b="1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	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echo $@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echo $1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echo $2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6D306-8CD6-C848-80E8-55177B617D8C}"/>
              </a:ext>
            </a:extLst>
          </p:cNvPr>
          <p:cNvSpPr txBox="1"/>
          <p:nvPr/>
        </p:nvSpPr>
        <p:spPr>
          <a:xfrm>
            <a:off x="6310675" y="3022705"/>
            <a:ext cx="4746207" cy="156966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bash </a:t>
            </a:r>
            <a:r>
              <a:rPr lang="en-US" sz="2400" b="1" dirty="0" err="1">
                <a:latin typeface="Helvetica Light" panose="020B0403020202020204" pitchFamily="34" charset="0"/>
              </a:rPr>
              <a:t>echo_stdin.sh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17 19 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17 19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17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C3EFB-7617-744B-B51F-411E13CE1B91}"/>
              </a:ext>
            </a:extLst>
          </p:cNvPr>
          <p:cNvSpPr txBox="1"/>
          <p:nvPr/>
        </p:nvSpPr>
        <p:spPr>
          <a:xfrm>
            <a:off x="6217920" y="1898810"/>
            <a:ext cx="5462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Executing script on the left from the command line gets: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2DFA78-C1EC-8A4B-9CE2-8AE6CEA36FA2}"/>
              </a:ext>
            </a:extLst>
          </p:cNvPr>
          <p:cNvSpPr txBox="1"/>
          <p:nvPr/>
        </p:nvSpPr>
        <p:spPr>
          <a:xfrm>
            <a:off x="848660" y="1898810"/>
            <a:ext cx="5462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Example script: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3672C-98DE-D956-44F6-A53B79221005}"/>
              </a:ext>
            </a:extLst>
          </p:cNvPr>
          <p:cNvCxnSpPr>
            <a:cxnSpLocks/>
          </p:cNvCxnSpPr>
          <p:nvPr/>
        </p:nvCxnSpPr>
        <p:spPr>
          <a:xfrm flipH="1" flipV="1">
            <a:off x="9829274" y="3626069"/>
            <a:ext cx="180358" cy="125919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344097-D101-2748-41B4-BAC0EBB4E7D3}"/>
              </a:ext>
            </a:extLst>
          </p:cNvPr>
          <p:cNvSpPr txBox="1"/>
          <p:nvPr/>
        </p:nvSpPr>
        <p:spPr>
          <a:xfrm>
            <a:off x="8166018" y="5146363"/>
            <a:ext cx="3687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Arguments passed to script</a:t>
            </a:r>
          </a:p>
        </p:txBody>
      </p:sp>
    </p:spTree>
    <p:extLst>
      <p:ext uri="{BB962C8B-B14F-4D97-AF65-F5344CB8AC3E}">
        <p14:creationId xmlns:p14="http://schemas.microsoft.com/office/powerpoint/2010/main" val="2111321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1971" y="370657"/>
            <a:ext cx="8263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Looping through STDIN to perform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4715" y="1272221"/>
            <a:ext cx="8087659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#!/bin/bash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## cut_column7.sh 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## description: cuts 7th column from any number of input files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## usage: bash cut_column7.sh STDIN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Helvetica Light" panose="020B0403020202020204" pitchFamily="34" charset="0"/>
              </a:rPr>
              <a:t>for </a:t>
            </a:r>
            <a:r>
              <a:rPr lang="en-US" sz="2200" b="1" dirty="0" err="1">
                <a:latin typeface="Helvetica Light" panose="020B0403020202020204" pitchFamily="34" charset="0"/>
              </a:rPr>
              <a:t>myfile</a:t>
            </a:r>
            <a:r>
              <a:rPr lang="en-US" sz="2200" b="1" dirty="0">
                <a:latin typeface="Helvetica Light" panose="020B0403020202020204" pitchFamily="34" charset="0"/>
              </a:rPr>
              <a:t> in $@; do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	cut -f 7 $</a:t>
            </a:r>
            <a:r>
              <a:rPr lang="en-US" sz="2200" b="1" dirty="0" err="1">
                <a:latin typeface="Helvetica Light" panose="020B0403020202020204" pitchFamily="34" charset="0"/>
              </a:rPr>
              <a:t>myfile</a:t>
            </a:r>
            <a:r>
              <a:rPr lang="en-US" sz="2200" b="1" dirty="0">
                <a:latin typeface="Helvetica Light" panose="020B0403020202020204" pitchFamily="34" charset="0"/>
              </a:rPr>
              <a:t> &amp;&gt; $myfile.column7.txt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done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34715" y="4592624"/>
            <a:ext cx="4012219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Note 1</a:t>
            </a:r>
            <a:r>
              <a:rPr lang="en-US" sz="2200" dirty="0">
                <a:latin typeface="Helvetica Light" panose="020B0403020202020204" pitchFamily="34" charset="0"/>
              </a:rPr>
              <a:t>: $</a:t>
            </a:r>
            <a:r>
              <a:rPr lang="en-US" sz="2200" dirty="0" err="1">
                <a:latin typeface="Helvetica Light" panose="020B0403020202020204" pitchFamily="34" charset="0"/>
              </a:rPr>
              <a:t>myfile</a:t>
            </a:r>
            <a:r>
              <a:rPr lang="en-US" sz="2200" dirty="0">
                <a:latin typeface="Helvetica Light" panose="020B0403020202020204" pitchFamily="34" charset="0"/>
              </a:rPr>
              <a:t> holds the contents of $@ in the loop. Note that </a:t>
            </a:r>
            <a:r>
              <a:rPr lang="en-US" sz="2200" dirty="0" err="1">
                <a:latin typeface="Helvetica Light" panose="020B0403020202020204" pitchFamily="34" charset="0"/>
              </a:rPr>
              <a:t>myfile</a:t>
            </a:r>
            <a:r>
              <a:rPr lang="en-US" sz="2200" dirty="0">
                <a:latin typeface="Helvetica Light" panose="020B0403020202020204" pitchFamily="34" charset="0"/>
              </a:rPr>
              <a:t> doesn’t have a $ on the first line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4603134"/>
            <a:ext cx="5087007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Note 2:  </a:t>
            </a:r>
            <a:r>
              <a:rPr lang="en-US" sz="2200" dirty="0">
                <a:latin typeface="Helvetica Light" panose="020B0403020202020204" pitchFamily="34" charset="0"/>
              </a:rPr>
              <a:t>&amp;&gt; is used to create a new file </a:t>
            </a:r>
            <a:r>
              <a:rPr lang="en-US" sz="2200">
                <a:latin typeface="Helvetica Light" panose="020B0403020202020204" pitchFamily="34" charset="0"/>
              </a:rPr>
              <a:t>via redirection </a:t>
            </a:r>
            <a:r>
              <a:rPr lang="en-US" sz="2200" dirty="0">
                <a:latin typeface="Helvetica Light" panose="020B0403020202020204" pitchFamily="34" charset="0"/>
              </a:rPr>
              <a:t>for the output. Because it is inside the loop, a new file will be created for each object in STDIN</a:t>
            </a:r>
          </a:p>
        </p:txBody>
      </p:sp>
    </p:spTree>
    <p:extLst>
      <p:ext uri="{BB962C8B-B14F-4D97-AF65-F5344CB8AC3E}">
        <p14:creationId xmlns:p14="http://schemas.microsoft.com/office/powerpoint/2010/main" val="3138492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B713A-FC87-2A49-AFF2-27ECBC84D063}"/>
              </a:ext>
            </a:extLst>
          </p:cNvPr>
          <p:cNvSpPr txBox="1"/>
          <p:nvPr/>
        </p:nvSpPr>
        <p:spPr>
          <a:xfrm>
            <a:off x="1217100" y="492533"/>
            <a:ext cx="975779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Installing software packages on Mac Unix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5E173C-8799-6C43-815D-A5102D4C9D62}"/>
              </a:ext>
            </a:extLst>
          </p:cNvPr>
          <p:cNvSpPr/>
          <p:nvPr/>
        </p:nvSpPr>
        <p:spPr>
          <a:xfrm>
            <a:off x="730435" y="1588326"/>
            <a:ext cx="111780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Homebrew (brew)</a:t>
            </a:r>
            <a:r>
              <a:rPr lang="en-US" sz="2800" dirty="0">
                <a:latin typeface="Helvetica Light" panose="020B0403020202020204" pitchFamily="34" charset="0"/>
              </a:rPr>
              <a:t>: installation, management, updates, and removal of software, without having to install from source code for Mac OS Unix. Super helpful, and easy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76C6D8-5578-064E-B3CD-76C5D07F6059}"/>
              </a:ext>
            </a:extLst>
          </p:cNvPr>
          <p:cNvSpPr/>
          <p:nvPr/>
        </p:nvSpPr>
        <p:spPr>
          <a:xfrm>
            <a:off x="730435" y="3364416"/>
            <a:ext cx="1040345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   Installation instructions in </a:t>
            </a:r>
            <a:r>
              <a:rPr lang="en-US" sz="2600" dirty="0" err="1">
                <a:latin typeface="Helvetica Light" panose="020B0403020202020204" pitchFamily="34" charset="0"/>
              </a:rPr>
              <a:t>unixIV</a:t>
            </a:r>
            <a:r>
              <a:rPr lang="en-US" sz="2600" dirty="0">
                <a:latin typeface="Helvetica Light" panose="020B0403020202020204" pitchFamily="34" charset="0"/>
              </a:rPr>
              <a:t> primer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F71618-B7AC-8742-B007-EF674B2AF606}"/>
              </a:ext>
            </a:extLst>
          </p:cNvPr>
          <p:cNvSpPr/>
          <p:nvPr/>
        </p:nvSpPr>
        <p:spPr>
          <a:xfrm>
            <a:off x="506984" y="4449973"/>
            <a:ext cx="1117803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Useful tutorials at: </a:t>
            </a:r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https://</a:t>
            </a:r>
            <a:r>
              <a:rPr lang="en-US" sz="2200" dirty="0" err="1">
                <a:latin typeface="Helvetica Light" panose="020B0403020202020204" pitchFamily="34" charset="0"/>
              </a:rPr>
              <a:t>www.infoworld.com</a:t>
            </a:r>
            <a:r>
              <a:rPr lang="en-US" sz="2200" dirty="0">
                <a:latin typeface="Helvetica Light" panose="020B0403020202020204" pitchFamily="34" charset="0"/>
              </a:rPr>
              <a:t>/article/3328824/homebrew-tutorial-how-to-use-homebrew-for-</a:t>
            </a:r>
            <a:r>
              <a:rPr lang="en-US" sz="2200" dirty="0" err="1">
                <a:latin typeface="Helvetica Light" panose="020B0403020202020204" pitchFamily="34" charset="0"/>
              </a:rPr>
              <a:t>macos.html</a:t>
            </a:r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     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https://</a:t>
            </a:r>
            <a:r>
              <a:rPr lang="en-US" sz="2200" dirty="0" err="1">
                <a:latin typeface="Helvetica Light" panose="020B0403020202020204" pitchFamily="34" charset="0"/>
              </a:rPr>
              <a:t>www.howtogeek.com</a:t>
            </a:r>
            <a:r>
              <a:rPr lang="en-US" sz="2200" dirty="0">
                <a:latin typeface="Helvetica Light" panose="020B0403020202020204" pitchFamily="34" charset="0"/>
              </a:rPr>
              <a:t>/211541/homebrew-for-os-x-easily-installs-desktop-apps-and-terminal-utilities/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475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06A35-DA43-FB4C-BEF3-FE4EEC3D95B4}"/>
              </a:ext>
            </a:extLst>
          </p:cNvPr>
          <p:cNvSpPr txBox="1"/>
          <p:nvPr/>
        </p:nvSpPr>
        <p:spPr>
          <a:xfrm>
            <a:off x="4070445" y="393404"/>
            <a:ext cx="40511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  <a:cs typeface="Calibri Light" panose="020F0302020204030204" pitchFamily="34" charset="0"/>
              </a:rPr>
              <a:t>For this week and next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66975-1518-7843-B51A-EE316B249A9E}"/>
              </a:ext>
            </a:extLst>
          </p:cNvPr>
          <p:cNvSpPr txBox="1"/>
          <p:nvPr/>
        </p:nvSpPr>
        <p:spPr>
          <a:xfrm>
            <a:off x="904514" y="1509587"/>
            <a:ext cx="500970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Bradnam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 and Korf primer U29-U40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C33E8-89FF-C24C-96A3-232B9316C0F1}"/>
              </a:ext>
            </a:extLst>
          </p:cNvPr>
          <p:cNvSpPr txBox="1"/>
          <p:nvPr/>
        </p:nvSpPr>
        <p:spPr>
          <a:xfrm>
            <a:off x="904514" y="2396068"/>
            <a:ext cx="11081683" cy="27853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Work through 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linuxIV_</a:t>
            </a:r>
            <a:r>
              <a:rPr lang="en-US" sz="2600" b="1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primer</a:t>
            </a:r>
            <a:r>
              <a:rPr lang="en-US" sz="2400" b="1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.md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 </a:t>
            </a:r>
          </a:p>
          <a:p>
            <a:pPr marL="342900" indent="-342900">
              <a:buFontTx/>
              <a:buChar char="-"/>
            </a:pPr>
            <a:endParaRPr lang="en-US" sz="2400" dirty="0">
              <a:ln>
                <a:solidFill>
                  <a:schemeClr val="tx1"/>
                </a:solidFill>
              </a:ln>
              <a:latin typeface="Helvetica Light" panose="020B0403020202020204" pitchFamily="34" charset="0"/>
              <a:cs typeface="Calibri Light" panose="020F03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Work through, and email me code from </a:t>
            </a:r>
            <a:r>
              <a:rPr lang="en-US" sz="29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#3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 (bash script), 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linux_assignment_4.md </a:t>
            </a:r>
          </a:p>
          <a:p>
            <a:pPr marL="342900" indent="-342900">
              <a:buFontTx/>
              <a:buChar char="-"/>
            </a:pPr>
            <a:endParaRPr lang="en-US" sz="2400" dirty="0">
              <a:ln>
                <a:solidFill>
                  <a:schemeClr val="tx1"/>
                </a:solidFill>
              </a:ln>
              <a:latin typeface="Helvetica Light" panose="020B0403020202020204" pitchFamily="34" charset="0"/>
              <a:cs typeface="Calibri Light" panose="020F03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Follow instructions for updating to python3 and installing anaconda navigator (in 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linux_assignment_4.md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8C560-E936-0843-9E3A-8FE468250552}"/>
              </a:ext>
            </a:extLst>
          </p:cNvPr>
          <p:cNvSpPr txBox="1"/>
          <p:nvPr/>
        </p:nvSpPr>
        <p:spPr>
          <a:xfrm>
            <a:off x="904514" y="5518479"/>
            <a:ext cx="7217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  <a:cs typeface="Calibri Light" panose="020F0302020204030204" pitchFamily="34" charset="0"/>
              </a:rPr>
              <a:t>For next Tuesday: Chapter 7 in Haddock and Dunn</a:t>
            </a:r>
          </a:p>
        </p:txBody>
      </p:sp>
    </p:spTree>
    <p:extLst>
      <p:ext uri="{BB962C8B-B14F-4D97-AF65-F5344CB8AC3E}">
        <p14:creationId xmlns:p14="http://schemas.microsoft.com/office/powerpoint/2010/main" val="1633021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26147</TotalTime>
  <Words>1635</Words>
  <Application>Microsoft Macintosh PowerPoint</Application>
  <PresentationFormat>Widescreen</PresentationFormat>
  <Paragraphs>173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113</cp:revision>
  <dcterms:created xsi:type="dcterms:W3CDTF">2020-09-07T19:19:57Z</dcterms:created>
  <dcterms:modified xsi:type="dcterms:W3CDTF">2026-09-16T01:01:45Z</dcterms:modified>
</cp:coreProperties>
</file>