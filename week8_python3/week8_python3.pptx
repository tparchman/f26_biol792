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323" r:id="rId2"/>
    <p:sldId id="343" r:id="rId3"/>
    <p:sldId id="344" r:id="rId4"/>
    <p:sldId id="327" r:id="rId5"/>
    <p:sldId id="329" r:id="rId6"/>
    <p:sldId id="328" r:id="rId7"/>
    <p:sldId id="330" r:id="rId8"/>
    <p:sldId id="331" r:id="rId9"/>
    <p:sldId id="345" r:id="rId10"/>
    <p:sldId id="346" r:id="rId11"/>
    <p:sldId id="333" r:id="rId12"/>
    <p:sldId id="335" r:id="rId13"/>
    <p:sldId id="336" r:id="rId14"/>
    <p:sldId id="338" r:id="rId15"/>
    <p:sldId id="337" r:id="rId16"/>
    <p:sldId id="339" r:id="rId17"/>
    <p:sldId id="332" r:id="rId18"/>
    <p:sldId id="340" r:id="rId19"/>
    <p:sldId id="342" r:id="rId20"/>
    <p:sldId id="334"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7868"/>
    <p:restoredTop sz="94744"/>
  </p:normalViewPr>
  <p:slideViewPr>
    <p:cSldViewPr snapToGrid="0" snapToObjects="1">
      <p:cViewPr varScale="1">
        <p:scale>
          <a:sx n="115" d="100"/>
          <a:sy n="115" d="100"/>
        </p:scale>
        <p:origin x="232" y="2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739141-2DAA-2346-BEF0-0594A5BB306A}" type="datetimeFigureOut">
              <a:rPr lang="en-US" smtClean="0"/>
              <a:t>10/13/26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27DD47-6C2A-9C46-B9F9-428C206BB55F}" type="slidenum">
              <a:rPr lang="en-US" smtClean="0"/>
              <a:t>‹#›</a:t>
            </a:fld>
            <a:endParaRPr lang="en-US"/>
          </a:p>
        </p:txBody>
      </p:sp>
    </p:spTree>
    <p:extLst>
      <p:ext uri="{BB962C8B-B14F-4D97-AF65-F5344CB8AC3E}">
        <p14:creationId xmlns:p14="http://schemas.microsoft.com/office/powerpoint/2010/main" val="1412522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So far, most of the data we’ve worked with have been created directly inside our Python code. This week we’re going to make the transition to working with data stored in files. The basic workflow is going to be simple: open a file, work through it one line at a time, do something with each line, and write results back out.</a:t>
            </a:r>
          </a:p>
          <a:p>
            <a:endParaRPr lang="en-US" dirty="0"/>
          </a:p>
        </p:txBody>
      </p:sp>
      <p:sp>
        <p:nvSpPr>
          <p:cNvPr id="4" name="Slide Number Placeholder 3"/>
          <p:cNvSpPr>
            <a:spLocks noGrp="1"/>
          </p:cNvSpPr>
          <p:nvPr>
            <p:ph type="sldNum" sz="quarter" idx="5"/>
          </p:nvPr>
        </p:nvSpPr>
        <p:spPr/>
        <p:txBody>
          <a:bodyPr/>
          <a:lstStyle/>
          <a:p>
            <a:fld id="{FBC3CC19-939B-124D-AEB5-0A0C0D7EEB85}" type="slidenum">
              <a:rPr lang="en-US" smtClean="0"/>
              <a:t>1</a:t>
            </a:fld>
            <a:endParaRPr lang="en-US"/>
          </a:p>
        </p:txBody>
      </p:sp>
    </p:spTree>
    <p:extLst>
      <p:ext uri="{BB962C8B-B14F-4D97-AF65-F5344CB8AC3E}">
        <p14:creationId xmlns:p14="http://schemas.microsoft.com/office/powerpoint/2010/main" val="9055924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err="1">
                <a:solidFill>
                  <a:schemeClr val="tx1"/>
                </a:solidFill>
                <a:latin typeface="+mn-lt"/>
                <a:ea typeface="+mn-ea"/>
                <a:cs typeface="+mn-cs"/>
              </a:rPr>
              <a:t>testdata.txt</a:t>
            </a:r>
            <a:r>
              <a:rPr lang="en-US" dirty="0"/>
              <a:t> is the file on disk. </a:t>
            </a:r>
            <a:r>
              <a:rPr lang="en-US" sz="1200" kern="1200" dirty="0">
                <a:solidFill>
                  <a:schemeClr val="tx1"/>
                </a:solidFill>
                <a:latin typeface="+mn-lt"/>
                <a:ea typeface="+mn-ea"/>
                <a:cs typeface="+mn-cs"/>
              </a:rPr>
              <a:t>IN</a:t>
            </a:r>
            <a:r>
              <a:rPr lang="en-US" dirty="0"/>
              <a:t> is a Python file object that gives us access to that file. Later, </a:t>
            </a:r>
            <a:r>
              <a:rPr lang="en-US" sz="1200" kern="1200" dirty="0">
                <a:solidFill>
                  <a:schemeClr val="tx1"/>
                </a:solidFill>
                <a:latin typeface="+mn-lt"/>
                <a:ea typeface="+mn-ea"/>
                <a:cs typeface="+mn-cs"/>
              </a:rPr>
              <a:t>Line</a:t>
            </a:r>
            <a:r>
              <a:rPr lang="en-US" dirty="0"/>
              <a:t> will contain actual data that we’ve read from the file.</a:t>
            </a:r>
          </a:p>
          <a:p>
            <a:endParaRPr lang="en-US" dirty="0"/>
          </a:p>
        </p:txBody>
      </p:sp>
      <p:sp>
        <p:nvSpPr>
          <p:cNvPr id="4" name="Slide Number Placeholder 3"/>
          <p:cNvSpPr>
            <a:spLocks noGrp="1"/>
          </p:cNvSpPr>
          <p:nvPr>
            <p:ph type="sldNum" sz="quarter" idx="5"/>
          </p:nvPr>
        </p:nvSpPr>
        <p:spPr/>
        <p:txBody>
          <a:bodyPr/>
          <a:lstStyle/>
          <a:p>
            <a:fld id="{5327DD47-6C2A-9C46-B9F9-428C206BB55F}" type="slidenum">
              <a:rPr lang="en-US" smtClean="0"/>
              <a:t>4</a:t>
            </a:fld>
            <a:endParaRPr lang="en-US"/>
          </a:p>
        </p:txBody>
      </p:sp>
    </p:spTree>
    <p:extLst>
      <p:ext uri="{BB962C8B-B14F-4D97-AF65-F5344CB8AC3E}">
        <p14:creationId xmlns:p14="http://schemas.microsoft.com/office/powerpoint/2010/main" val="21136762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327DD47-6C2A-9C46-B9F9-428C206BB55F}" type="slidenum">
              <a:rPr lang="en-US" smtClean="0"/>
              <a:t>5</a:t>
            </a:fld>
            <a:endParaRPr lang="en-US"/>
          </a:p>
        </p:txBody>
      </p:sp>
    </p:spTree>
    <p:extLst>
      <p:ext uri="{BB962C8B-B14F-4D97-AF65-F5344CB8AC3E}">
        <p14:creationId xmlns:p14="http://schemas.microsoft.com/office/powerpoint/2010/main" val="27087212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327DD47-6C2A-9C46-B9F9-428C206BB55F}" type="slidenum">
              <a:rPr lang="en-US" smtClean="0"/>
              <a:t>8</a:t>
            </a:fld>
            <a:endParaRPr lang="en-US"/>
          </a:p>
        </p:txBody>
      </p:sp>
    </p:spTree>
    <p:extLst>
      <p:ext uri="{BB962C8B-B14F-4D97-AF65-F5344CB8AC3E}">
        <p14:creationId xmlns:p14="http://schemas.microsoft.com/office/powerpoint/2010/main" val="36494000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F88B7F-A430-251C-F62F-8B679D4ADF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D2C72E-60B3-28DB-D86E-61B8BBB731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6CF20D-1B18-AF3C-2602-E94F0976A1D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83AB8E5-8FB6-59CF-6E36-909F7B60DE33}"/>
              </a:ext>
            </a:extLst>
          </p:cNvPr>
          <p:cNvSpPr>
            <a:spLocks noGrp="1"/>
          </p:cNvSpPr>
          <p:nvPr>
            <p:ph type="sldNum" sz="quarter" idx="5"/>
          </p:nvPr>
        </p:nvSpPr>
        <p:spPr/>
        <p:txBody>
          <a:bodyPr/>
          <a:lstStyle/>
          <a:p>
            <a:fld id="{5327DD47-6C2A-9C46-B9F9-428C206BB55F}" type="slidenum">
              <a:rPr lang="en-US" smtClean="0"/>
              <a:t>9</a:t>
            </a:fld>
            <a:endParaRPr lang="en-US"/>
          </a:p>
        </p:txBody>
      </p:sp>
    </p:spTree>
    <p:extLst>
      <p:ext uri="{BB962C8B-B14F-4D97-AF65-F5344CB8AC3E}">
        <p14:creationId xmlns:p14="http://schemas.microsoft.com/office/powerpoint/2010/main" val="2728579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1F35C-BD15-0472-ECA2-9E3AE3667F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3F7AB6-E3AB-69FC-C659-73EB511159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F69D2F-2D61-1BDE-ECCE-013B03E22EA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D12CC48-49A2-D39A-661E-270382F36C35}"/>
              </a:ext>
            </a:extLst>
          </p:cNvPr>
          <p:cNvSpPr>
            <a:spLocks noGrp="1"/>
          </p:cNvSpPr>
          <p:nvPr>
            <p:ph type="sldNum" sz="quarter" idx="5"/>
          </p:nvPr>
        </p:nvSpPr>
        <p:spPr/>
        <p:txBody>
          <a:bodyPr/>
          <a:lstStyle/>
          <a:p>
            <a:fld id="{5327DD47-6C2A-9C46-B9F9-428C206BB55F}" type="slidenum">
              <a:rPr lang="en-US" smtClean="0"/>
              <a:t>10</a:t>
            </a:fld>
            <a:endParaRPr lang="en-US"/>
          </a:p>
        </p:txBody>
      </p:sp>
    </p:spTree>
    <p:extLst>
      <p:ext uri="{BB962C8B-B14F-4D97-AF65-F5344CB8AC3E}">
        <p14:creationId xmlns:p14="http://schemas.microsoft.com/office/powerpoint/2010/main" val="35856281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BC3CC19-939B-124D-AEB5-0A0C0D7EEB85}" type="slidenum">
              <a:rPr lang="en-US" smtClean="0"/>
              <a:t>20</a:t>
            </a:fld>
            <a:endParaRPr lang="en-US"/>
          </a:p>
        </p:txBody>
      </p:sp>
    </p:spTree>
    <p:extLst>
      <p:ext uri="{BB962C8B-B14F-4D97-AF65-F5344CB8AC3E}">
        <p14:creationId xmlns:p14="http://schemas.microsoft.com/office/powerpoint/2010/main" val="9374079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5621DE-03A3-E54C-A74D-FE203D0BDDF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411B9C7-93C9-374A-B3AB-C07B1EE1763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228E19D-4F5B-3C4C-BDAF-0592A676C44B}"/>
              </a:ext>
            </a:extLst>
          </p:cNvPr>
          <p:cNvSpPr>
            <a:spLocks noGrp="1"/>
          </p:cNvSpPr>
          <p:nvPr>
            <p:ph type="dt" sz="half" idx="10"/>
          </p:nvPr>
        </p:nvSpPr>
        <p:spPr/>
        <p:txBody>
          <a:bodyPr/>
          <a:lstStyle/>
          <a:p>
            <a:fld id="{69F9884C-D6B0-574D-ABEB-4B3275C742BC}" type="datetimeFigureOut">
              <a:rPr lang="en-US" smtClean="0"/>
              <a:t>10/13/26</a:t>
            </a:fld>
            <a:endParaRPr lang="en-US"/>
          </a:p>
        </p:txBody>
      </p:sp>
      <p:sp>
        <p:nvSpPr>
          <p:cNvPr id="5" name="Footer Placeholder 4">
            <a:extLst>
              <a:ext uri="{FF2B5EF4-FFF2-40B4-BE49-F238E27FC236}">
                <a16:creationId xmlns:a16="http://schemas.microsoft.com/office/drawing/2014/main" id="{C769C701-4A70-1A40-970F-02BE6AD6FE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A526A3-30BB-C740-968F-2E2DAB11D32C}"/>
              </a:ext>
            </a:extLst>
          </p:cNvPr>
          <p:cNvSpPr>
            <a:spLocks noGrp="1"/>
          </p:cNvSpPr>
          <p:nvPr>
            <p:ph type="sldNum" sz="quarter" idx="12"/>
          </p:nvPr>
        </p:nvSpPr>
        <p:spPr/>
        <p:txBody>
          <a:bodyPr/>
          <a:lstStyle/>
          <a:p>
            <a:fld id="{D376C0C3-5FC9-C84C-A6CB-AC7829EDC256}" type="slidenum">
              <a:rPr lang="en-US" smtClean="0"/>
              <a:t>‹#›</a:t>
            </a:fld>
            <a:endParaRPr lang="en-US"/>
          </a:p>
        </p:txBody>
      </p:sp>
    </p:spTree>
    <p:extLst>
      <p:ext uri="{BB962C8B-B14F-4D97-AF65-F5344CB8AC3E}">
        <p14:creationId xmlns:p14="http://schemas.microsoft.com/office/powerpoint/2010/main" val="18805505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9846-59EA-3B49-A3C2-B5BA1823CC7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FFACC2C-E7FC-0A42-A4C8-3D172383464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39D99FE-E502-F649-8F37-2AC7A8C07454}"/>
              </a:ext>
            </a:extLst>
          </p:cNvPr>
          <p:cNvSpPr>
            <a:spLocks noGrp="1"/>
          </p:cNvSpPr>
          <p:nvPr>
            <p:ph type="dt" sz="half" idx="10"/>
          </p:nvPr>
        </p:nvSpPr>
        <p:spPr/>
        <p:txBody>
          <a:bodyPr/>
          <a:lstStyle/>
          <a:p>
            <a:fld id="{69F9884C-D6B0-574D-ABEB-4B3275C742BC}" type="datetimeFigureOut">
              <a:rPr lang="en-US" smtClean="0"/>
              <a:t>10/13/26</a:t>
            </a:fld>
            <a:endParaRPr lang="en-US"/>
          </a:p>
        </p:txBody>
      </p:sp>
      <p:sp>
        <p:nvSpPr>
          <p:cNvPr id="5" name="Footer Placeholder 4">
            <a:extLst>
              <a:ext uri="{FF2B5EF4-FFF2-40B4-BE49-F238E27FC236}">
                <a16:creationId xmlns:a16="http://schemas.microsoft.com/office/drawing/2014/main" id="{02D763BF-EBA6-4E4B-BB05-0B3F186B1E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F6B799-D0C8-FF43-995B-48135668D5F7}"/>
              </a:ext>
            </a:extLst>
          </p:cNvPr>
          <p:cNvSpPr>
            <a:spLocks noGrp="1"/>
          </p:cNvSpPr>
          <p:nvPr>
            <p:ph type="sldNum" sz="quarter" idx="12"/>
          </p:nvPr>
        </p:nvSpPr>
        <p:spPr/>
        <p:txBody>
          <a:bodyPr/>
          <a:lstStyle/>
          <a:p>
            <a:fld id="{D376C0C3-5FC9-C84C-A6CB-AC7829EDC256}" type="slidenum">
              <a:rPr lang="en-US" smtClean="0"/>
              <a:t>‹#›</a:t>
            </a:fld>
            <a:endParaRPr lang="en-US"/>
          </a:p>
        </p:txBody>
      </p:sp>
    </p:spTree>
    <p:extLst>
      <p:ext uri="{BB962C8B-B14F-4D97-AF65-F5344CB8AC3E}">
        <p14:creationId xmlns:p14="http://schemas.microsoft.com/office/powerpoint/2010/main" val="13758067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757A2-0D2F-8F40-8056-04962D404BC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358863B-6E4B-3D41-8470-596A9E094CC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4F22CFF-CE7B-524B-8E69-60F3B7CCC95E}"/>
              </a:ext>
            </a:extLst>
          </p:cNvPr>
          <p:cNvSpPr>
            <a:spLocks noGrp="1"/>
          </p:cNvSpPr>
          <p:nvPr>
            <p:ph type="dt" sz="half" idx="10"/>
          </p:nvPr>
        </p:nvSpPr>
        <p:spPr/>
        <p:txBody>
          <a:bodyPr/>
          <a:lstStyle/>
          <a:p>
            <a:fld id="{69F9884C-D6B0-574D-ABEB-4B3275C742BC}" type="datetimeFigureOut">
              <a:rPr lang="en-US" smtClean="0"/>
              <a:t>10/13/26</a:t>
            </a:fld>
            <a:endParaRPr lang="en-US"/>
          </a:p>
        </p:txBody>
      </p:sp>
      <p:sp>
        <p:nvSpPr>
          <p:cNvPr id="5" name="Footer Placeholder 4">
            <a:extLst>
              <a:ext uri="{FF2B5EF4-FFF2-40B4-BE49-F238E27FC236}">
                <a16:creationId xmlns:a16="http://schemas.microsoft.com/office/drawing/2014/main" id="{611136BF-1D81-AE4F-A439-D2B1818B13F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7E97E8-BA06-9243-B81F-BA64337A9FB3}"/>
              </a:ext>
            </a:extLst>
          </p:cNvPr>
          <p:cNvSpPr>
            <a:spLocks noGrp="1"/>
          </p:cNvSpPr>
          <p:nvPr>
            <p:ph type="sldNum" sz="quarter" idx="12"/>
          </p:nvPr>
        </p:nvSpPr>
        <p:spPr/>
        <p:txBody>
          <a:bodyPr/>
          <a:lstStyle/>
          <a:p>
            <a:fld id="{D376C0C3-5FC9-C84C-A6CB-AC7829EDC256}" type="slidenum">
              <a:rPr lang="en-US" smtClean="0"/>
              <a:t>‹#›</a:t>
            </a:fld>
            <a:endParaRPr lang="en-US"/>
          </a:p>
        </p:txBody>
      </p:sp>
    </p:spTree>
    <p:extLst>
      <p:ext uri="{BB962C8B-B14F-4D97-AF65-F5344CB8AC3E}">
        <p14:creationId xmlns:p14="http://schemas.microsoft.com/office/powerpoint/2010/main" val="17662421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41D572-CAFB-7B46-9420-AC8BF80BEF0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A629A1A-A728-864C-AA52-83FA88377E9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30E33BA-19E5-2342-9F96-080D0AA0887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76F5ED7-429A-9946-AB52-E211B788D801}"/>
              </a:ext>
            </a:extLst>
          </p:cNvPr>
          <p:cNvSpPr>
            <a:spLocks noGrp="1"/>
          </p:cNvSpPr>
          <p:nvPr>
            <p:ph type="dt" sz="half" idx="10"/>
          </p:nvPr>
        </p:nvSpPr>
        <p:spPr/>
        <p:txBody>
          <a:bodyPr/>
          <a:lstStyle/>
          <a:p>
            <a:fld id="{69F9884C-D6B0-574D-ABEB-4B3275C742BC}" type="datetimeFigureOut">
              <a:rPr lang="en-US" smtClean="0"/>
              <a:t>10/13/26</a:t>
            </a:fld>
            <a:endParaRPr lang="en-US"/>
          </a:p>
        </p:txBody>
      </p:sp>
      <p:sp>
        <p:nvSpPr>
          <p:cNvPr id="6" name="Footer Placeholder 5">
            <a:extLst>
              <a:ext uri="{FF2B5EF4-FFF2-40B4-BE49-F238E27FC236}">
                <a16:creationId xmlns:a16="http://schemas.microsoft.com/office/drawing/2014/main" id="{085AD3F6-A938-4F49-974E-91686AAA547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EEB995A-B33C-D644-A9D8-9D97D63712C3}"/>
              </a:ext>
            </a:extLst>
          </p:cNvPr>
          <p:cNvSpPr>
            <a:spLocks noGrp="1"/>
          </p:cNvSpPr>
          <p:nvPr>
            <p:ph type="sldNum" sz="quarter" idx="12"/>
          </p:nvPr>
        </p:nvSpPr>
        <p:spPr/>
        <p:txBody>
          <a:bodyPr/>
          <a:lstStyle/>
          <a:p>
            <a:fld id="{D376C0C3-5FC9-C84C-A6CB-AC7829EDC256}" type="slidenum">
              <a:rPr lang="en-US" smtClean="0"/>
              <a:t>‹#›</a:t>
            </a:fld>
            <a:endParaRPr lang="en-US"/>
          </a:p>
        </p:txBody>
      </p:sp>
    </p:spTree>
    <p:extLst>
      <p:ext uri="{BB962C8B-B14F-4D97-AF65-F5344CB8AC3E}">
        <p14:creationId xmlns:p14="http://schemas.microsoft.com/office/powerpoint/2010/main" val="26270193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856971-CE78-A449-9940-B9E36879064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F57982A-F3AC-1F42-A44F-4F93AB527CB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2D05767-0A75-F744-83EB-2ABBB8A16CA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5293F0C-DA55-A94A-8566-A571D10C4EA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F61093C-2DB3-3A45-8464-632F7B3F10E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FD44FAE-A407-0841-8837-AB815FB597E7}"/>
              </a:ext>
            </a:extLst>
          </p:cNvPr>
          <p:cNvSpPr>
            <a:spLocks noGrp="1"/>
          </p:cNvSpPr>
          <p:nvPr>
            <p:ph type="dt" sz="half" idx="10"/>
          </p:nvPr>
        </p:nvSpPr>
        <p:spPr/>
        <p:txBody>
          <a:bodyPr/>
          <a:lstStyle/>
          <a:p>
            <a:fld id="{69F9884C-D6B0-574D-ABEB-4B3275C742BC}" type="datetimeFigureOut">
              <a:rPr lang="en-US" smtClean="0"/>
              <a:t>10/13/26</a:t>
            </a:fld>
            <a:endParaRPr lang="en-US"/>
          </a:p>
        </p:txBody>
      </p:sp>
      <p:sp>
        <p:nvSpPr>
          <p:cNvPr id="8" name="Footer Placeholder 7">
            <a:extLst>
              <a:ext uri="{FF2B5EF4-FFF2-40B4-BE49-F238E27FC236}">
                <a16:creationId xmlns:a16="http://schemas.microsoft.com/office/drawing/2014/main" id="{4338BEF6-796E-FF40-92C3-5826F6354ED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3116A67-9957-1F43-A86B-7FA50139203A}"/>
              </a:ext>
            </a:extLst>
          </p:cNvPr>
          <p:cNvSpPr>
            <a:spLocks noGrp="1"/>
          </p:cNvSpPr>
          <p:nvPr>
            <p:ph type="sldNum" sz="quarter" idx="12"/>
          </p:nvPr>
        </p:nvSpPr>
        <p:spPr/>
        <p:txBody>
          <a:bodyPr/>
          <a:lstStyle/>
          <a:p>
            <a:fld id="{D376C0C3-5FC9-C84C-A6CB-AC7829EDC256}" type="slidenum">
              <a:rPr lang="en-US" smtClean="0"/>
              <a:t>‹#›</a:t>
            </a:fld>
            <a:endParaRPr lang="en-US"/>
          </a:p>
        </p:txBody>
      </p:sp>
    </p:spTree>
    <p:extLst>
      <p:ext uri="{BB962C8B-B14F-4D97-AF65-F5344CB8AC3E}">
        <p14:creationId xmlns:p14="http://schemas.microsoft.com/office/powerpoint/2010/main" val="12627722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5F2F0-C1EF-5645-B1C3-C17ECABDDAD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6575209-2143-3640-8A88-561C84690177}"/>
              </a:ext>
            </a:extLst>
          </p:cNvPr>
          <p:cNvSpPr>
            <a:spLocks noGrp="1"/>
          </p:cNvSpPr>
          <p:nvPr>
            <p:ph type="dt" sz="half" idx="10"/>
          </p:nvPr>
        </p:nvSpPr>
        <p:spPr/>
        <p:txBody>
          <a:bodyPr/>
          <a:lstStyle/>
          <a:p>
            <a:fld id="{69F9884C-D6B0-574D-ABEB-4B3275C742BC}" type="datetimeFigureOut">
              <a:rPr lang="en-US" smtClean="0"/>
              <a:t>10/13/26</a:t>
            </a:fld>
            <a:endParaRPr lang="en-US"/>
          </a:p>
        </p:txBody>
      </p:sp>
      <p:sp>
        <p:nvSpPr>
          <p:cNvPr id="4" name="Footer Placeholder 3">
            <a:extLst>
              <a:ext uri="{FF2B5EF4-FFF2-40B4-BE49-F238E27FC236}">
                <a16:creationId xmlns:a16="http://schemas.microsoft.com/office/drawing/2014/main" id="{1B2C63C6-2505-514C-8311-2A7D16E8072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8A8A312-BACD-1E41-932F-739245B721FF}"/>
              </a:ext>
            </a:extLst>
          </p:cNvPr>
          <p:cNvSpPr>
            <a:spLocks noGrp="1"/>
          </p:cNvSpPr>
          <p:nvPr>
            <p:ph type="sldNum" sz="quarter" idx="12"/>
          </p:nvPr>
        </p:nvSpPr>
        <p:spPr/>
        <p:txBody>
          <a:bodyPr/>
          <a:lstStyle/>
          <a:p>
            <a:fld id="{D376C0C3-5FC9-C84C-A6CB-AC7829EDC256}" type="slidenum">
              <a:rPr lang="en-US" smtClean="0"/>
              <a:t>‹#›</a:t>
            </a:fld>
            <a:endParaRPr lang="en-US"/>
          </a:p>
        </p:txBody>
      </p:sp>
    </p:spTree>
    <p:extLst>
      <p:ext uri="{BB962C8B-B14F-4D97-AF65-F5344CB8AC3E}">
        <p14:creationId xmlns:p14="http://schemas.microsoft.com/office/powerpoint/2010/main" val="42005850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4907468-FDDF-B74F-9618-397A8E3EBB07}"/>
              </a:ext>
            </a:extLst>
          </p:cNvPr>
          <p:cNvSpPr>
            <a:spLocks noGrp="1"/>
          </p:cNvSpPr>
          <p:nvPr>
            <p:ph type="dt" sz="half" idx="10"/>
          </p:nvPr>
        </p:nvSpPr>
        <p:spPr/>
        <p:txBody>
          <a:bodyPr/>
          <a:lstStyle/>
          <a:p>
            <a:fld id="{69F9884C-D6B0-574D-ABEB-4B3275C742BC}" type="datetimeFigureOut">
              <a:rPr lang="en-US" smtClean="0"/>
              <a:t>10/13/26</a:t>
            </a:fld>
            <a:endParaRPr lang="en-US"/>
          </a:p>
        </p:txBody>
      </p:sp>
      <p:sp>
        <p:nvSpPr>
          <p:cNvPr id="3" name="Footer Placeholder 2">
            <a:extLst>
              <a:ext uri="{FF2B5EF4-FFF2-40B4-BE49-F238E27FC236}">
                <a16:creationId xmlns:a16="http://schemas.microsoft.com/office/drawing/2014/main" id="{4B7D9030-BE3A-2443-AD24-BF914E5682C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3F7961C-67F4-F240-8934-46104F14BF9C}"/>
              </a:ext>
            </a:extLst>
          </p:cNvPr>
          <p:cNvSpPr>
            <a:spLocks noGrp="1"/>
          </p:cNvSpPr>
          <p:nvPr>
            <p:ph type="sldNum" sz="quarter" idx="12"/>
          </p:nvPr>
        </p:nvSpPr>
        <p:spPr/>
        <p:txBody>
          <a:bodyPr/>
          <a:lstStyle/>
          <a:p>
            <a:fld id="{D376C0C3-5FC9-C84C-A6CB-AC7829EDC256}" type="slidenum">
              <a:rPr lang="en-US" smtClean="0"/>
              <a:t>‹#›</a:t>
            </a:fld>
            <a:endParaRPr lang="en-US"/>
          </a:p>
        </p:txBody>
      </p:sp>
    </p:spTree>
    <p:extLst>
      <p:ext uri="{BB962C8B-B14F-4D97-AF65-F5344CB8AC3E}">
        <p14:creationId xmlns:p14="http://schemas.microsoft.com/office/powerpoint/2010/main" val="30187430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BED1FE-4AF3-794F-9755-4048A1DB940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2CD9062-15D5-A14F-9678-9564DF0005F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C05F60B-631E-DA46-BC49-0343C1F0FB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438A21-49D0-F841-937D-307631B826E9}"/>
              </a:ext>
            </a:extLst>
          </p:cNvPr>
          <p:cNvSpPr>
            <a:spLocks noGrp="1"/>
          </p:cNvSpPr>
          <p:nvPr>
            <p:ph type="dt" sz="half" idx="10"/>
          </p:nvPr>
        </p:nvSpPr>
        <p:spPr/>
        <p:txBody>
          <a:bodyPr/>
          <a:lstStyle/>
          <a:p>
            <a:fld id="{69F9884C-D6B0-574D-ABEB-4B3275C742BC}" type="datetimeFigureOut">
              <a:rPr lang="en-US" smtClean="0"/>
              <a:t>10/13/26</a:t>
            </a:fld>
            <a:endParaRPr lang="en-US"/>
          </a:p>
        </p:txBody>
      </p:sp>
      <p:sp>
        <p:nvSpPr>
          <p:cNvPr id="6" name="Footer Placeholder 5">
            <a:extLst>
              <a:ext uri="{FF2B5EF4-FFF2-40B4-BE49-F238E27FC236}">
                <a16:creationId xmlns:a16="http://schemas.microsoft.com/office/drawing/2014/main" id="{54D15CD6-3FA4-8C4C-826E-6B07C924C48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4B443E6-1A72-B049-9128-F1008D5DBB39}"/>
              </a:ext>
            </a:extLst>
          </p:cNvPr>
          <p:cNvSpPr>
            <a:spLocks noGrp="1"/>
          </p:cNvSpPr>
          <p:nvPr>
            <p:ph type="sldNum" sz="quarter" idx="12"/>
          </p:nvPr>
        </p:nvSpPr>
        <p:spPr/>
        <p:txBody>
          <a:bodyPr/>
          <a:lstStyle/>
          <a:p>
            <a:fld id="{D376C0C3-5FC9-C84C-A6CB-AC7829EDC256}" type="slidenum">
              <a:rPr lang="en-US" smtClean="0"/>
              <a:t>‹#›</a:t>
            </a:fld>
            <a:endParaRPr lang="en-US"/>
          </a:p>
        </p:txBody>
      </p:sp>
    </p:spTree>
    <p:extLst>
      <p:ext uri="{BB962C8B-B14F-4D97-AF65-F5344CB8AC3E}">
        <p14:creationId xmlns:p14="http://schemas.microsoft.com/office/powerpoint/2010/main" val="30145398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86E449-A316-9441-82B6-DC39CC279D7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E4AAB58-E781-1342-AF4C-9D8F211B629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A1D7E1A-2DDA-CE48-BE06-C7790C3D2E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88F6C5B-AF09-A145-8C61-DC4C7E240CE5}"/>
              </a:ext>
            </a:extLst>
          </p:cNvPr>
          <p:cNvSpPr>
            <a:spLocks noGrp="1"/>
          </p:cNvSpPr>
          <p:nvPr>
            <p:ph type="dt" sz="half" idx="10"/>
          </p:nvPr>
        </p:nvSpPr>
        <p:spPr/>
        <p:txBody>
          <a:bodyPr/>
          <a:lstStyle/>
          <a:p>
            <a:fld id="{69F9884C-D6B0-574D-ABEB-4B3275C742BC}" type="datetimeFigureOut">
              <a:rPr lang="en-US" smtClean="0"/>
              <a:t>10/13/26</a:t>
            </a:fld>
            <a:endParaRPr lang="en-US"/>
          </a:p>
        </p:txBody>
      </p:sp>
      <p:sp>
        <p:nvSpPr>
          <p:cNvPr id="6" name="Footer Placeholder 5">
            <a:extLst>
              <a:ext uri="{FF2B5EF4-FFF2-40B4-BE49-F238E27FC236}">
                <a16:creationId xmlns:a16="http://schemas.microsoft.com/office/drawing/2014/main" id="{1787E5D7-0495-0A4F-A34D-C44ADCCA7D5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003474D-6D93-174E-B74D-12D3313F23B4}"/>
              </a:ext>
            </a:extLst>
          </p:cNvPr>
          <p:cNvSpPr>
            <a:spLocks noGrp="1"/>
          </p:cNvSpPr>
          <p:nvPr>
            <p:ph type="sldNum" sz="quarter" idx="12"/>
          </p:nvPr>
        </p:nvSpPr>
        <p:spPr/>
        <p:txBody>
          <a:bodyPr/>
          <a:lstStyle/>
          <a:p>
            <a:fld id="{D376C0C3-5FC9-C84C-A6CB-AC7829EDC256}" type="slidenum">
              <a:rPr lang="en-US" smtClean="0"/>
              <a:t>‹#›</a:t>
            </a:fld>
            <a:endParaRPr lang="en-US"/>
          </a:p>
        </p:txBody>
      </p:sp>
    </p:spTree>
    <p:extLst>
      <p:ext uri="{BB962C8B-B14F-4D97-AF65-F5344CB8AC3E}">
        <p14:creationId xmlns:p14="http://schemas.microsoft.com/office/powerpoint/2010/main" val="1476065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F1156-CF4C-2648-A1D0-8B698DD4B8F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A2024C8-FFC9-1C47-B617-FA17E838083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5595B8-B863-3C4E-AB10-3C2E5CE2B942}"/>
              </a:ext>
            </a:extLst>
          </p:cNvPr>
          <p:cNvSpPr>
            <a:spLocks noGrp="1"/>
          </p:cNvSpPr>
          <p:nvPr>
            <p:ph type="dt" sz="half" idx="10"/>
          </p:nvPr>
        </p:nvSpPr>
        <p:spPr/>
        <p:txBody>
          <a:bodyPr/>
          <a:lstStyle/>
          <a:p>
            <a:fld id="{69F9884C-D6B0-574D-ABEB-4B3275C742BC}" type="datetimeFigureOut">
              <a:rPr lang="en-US" smtClean="0"/>
              <a:t>10/13/26</a:t>
            </a:fld>
            <a:endParaRPr lang="en-US"/>
          </a:p>
        </p:txBody>
      </p:sp>
      <p:sp>
        <p:nvSpPr>
          <p:cNvPr id="5" name="Footer Placeholder 4">
            <a:extLst>
              <a:ext uri="{FF2B5EF4-FFF2-40B4-BE49-F238E27FC236}">
                <a16:creationId xmlns:a16="http://schemas.microsoft.com/office/drawing/2014/main" id="{CA47443F-38C3-794B-8D71-04596D2F9E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CEAE92-CCC1-E34A-A93B-284F936BFF2C}"/>
              </a:ext>
            </a:extLst>
          </p:cNvPr>
          <p:cNvSpPr>
            <a:spLocks noGrp="1"/>
          </p:cNvSpPr>
          <p:nvPr>
            <p:ph type="sldNum" sz="quarter" idx="12"/>
          </p:nvPr>
        </p:nvSpPr>
        <p:spPr/>
        <p:txBody>
          <a:bodyPr/>
          <a:lstStyle/>
          <a:p>
            <a:fld id="{D376C0C3-5FC9-C84C-A6CB-AC7829EDC256}" type="slidenum">
              <a:rPr lang="en-US" smtClean="0"/>
              <a:t>‹#›</a:t>
            </a:fld>
            <a:endParaRPr lang="en-US"/>
          </a:p>
        </p:txBody>
      </p:sp>
    </p:spTree>
    <p:extLst>
      <p:ext uri="{BB962C8B-B14F-4D97-AF65-F5344CB8AC3E}">
        <p14:creationId xmlns:p14="http://schemas.microsoft.com/office/powerpoint/2010/main" val="29104166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528E63E-F6D2-1C4D-8646-75D45F92FB5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C8819F8-41DD-AC4F-BAEE-B5B45B9AE49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8F5548-83E8-764A-A5F8-B48CC3AEE3C9}"/>
              </a:ext>
            </a:extLst>
          </p:cNvPr>
          <p:cNvSpPr>
            <a:spLocks noGrp="1"/>
          </p:cNvSpPr>
          <p:nvPr>
            <p:ph type="dt" sz="half" idx="10"/>
          </p:nvPr>
        </p:nvSpPr>
        <p:spPr/>
        <p:txBody>
          <a:bodyPr/>
          <a:lstStyle/>
          <a:p>
            <a:fld id="{69F9884C-D6B0-574D-ABEB-4B3275C742BC}" type="datetimeFigureOut">
              <a:rPr lang="en-US" smtClean="0"/>
              <a:t>10/13/26</a:t>
            </a:fld>
            <a:endParaRPr lang="en-US"/>
          </a:p>
        </p:txBody>
      </p:sp>
      <p:sp>
        <p:nvSpPr>
          <p:cNvPr id="5" name="Footer Placeholder 4">
            <a:extLst>
              <a:ext uri="{FF2B5EF4-FFF2-40B4-BE49-F238E27FC236}">
                <a16:creationId xmlns:a16="http://schemas.microsoft.com/office/drawing/2014/main" id="{81519F3F-015A-DA40-9269-8338888AE1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A58FFB-9298-D042-9130-761F5AA437BC}"/>
              </a:ext>
            </a:extLst>
          </p:cNvPr>
          <p:cNvSpPr>
            <a:spLocks noGrp="1"/>
          </p:cNvSpPr>
          <p:nvPr>
            <p:ph type="sldNum" sz="quarter" idx="12"/>
          </p:nvPr>
        </p:nvSpPr>
        <p:spPr/>
        <p:txBody>
          <a:bodyPr/>
          <a:lstStyle/>
          <a:p>
            <a:fld id="{D376C0C3-5FC9-C84C-A6CB-AC7829EDC256}" type="slidenum">
              <a:rPr lang="en-US" smtClean="0"/>
              <a:t>‹#›</a:t>
            </a:fld>
            <a:endParaRPr lang="en-US"/>
          </a:p>
        </p:txBody>
      </p:sp>
    </p:spTree>
    <p:extLst>
      <p:ext uri="{BB962C8B-B14F-4D97-AF65-F5344CB8AC3E}">
        <p14:creationId xmlns:p14="http://schemas.microsoft.com/office/powerpoint/2010/main" val="9202884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DA5A23-30DE-1A4B-ABDC-C5E043E3DCE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8FF016E-611A-104C-8387-1E8E084E762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FF95FD-F653-2048-BD10-AD4E1E6DC99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9F9884C-D6B0-574D-ABEB-4B3275C742BC}" type="datetimeFigureOut">
              <a:rPr lang="en-US" smtClean="0"/>
              <a:t>10/13/26</a:t>
            </a:fld>
            <a:endParaRPr lang="en-US"/>
          </a:p>
        </p:txBody>
      </p:sp>
      <p:sp>
        <p:nvSpPr>
          <p:cNvPr id="5" name="Footer Placeholder 4">
            <a:extLst>
              <a:ext uri="{FF2B5EF4-FFF2-40B4-BE49-F238E27FC236}">
                <a16:creationId xmlns:a16="http://schemas.microsoft.com/office/drawing/2014/main" id="{AC9BCE9C-1107-1943-AE2F-BC977CEAD4B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2A46A9D-FA12-4344-8EA0-19164627553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376C0C3-5FC9-C84C-A6CB-AC7829EDC256}" type="slidenum">
              <a:rPr lang="en-US" smtClean="0"/>
              <a:t>‹#›</a:t>
            </a:fld>
            <a:endParaRPr lang="en-US"/>
          </a:p>
        </p:txBody>
      </p:sp>
    </p:spTree>
    <p:extLst>
      <p:ext uri="{BB962C8B-B14F-4D97-AF65-F5344CB8AC3E}">
        <p14:creationId xmlns:p14="http://schemas.microsoft.com/office/powerpoint/2010/main" val="10290390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08EFA14-657C-6645-A65E-C8CB45925376}"/>
              </a:ext>
            </a:extLst>
          </p:cNvPr>
          <p:cNvSpPr txBox="1"/>
          <p:nvPr/>
        </p:nvSpPr>
        <p:spPr>
          <a:xfrm>
            <a:off x="1658588" y="888791"/>
            <a:ext cx="7805342" cy="4401205"/>
          </a:xfrm>
          <a:prstGeom prst="rect">
            <a:avLst/>
          </a:prstGeom>
          <a:noFill/>
        </p:spPr>
        <p:txBody>
          <a:bodyPr wrap="none" rtlCol="0">
            <a:spAutoFit/>
          </a:bodyPr>
          <a:lstStyle/>
          <a:p>
            <a:endParaRPr lang="en-US" sz="2800" dirty="0">
              <a:latin typeface="Helvetica Light" panose="020B0403020202020204" pitchFamily="34" charset="0"/>
            </a:endParaRPr>
          </a:p>
          <a:p>
            <a:r>
              <a:rPr lang="en-US" sz="2800" b="1" dirty="0">
                <a:latin typeface="Helvetica Light" panose="020B0403020202020204" pitchFamily="34" charset="0"/>
              </a:rPr>
              <a:t>I. </a:t>
            </a:r>
            <a:r>
              <a:rPr lang="en-US" sz="2800" dirty="0">
                <a:latin typeface="Helvetica Light" panose="020B0403020202020204" pitchFamily="34" charset="0"/>
                <a:cs typeface="Courier New" panose="02070309020205020404" pitchFamily="49" charset="0"/>
              </a:rPr>
              <a:t>Opening and reading files: input</a:t>
            </a:r>
          </a:p>
          <a:p>
            <a:endParaRPr lang="en-US" sz="2800" dirty="0">
              <a:latin typeface="Helvetica Light" panose="020B0403020202020204" pitchFamily="34" charset="0"/>
              <a:cs typeface="Courier New" panose="02070309020205020404" pitchFamily="49" charset="0"/>
            </a:endParaRPr>
          </a:p>
          <a:p>
            <a:r>
              <a:rPr lang="en-US" sz="2800" b="1" dirty="0">
                <a:latin typeface="Helvetica Light" panose="020B0403020202020204" pitchFamily="34" charset="0"/>
                <a:cs typeface="Courier New" panose="02070309020205020404" pitchFamily="49" charset="0"/>
              </a:rPr>
              <a:t>II. </a:t>
            </a:r>
            <a:r>
              <a:rPr lang="en-US" sz="2800" dirty="0">
                <a:latin typeface="Helvetica Light" panose="020B0403020202020204" pitchFamily="34" charset="0"/>
                <a:cs typeface="Courier New" panose="02070309020205020404" pitchFamily="49" charset="0"/>
              </a:rPr>
              <a:t>Processing files one line at a time</a:t>
            </a:r>
          </a:p>
          <a:p>
            <a:endParaRPr lang="en-US" sz="2800" dirty="0">
              <a:latin typeface="Helvetica Light" panose="020B0403020202020204" pitchFamily="34" charset="0"/>
              <a:cs typeface="Courier New" panose="02070309020205020404" pitchFamily="49" charset="0"/>
            </a:endParaRPr>
          </a:p>
          <a:p>
            <a:r>
              <a:rPr lang="en-US" sz="2800" dirty="0">
                <a:latin typeface="Helvetica Light" panose="020B0403020202020204" pitchFamily="34" charset="0"/>
                <a:cs typeface="Courier New" panose="02070309020205020404" pitchFamily="49" charset="0"/>
              </a:rPr>
              <a:t>III. Writing to files: output</a:t>
            </a:r>
          </a:p>
          <a:p>
            <a:endParaRPr lang="en-US" sz="2800" dirty="0">
              <a:latin typeface="Helvetica Light" panose="020B0403020202020204" pitchFamily="34" charset="0"/>
              <a:cs typeface="Courier New" panose="02070309020205020404" pitchFamily="49" charset="0"/>
            </a:endParaRPr>
          </a:p>
          <a:p>
            <a:r>
              <a:rPr lang="en-US" sz="2800" b="1" dirty="0">
                <a:latin typeface="Helvetica Light" panose="020B0403020202020204" pitchFamily="34" charset="0"/>
                <a:cs typeface="Courier New" panose="02070309020205020404" pitchFamily="49" charset="0"/>
              </a:rPr>
              <a:t>III. </a:t>
            </a:r>
            <a:r>
              <a:rPr lang="en-US" sz="2800" dirty="0">
                <a:latin typeface="Helvetica Light" panose="020B0403020202020204" pitchFamily="34" charset="0"/>
                <a:cs typeface="Courier New" panose="02070309020205020404" pitchFamily="49" charset="0"/>
              </a:rPr>
              <a:t>Introduction to python libraries (</a:t>
            </a:r>
            <a:r>
              <a:rPr lang="en-US" sz="2800" b="1" dirty="0">
                <a:latin typeface="Courier New" panose="02070309020205020404" pitchFamily="49" charset="0"/>
                <a:cs typeface="Courier New" panose="02070309020205020404" pitchFamily="49" charset="0"/>
              </a:rPr>
              <a:t>sys</a:t>
            </a:r>
            <a:r>
              <a:rPr lang="en-US" sz="2800" dirty="0">
                <a:latin typeface="Helvetica Light" panose="020B0403020202020204" pitchFamily="34" charset="0"/>
                <a:cs typeface="Courier New" panose="02070309020205020404" pitchFamily="49" charset="0"/>
              </a:rPr>
              <a:t> and </a:t>
            </a:r>
            <a:r>
              <a:rPr lang="en-US" sz="2800" b="1" dirty="0">
                <a:latin typeface="Courier New" panose="02070309020205020404" pitchFamily="49" charset="0"/>
                <a:cs typeface="Courier New" panose="02070309020205020404" pitchFamily="49" charset="0"/>
              </a:rPr>
              <a:t>re</a:t>
            </a:r>
            <a:r>
              <a:rPr lang="en-US" sz="2800" dirty="0">
                <a:latin typeface="Helvetica Light" panose="020B0403020202020204" pitchFamily="34" charset="0"/>
                <a:cs typeface="Courier New" panose="02070309020205020404" pitchFamily="49" charset="0"/>
              </a:rPr>
              <a:t>)</a:t>
            </a:r>
            <a:endParaRPr lang="en-US" sz="2800" dirty="0">
              <a:latin typeface="Helvetica Light" panose="020B0403020202020204" pitchFamily="34" charset="0"/>
            </a:endParaRPr>
          </a:p>
          <a:p>
            <a:endParaRPr lang="en-US" sz="2800" dirty="0">
              <a:latin typeface="Helvetica Light" panose="020B0403020202020204" pitchFamily="34" charset="0"/>
            </a:endParaRPr>
          </a:p>
          <a:p>
            <a:r>
              <a:rPr lang="en-US" sz="2800" b="1" dirty="0">
                <a:latin typeface="Helvetica Light" panose="020B0403020202020204" pitchFamily="34" charset="0"/>
              </a:rPr>
              <a:t>IV. </a:t>
            </a:r>
            <a:r>
              <a:rPr lang="en-US" sz="2800" dirty="0">
                <a:latin typeface="Helvetica Light" panose="020B0403020202020204" pitchFamily="34" charset="0"/>
              </a:rPr>
              <a:t>Putting it together with real data</a:t>
            </a:r>
          </a:p>
        </p:txBody>
      </p:sp>
      <p:sp>
        <p:nvSpPr>
          <p:cNvPr id="6" name="TextBox 5">
            <a:extLst>
              <a:ext uri="{FF2B5EF4-FFF2-40B4-BE49-F238E27FC236}">
                <a16:creationId xmlns:a16="http://schemas.microsoft.com/office/drawing/2014/main" id="{9C186E08-8C57-D048-B2A8-4EC03A58BADC}"/>
              </a:ext>
            </a:extLst>
          </p:cNvPr>
          <p:cNvSpPr txBox="1"/>
          <p:nvPr/>
        </p:nvSpPr>
        <p:spPr>
          <a:xfrm>
            <a:off x="4872748" y="288627"/>
            <a:ext cx="1596912" cy="600164"/>
          </a:xfrm>
          <a:prstGeom prst="rect">
            <a:avLst/>
          </a:prstGeom>
          <a:noFill/>
        </p:spPr>
        <p:txBody>
          <a:bodyPr wrap="none" rtlCol="0">
            <a:spAutoFit/>
          </a:bodyPr>
          <a:lstStyle/>
          <a:p>
            <a:r>
              <a:rPr lang="en-US" sz="3300" dirty="0">
                <a:latin typeface="Helvetica Light" panose="020B0403020202020204" pitchFamily="34" charset="0"/>
              </a:rPr>
              <a:t>Week 8</a:t>
            </a:r>
          </a:p>
        </p:txBody>
      </p:sp>
      <p:sp>
        <p:nvSpPr>
          <p:cNvPr id="7" name="TextBox 6">
            <a:extLst>
              <a:ext uri="{FF2B5EF4-FFF2-40B4-BE49-F238E27FC236}">
                <a16:creationId xmlns:a16="http://schemas.microsoft.com/office/drawing/2014/main" id="{DD88A66A-0419-DE4E-B4C6-7E8E39AE4222}"/>
              </a:ext>
            </a:extLst>
          </p:cNvPr>
          <p:cNvSpPr txBox="1"/>
          <p:nvPr/>
        </p:nvSpPr>
        <p:spPr>
          <a:xfrm>
            <a:off x="1335202" y="6013938"/>
            <a:ext cx="8829888" cy="523220"/>
          </a:xfrm>
          <a:prstGeom prst="rect">
            <a:avLst/>
          </a:prstGeom>
          <a:noFill/>
          <a:ln>
            <a:solidFill>
              <a:schemeClr val="tx1"/>
            </a:solidFill>
          </a:ln>
        </p:spPr>
        <p:txBody>
          <a:bodyPr wrap="square" rtlCol="0">
            <a:spAutoFit/>
          </a:bodyPr>
          <a:lstStyle/>
          <a:p>
            <a:r>
              <a:rPr lang="en-US" sz="2800" dirty="0">
                <a:ln>
                  <a:solidFill>
                    <a:schemeClr val="tx1"/>
                  </a:solidFill>
                </a:ln>
                <a:latin typeface="Helvetica Light" panose="020B0403020202020204" pitchFamily="34" charset="0"/>
              </a:rPr>
              <a:t>python_3_primer.ipynb, assignment_python3.md</a:t>
            </a:r>
          </a:p>
        </p:txBody>
      </p:sp>
    </p:spTree>
    <p:extLst>
      <p:ext uri="{BB962C8B-B14F-4D97-AF65-F5344CB8AC3E}">
        <p14:creationId xmlns:p14="http://schemas.microsoft.com/office/powerpoint/2010/main" val="33737678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00D7BC0-4F43-7F85-BA20-E0D0A7226EC9}"/>
              </a:ext>
            </a:extLst>
          </p:cNvPr>
          <p:cNvSpPr txBox="1"/>
          <p:nvPr/>
        </p:nvSpPr>
        <p:spPr>
          <a:xfrm>
            <a:off x="769434" y="445376"/>
            <a:ext cx="10326029" cy="1015663"/>
          </a:xfrm>
          <a:prstGeom prst="rect">
            <a:avLst/>
          </a:prstGeom>
          <a:noFill/>
        </p:spPr>
        <p:txBody>
          <a:bodyPr wrap="square">
            <a:spAutoFit/>
          </a:bodyPr>
          <a:lstStyle/>
          <a:p>
            <a:pPr algn="ctr">
              <a:buNone/>
            </a:pPr>
            <a:r>
              <a:rPr lang="en-US" sz="3200" b="1" dirty="0">
                <a:latin typeface="HELVETICA LIGHT" panose="020B0403020202020204" pitchFamily="34" charset="0"/>
              </a:rPr>
              <a:t>The basic file-processing workflow</a:t>
            </a:r>
          </a:p>
          <a:p>
            <a:pPr algn="ctr">
              <a:buNone/>
            </a:pPr>
            <a:r>
              <a:rPr lang="en-US" sz="2800" dirty="0">
                <a:latin typeface="Helvetica Light" panose="020B0403020202020204" pitchFamily="34" charset="0"/>
              </a:rPr>
              <a:t>Most of what we will do this week follows this general flow:</a:t>
            </a:r>
          </a:p>
        </p:txBody>
      </p:sp>
      <p:pic>
        <p:nvPicPr>
          <p:cNvPr id="5" name="Picture 4">
            <a:extLst>
              <a:ext uri="{FF2B5EF4-FFF2-40B4-BE49-F238E27FC236}">
                <a16:creationId xmlns:a16="http://schemas.microsoft.com/office/drawing/2014/main" id="{02CB6A69-98C1-9F1A-40F2-D48C6367C15C}"/>
              </a:ext>
            </a:extLst>
          </p:cNvPr>
          <p:cNvPicPr>
            <a:picLocks noChangeAspect="1"/>
          </p:cNvPicPr>
          <p:nvPr/>
        </p:nvPicPr>
        <p:blipFill>
          <a:blip r:embed="rId2"/>
          <a:stretch>
            <a:fillRect/>
          </a:stretch>
        </p:blipFill>
        <p:spPr>
          <a:xfrm>
            <a:off x="3162097" y="1776699"/>
            <a:ext cx="5867806" cy="2189480"/>
          </a:xfrm>
          <a:prstGeom prst="rect">
            <a:avLst/>
          </a:prstGeom>
        </p:spPr>
      </p:pic>
      <p:sp>
        <p:nvSpPr>
          <p:cNvPr id="7" name="TextBox 6">
            <a:extLst>
              <a:ext uri="{FF2B5EF4-FFF2-40B4-BE49-F238E27FC236}">
                <a16:creationId xmlns:a16="http://schemas.microsoft.com/office/drawing/2014/main" id="{5DBF257B-A9EC-D013-5514-3282DEAC148F}"/>
              </a:ext>
            </a:extLst>
          </p:cNvPr>
          <p:cNvSpPr txBox="1"/>
          <p:nvPr/>
        </p:nvSpPr>
        <p:spPr>
          <a:xfrm>
            <a:off x="1248936" y="4380412"/>
            <a:ext cx="10158761" cy="1938992"/>
          </a:xfrm>
          <a:prstGeom prst="rect">
            <a:avLst/>
          </a:prstGeom>
          <a:noFill/>
        </p:spPr>
        <p:txBody>
          <a:bodyPr wrap="square">
            <a:spAutoFit/>
          </a:bodyPr>
          <a:lstStyle/>
          <a:p>
            <a:pPr lvl="0"/>
            <a:r>
              <a:rPr lang="en-US" sz="2400" dirty="0">
                <a:latin typeface="Helvetica Light" panose="020B0403020202020204" pitchFamily="34" charset="0"/>
              </a:rPr>
              <a:t>- We usually do not need to read the entire file at once</a:t>
            </a:r>
          </a:p>
          <a:p>
            <a:pPr lvl="0"/>
            <a:endParaRPr lang="en-US" sz="2400" dirty="0">
              <a:latin typeface="Helvetica Light" panose="020B0403020202020204" pitchFamily="34" charset="0"/>
            </a:endParaRPr>
          </a:p>
          <a:p>
            <a:pPr lvl="0"/>
            <a:r>
              <a:rPr lang="en-US" sz="2400" dirty="0">
                <a:latin typeface="Helvetica Light" panose="020B0403020202020204" pitchFamily="34" charset="0"/>
              </a:rPr>
              <a:t>- A for loop lets us process one line at a time</a:t>
            </a:r>
          </a:p>
          <a:p>
            <a:pPr lvl="0"/>
            <a:endParaRPr lang="en-US" sz="2400" dirty="0">
              <a:latin typeface="Helvetica Light" panose="020B0403020202020204" pitchFamily="34" charset="0"/>
            </a:endParaRPr>
          </a:p>
          <a:p>
            <a:pPr lvl="0"/>
            <a:r>
              <a:rPr lang="en-US" sz="2400" dirty="0">
                <a:latin typeface="Helvetica Light" panose="020B0403020202020204" pitchFamily="34" charset="0"/>
              </a:rPr>
              <a:t>- Each line is a string that we can .strip(), .split(), count, search, etc.</a:t>
            </a:r>
          </a:p>
        </p:txBody>
      </p:sp>
    </p:spTree>
    <p:extLst>
      <p:ext uri="{BB962C8B-B14F-4D97-AF65-F5344CB8AC3E}">
        <p14:creationId xmlns:p14="http://schemas.microsoft.com/office/powerpoint/2010/main" val="29128357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981A8EB-97BA-57C1-716D-1D7E5CFE2EC7}"/>
              </a:ext>
            </a:extLst>
          </p:cNvPr>
          <p:cNvSpPr txBox="1"/>
          <p:nvPr/>
        </p:nvSpPr>
        <p:spPr>
          <a:xfrm>
            <a:off x="3046142" y="387871"/>
            <a:ext cx="6099716" cy="1015663"/>
          </a:xfrm>
          <a:prstGeom prst="rect">
            <a:avLst/>
          </a:prstGeom>
          <a:noFill/>
        </p:spPr>
        <p:txBody>
          <a:bodyPr wrap="square">
            <a:spAutoFit/>
          </a:bodyPr>
          <a:lstStyle/>
          <a:p>
            <a:pPr algn="ctr">
              <a:buNone/>
            </a:pPr>
            <a:r>
              <a:rPr lang="en-US" sz="3200" b="1" dirty="0">
                <a:latin typeface="HELVETICA LIGHT" panose="020B0403020202020204" pitchFamily="34" charset="0"/>
              </a:rPr>
              <a:t>File name → file object → data</a:t>
            </a:r>
          </a:p>
          <a:p>
            <a:pPr algn="ctr">
              <a:buNone/>
            </a:pPr>
            <a:r>
              <a:rPr lang="en-US" sz="2800" i="1" dirty="0">
                <a:latin typeface="HELVETICA LIGHT" panose="020B0403020202020204" pitchFamily="34" charset="0"/>
              </a:rPr>
              <a:t>Keep these three things straight</a:t>
            </a:r>
          </a:p>
        </p:txBody>
      </p:sp>
      <p:sp>
        <p:nvSpPr>
          <p:cNvPr id="5" name="TextBox 4">
            <a:extLst>
              <a:ext uri="{FF2B5EF4-FFF2-40B4-BE49-F238E27FC236}">
                <a16:creationId xmlns:a16="http://schemas.microsoft.com/office/drawing/2014/main" id="{527627C0-1C51-FF6E-00ED-AE1656A8D175}"/>
              </a:ext>
            </a:extLst>
          </p:cNvPr>
          <p:cNvSpPr txBox="1"/>
          <p:nvPr/>
        </p:nvSpPr>
        <p:spPr>
          <a:xfrm>
            <a:off x="1165303" y="1829915"/>
            <a:ext cx="8748132" cy="523220"/>
          </a:xfrm>
          <a:prstGeom prst="rect">
            <a:avLst/>
          </a:prstGeom>
          <a:noFill/>
        </p:spPr>
        <p:txBody>
          <a:bodyPr wrap="square">
            <a:spAutoFit/>
          </a:bodyPr>
          <a:lstStyle/>
          <a:p>
            <a:pPr>
              <a:buNone/>
            </a:pPr>
            <a:r>
              <a:rPr lang="en-US" sz="2800" dirty="0">
                <a:latin typeface="Courier New" panose="02070309020205020404" pitchFamily="49" charset="0"/>
                <a:cs typeface="Courier New" panose="02070309020205020404" pitchFamily="49" charset="0"/>
              </a:rPr>
              <a:t>"</a:t>
            </a:r>
            <a:r>
              <a:rPr lang="en-US" sz="2800" dirty="0" err="1">
                <a:latin typeface="Courier New" panose="02070309020205020404" pitchFamily="49" charset="0"/>
                <a:cs typeface="Courier New" panose="02070309020205020404" pitchFamily="49" charset="0"/>
              </a:rPr>
              <a:t>testdata.txt</a:t>
            </a:r>
            <a:r>
              <a:rPr lang="en-US" sz="2800" dirty="0">
                <a:latin typeface="Courier New" panose="02070309020205020404" pitchFamily="49" charset="0"/>
                <a:cs typeface="Courier New" panose="02070309020205020404" pitchFamily="49" charset="0"/>
              </a:rPr>
              <a:t>"        IN           Line</a:t>
            </a:r>
          </a:p>
        </p:txBody>
      </p:sp>
      <p:sp>
        <p:nvSpPr>
          <p:cNvPr id="6" name="TextBox 5">
            <a:extLst>
              <a:ext uri="{FF2B5EF4-FFF2-40B4-BE49-F238E27FC236}">
                <a16:creationId xmlns:a16="http://schemas.microsoft.com/office/drawing/2014/main" id="{81BED1DF-E8DB-8C54-9A7D-CC07623E230D}"/>
              </a:ext>
            </a:extLst>
          </p:cNvPr>
          <p:cNvSpPr txBox="1"/>
          <p:nvPr/>
        </p:nvSpPr>
        <p:spPr>
          <a:xfrm>
            <a:off x="1559315" y="2475571"/>
            <a:ext cx="2310160" cy="1107996"/>
          </a:xfrm>
          <a:prstGeom prst="rect">
            <a:avLst/>
          </a:prstGeom>
          <a:noFill/>
        </p:spPr>
        <p:txBody>
          <a:bodyPr wrap="square">
            <a:spAutoFit/>
          </a:bodyPr>
          <a:lstStyle/>
          <a:p>
            <a:pPr algn="ctr">
              <a:buNone/>
            </a:pPr>
            <a:r>
              <a:rPr lang="en-US" sz="2200" b="1" dirty="0">
                <a:latin typeface="HELVETICA LIGHT" panose="020B0403020202020204" pitchFamily="34" charset="0"/>
              </a:rPr>
              <a:t>File name of file in current directory</a:t>
            </a:r>
            <a:endParaRPr lang="en-US" sz="2200" i="1" dirty="0">
              <a:latin typeface="HELVETICA LIGHT" panose="020B0403020202020204" pitchFamily="34" charset="0"/>
            </a:endParaRPr>
          </a:p>
        </p:txBody>
      </p:sp>
      <p:sp>
        <p:nvSpPr>
          <p:cNvPr id="7" name="TextBox 6">
            <a:extLst>
              <a:ext uri="{FF2B5EF4-FFF2-40B4-BE49-F238E27FC236}">
                <a16:creationId xmlns:a16="http://schemas.microsoft.com/office/drawing/2014/main" id="{79C4B3F7-FBCA-9CD1-0B87-5FCF668EBB29}"/>
              </a:ext>
            </a:extLst>
          </p:cNvPr>
          <p:cNvSpPr txBox="1"/>
          <p:nvPr/>
        </p:nvSpPr>
        <p:spPr>
          <a:xfrm>
            <a:off x="5057082" y="2471098"/>
            <a:ext cx="2310160" cy="769441"/>
          </a:xfrm>
          <a:prstGeom prst="rect">
            <a:avLst/>
          </a:prstGeom>
          <a:noFill/>
        </p:spPr>
        <p:txBody>
          <a:bodyPr wrap="square">
            <a:spAutoFit/>
          </a:bodyPr>
          <a:lstStyle/>
          <a:p>
            <a:pPr algn="ctr">
              <a:buNone/>
            </a:pPr>
            <a:r>
              <a:rPr lang="en-US" sz="2200" b="1" dirty="0">
                <a:latin typeface="HELVETICA LIGHT" panose="020B0403020202020204" pitchFamily="34" charset="0"/>
              </a:rPr>
              <a:t>File object, or connection to file</a:t>
            </a:r>
            <a:endParaRPr lang="en-US" sz="2200" i="1" dirty="0">
              <a:latin typeface="HELVETICA LIGHT" panose="020B0403020202020204" pitchFamily="34" charset="0"/>
            </a:endParaRPr>
          </a:p>
        </p:txBody>
      </p:sp>
      <p:sp>
        <p:nvSpPr>
          <p:cNvPr id="8" name="TextBox 7">
            <a:extLst>
              <a:ext uri="{FF2B5EF4-FFF2-40B4-BE49-F238E27FC236}">
                <a16:creationId xmlns:a16="http://schemas.microsoft.com/office/drawing/2014/main" id="{7D59B15B-0AB8-CED3-1CA0-5A4685899DCB}"/>
              </a:ext>
            </a:extLst>
          </p:cNvPr>
          <p:cNvSpPr txBox="1"/>
          <p:nvPr/>
        </p:nvSpPr>
        <p:spPr>
          <a:xfrm>
            <a:off x="8153403" y="2471098"/>
            <a:ext cx="2310160" cy="769441"/>
          </a:xfrm>
          <a:prstGeom prst="rect">
            <a:avLst/>
          </a:prstGeom>
          <a:noFill/>
        </p:spPr>
        <p:txBody>
          <a:bodyPr wrap="square">
            <a:spAutoFit/>
          </a:bodyPr>
          <a:lstStyle/>
          <a:p>
            <a:pPr algn="ctr">
              <a:buNone/>
            </a:pPr>
            <a:r>
              <a:rPr lang="en-US" sz="2200" b="1" dirty="0">
                <a:latin typeface="HELVETICA LIGHT" panose="020B0403020202020204" pitchFamily="34" charset="0"/>
              </a:rPr>
              <a:t>Data from file, one line at a time</a:t>
            </a:r>
            <a:endParaRPr lang="en-US" sz="2200" i="1" dirty="0">
              <a:latin typeface="HELVETICA LIGHT" panose="020B0403020202020204" pitchFamily="34" charset="0"/>
            </a:endParaRPr>
          </a:p>
        </p:txBody>
      </p:sp>
      <p:pic>
        <p:nvPicPr>
          <p:cNvPr id="12" name="Picture 11">
            <a:extLst>
              <a:ext uri="{FF2B5EF4-FFF2-40B4-BE49-F238E27FC236}">
                <a16:creationId xmlns:a16="http://schemas.microsoft.com/office/drawing/2014/main" id="{EBEFAE0F-9DFA-2520-0085-8E306D7ABBDA}"/>
              </a:ext>
            </a:extLst>
          </p:cNvPr>
          <p:cNvPicPr>
            <a:picLocks noChangeAspect="1"/>
          </p:cNvPicPr>
          <p:nvPr/>
        </p:nvPicPr>
        <p:blipFill>
          <a:blip r:embed="rId2"/>
          <a:stretch>
            <a:fillRect/>
          </a:stretch>
        </p:blipFill>
        <p:spPr>
          <a:xfrm>
            <a:off x="3345368" y="3706003"/>
            <a:ext cx="5184973" cy="2625028"/>
          </a:xfrm>
          <a:prstGeom prst="rect">
            <a:avLst/>
          </a:prstGeom>
        </p:spPr>
      </p:pic>
    </p:spTree>
    <p:extLst>
      <p:ext uri="{BB962C8B-B14F-4D97-AF65-F5344CB8AC3E}">
        <p14:creationId xmlns:p14="http://schemas.microsoft.com/office/powerpoint/2010/main" val="3710728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509E8DB-E969-3D4B-8DB3-0990A967B5CA}"/>
              </a:ext>
            </a:extLst>
          </p:cNvPr>
          <p:cNvSpPr txBox="1"/>
          <p:nvPr/>
        </p:nvSpPr>
        <p:spPr>
          <a:xfrm>
            <a:off x="1870842" y="294290"/>
            <a:ext cx="8703024" cy="600164"/>
          </a:xfrm>
          <a:prstGeom prst="rect">
            <a:avLst/>
          </a:prstGeom>
          <a:noFill/>
        </p:spPr>
        <p:txBody>
          <a:bodyPr wrap="none" rtlCol="0">
            <a:spAutoFit/>
          </a:bodyPr>
          <a:lstStyle/>
          <a:p>
            <a:r>
              <a:rPr lang="en-US" sz="3300" b="1" dirty="0">
                <a:latin typeface="Helvetica Light" panose="020B0403020202020204" pitchFamily="34" charset="0"/>
              </a:rPr>
              <a:t>I. </a:t>
            </a:r>
            <a:r>
              <a:rPr lang="en-US" sz="3300" dirty="0">
                <a:latin typeface="Helvetica Light" panose="020B0403020202020204" pitchFamily="34" charset="0"/>
              </a:rPr>
              <a:t>Opening connections to files, </a:t>
            </a:r>
            <a:r>
              <a:rPr lang="en-US" sz="3300" b="1" dirty="0">
                <a:latin typeface="Helvetica Light" panose="020B0403020202020204" pitchFamily="34" charset="0"/>
              </a:rPr>
              <a:t>reading input</a:t>
            </a:r>
          </a:p>
        </p:txBody>
      </p:sp>
      <p:sp>
        <p:nvSpPr>
          <p:cNvPr id="10" name="TextBox 9">
            <a:extLst>
              <a:ext uri="{FF2B5EF4-FFF2-40B4-BE49-F238E27FC236}">
                <a16:creationId xmlns:a16="http://schemas.microsoft.com/office/drawing/2014/main" id="{E5395FE9-866A-0744-886C-443A43C50739}"/>
              </a:ext>
            </a:extLst>
          </p:cNvPr>
          <p:cNvSpPr txBox="1"/>
          <p:nvPr/>
        </p:nvSpPr>
        <p:spPr>
          <a:xfrm>
            <a:off x="251254" y="1335278"/>
            <a:ext cx="7540847" cy="553998"/>
          </a:xfrm>
          <a:prstGeom prst="rect">
            <a:avLst/>
          </a:prstGeom>
          <a:noFill/>
        </p:spPr>
        <p:txBody>
          <a:bodyPr wrap="none" rtlCol="0">
            <a:spAutoFit/>
          </a:bodyPr>
          <a:lstStyle/>
          <a:p>
            <a:r>
              <a:rPr lang="en-US" sz="3000" b="1" dirty="0">
                <a:latin typeface="Helvetica Light" panose="020B0403020202020204" pitchFamily="34" charset="0"/>
              </a:rPr>
              <a:t>Option A. </a:t>
            </a:r>
            <a:r>
              <a:rPr lang="en-US" sz="3000" dirty="0">
                <a:latin typeface="Helvetica Light" panose="020B0403020202020204" pitchFamily="34" charset="0"/>
              </a:rPr>
              <a:t>Hardcode name of file into script</a:t>
            </a:r>
          </a:p>
        </p:txBody>
      </p:sp>
      <p:sp>
        <p:nvSpPr>
          <p:cNvPr id="4" name="TextBox 3">
            <a:extLst>
              <a:ext uri="{FF2B5EF4-FFF2-40B4-BE49-F238E27FC236}">
                <a16:creationId xmlns:a16="http://schemas.microsoft.com/office/drawing/2014/main" id="{0B3B0420-ACF5-C39F-493A-AF76B2A2E9CB}"/>
              </a:ext>
            </a:extLst>
          </p:cNvPr>
          <p:cNvSpPr txBox="1"/>
          <p:nvPr/>
        </p:nvSpPr>
        <p:spPr>
          <a:xfrm>
            <a:off x="1032385" y="2110926"/>
            <a:ext cx="10127226" cy="523220"/>
          </a:xfrm>
          <a:prstGeom prst="rect">
            <a:avLst/>
          </a:prstGeom>
          <a:noFill/>
        </p:spPr>
        <p:txBody>
          <a:bodyPr wrap="square">
            <a:spAutoFit/>
          </a:bodyPr>
          <a:lstStyle/>
          <a:p>
            <a:r>
              <a:rPr lang="en-US" sz="2800" b="1" dirty="0">
                <a:latin typeface="Courier New" panose="02070309020205020404" pitchFamily="49" charset="0"/>
                <a:cs typeface="Courier New" panose="02070309020205020404" pitchFamily="49" charset="0"/>
              </a:rPr>
              <a:t>open() </a:t>
            </a:r>
            <a:r>
              <a:rPr lang="en-US" sz="2800" dirty="0">
                <a:latin typeface="Helvetica Light" panose="020B0403020202020204" pitchFamily="34" charset="0"/>
              </a:rPr>
              <a:t>function used for read (</a:t>
            </a:r>
            <a:r>
              <a:rPr lang="en-US" sz="2800" b="1" dirty="0">
                <a:latin typeface="Courier New" panose="02070309020205020404" pitchFamily="49" charset="0"/>
                <a:cs typeface="Courier New" panose="02070309020205020404" pitchFamily="49" charset="0"/>
              </a:rPr>
              <a:t>r</a:t>
            </a:r>
            <a:r>
              <a:rPr lang="en-US" sz="2800" dirty="0">
                <a:latin typeface="Helvetica Light" panose="020B0403020202020204" pitchFamily="34" charset="0"/>
              </a:rPr>
              <a:t>), write (</a:t>
            </a:r>
            <a:r>
              <a:rPr lang="en-US" sz="2800" b="1" dirty="0">
                <a:latin typeface="Courier New" panose="02070309020205020404" pitchFamily="49" charset="0"/>
                <a:cs typeface="Courier New" panose="02070309020205020404" pitchFamily="49" charset="0"/>
              </a:rPr>
              <a:t>w</a:t>
            </a:r>
            <a:r>
              <a:rPr lang="en-US" sz="2800" dirty="0">
                <a:latin typeface="Helvetica Light" panose="020B0403020202020204" pitchFamily="34" charset="0"/>
              </a:rPr>
              <a:t>), and append (</a:t>
            </a:r>
            <a:r>
              <a:rPr lang="en-US" sz="2800" b="1" dirty="0">
                <a:latin typeface="Courier New" panose="02070309020205020404" pitchFamily="49" charset="0"/>
                <a:cs typeface="Courier New" panose="02070309020205020404" pitchFamily="49" charset="0"/>
              </a:rPr>
              <a:t>a</a:t>
            </a:r>
            <a:r>
              <a:rPr lang="en-US" sz="2800" dirty="0">
                <a:latin typeface="Helvetica Light" panose="020B0403020202020204" pitchFamily="34" charset="0"/>
              </a:rPr>
              <a:t>)</a:t>
            </a:r>
          </a:p>
        </p:txBody>
      </p:sp>
      <p:sp>
        <p:nvSpPr>
          <p:cNvPr id="2" name="TextBox 1">
            <a:extLst>
              <a:ext uri="{FF2B5EF4-FFF2-40B4-BE49-F238E27FC236}">
                <a16:creationId xmlns:a16="http://schemas.microsoft.com/office/drawing/2014/main" id="{AAF76F47-D031-998A-501E-EF1A3A2AD81F}"/>
              </a:ext>
            </a:extLst>
          </p:cNvPr>
          <p:cNvSpPr txBox="1"/>
          <p:nvPr/>
        </p:nvSpPr>
        <p:spPr>
          <a:xfrm>
            <a:off x="746805" y="5891880"/>
            <a:ext cx="10698387" cy="523220"/>
          </a:xfrm>
          <a:prstGeom prst="rect">
            <a:avLst/>
          </a:prstGeom>
          <a:noFill/>
        </p:spPr>
        <p:txBody>
          <a:bodyPr wrap="square">
            <a:spAutoFit/>
          </a:bodyPr>
          <a:lstStyle/>
          <a:p>
            <a:r>
              <a:rPr lang="en-US" sz="2800" dirty="0">
                <a:latin typeface="Helvetica Light" panose="020B0403020202020204" pitchFamily="34" charset="0"/>
              </a:rPr>
              <a:t>Note: this is how you will generally do things in </a:t>
            </a:r>
            <a:r>
              <a:rPr lang="en-US" sz="2800" dirty="0" err="1">
                <a:latin typeface="Helvetica Light" panose="020B0403020202020204" pitchFamily="34" charset="0"/>
              </a:rPr>
              <a:t>jupyter</a:t>
            </a:r>
            <a:r>
              <a:rPr lang="en-US" sz="2800" dirty="0">
                <a:latin typeface="Helvetica Light" panose="020B0403020202020204" pitchFamily="34" charset="0"/>
              </a:rPr>
              <a:t> notebooks</a:t>
            </a:r>
          </a:p>
        </p:txBody>
      </p:sp>
      <p:pic>
        <p:nvPicPr>
          <p:cNvPr id="5" name="Picture 4">
            <a:extLst>
              <a:ext uri="{FF2B5EF4-FFF2-40B4-BE49-F238E27FC236}">
                <a16:creationId xmlns:a16="http://schemas.microsoft.com/office/drawing/2014/main" id="{737BAB06-EC6A-0662-ABE4-670E15BD1515}"/>
              </a:ext>
            </a:extLst>
          </p:cNvPr>
          <p:cNvPicPr>
            <a:picLocks noChangeAspect="1"/>
          </p:cNvPicPr>
          <p:nvPr/>
        </p:nvPicPr>
        <p:blipFill>
          <a:blip r:embed="rId3"/>
          <a:stretch>
            <a:fillRect/>
          </a:stretch>
        </p:blipFill>
        <p:spPr>
          <a:xfrm>
            <a:off x="2865866" y="2991320"/>
            <a:ext cx="5184973" cy="2625028"/>
          </a:xfrm>
          <a:prstGeom prst="rect">
            <a:avLst/>
          </a:prstGeom>
        </p:spPr>
      </p:pic>
    </p:spTree>
    <p:extLst>
      <p:ext uri="{BB962C8B-B14F-4D97-AF65-F5344CB8AC3E}">
        <p14:creationId xmlns:p14="http://schemas.microsoft.com/office/powerpoint/2010/main" val="3966989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509E8DB-E969-3D4B-8DB3-0990A967B5CA}"/>
              </a:ext>
            </a:extLst>
          </p:cNvPr>
          <p:cNvSpPr txBox="1"/>
          <p:nvPr/>
        </p:nvSpPr>
        <p:spPr>
          <a:xfrm>
            <a:off x="1751700" y="372598"/>
            <a:ext cx="8688597" cy="584775"/>
          </a:xfrm>
          <a:prstGeom prst="rect">
            <a:avLst/>
          </a:prstGeom>
          <a:noFill/>
        </p:spPr>
        <p:txBody>
          <a:bodyPr wrap="none" rtlCol="0">
            <a:spAutoFit/>
          </a:bodyPr>
          <a:lstStyle/>
          <a:p>
            <a:r>
              <a:rPr lang="en-US" sz="3200" b="1" dirty="0">
                <a:latin typeface="Helvetica Light" panose="020B0403020202020204" pitchFamily="34" charset="0"/>
              </a:rPr>
              <a:t>Option B: providing file names with </a:t>
            </a:r>
            <a:r>
              <a:rPr lang="en-US" sz="3200" b="1" dirty="0" err="1">
                <a:latin typeface="Courier New" panose="02070309020205020404" pitchFamily="49" charset="0"/>
                <a:cs typeface="Courier New" panose="02070309020205020404" pitchFamily="49" charset="0"/>
              </a:rPr>
              <a:t>sys.argv</a:t>
            </a:r>
            <a:r>
              <a:rPr lang="en-US" sz="3200" b="1" dirty="0">
                <a:latin typeface="Helvetica Light" panose="020B0403020202020204" pitchFamily="34" charset="0"/>
              </a:rPr>
              <a:t> </a:t>
            </a:r>
          </a:p>
        </p:txBody>
      </p:sp>
      <p:sp>
        <p:nvSpPr>
          <p:cNvPr id="9" name="Rectangle 8">
            <a:extLst>
              <a:ext uri="{FF2B5EF4-FFF2-40B4-BE49-F238E27FC236}">
                <a16:creationId xmlns:a16="http://schemas.microsoft.com/office/drawing/2014/main" id="{C0102FCD-4DE3-C842-87EE-DF489CEB87AD}"/>
              </a:ext>
            </a:extLst>
          </p:cNvPr>
          <p:cNvSpPr/>
          <p:nvPr/>
        </p:nvSpPr>
        <p:spPr>
          <a:xfrm>
            <a:off x="251254" y="3154676"/>
            <a:ext cx="11689491" cy="2677656"/>
          </a:xfrm>
          <a:prstGeom prst="rect">
            <a:avLst/>
          </a:prstGeom>
          <a:ln>
            <a:solidFill>
              <a:schemeClr val="tx1"/>
            </a:solidFill>
          </a:ln>
        </p:spPr>
        <p:txBody>
          <a:bodyPr wrap="square">
            <a:spAutoFit/>
          </a:bodyPr>
          <a:lstStyle/>
          <a:p>
            <a:r>
              <a:rPr lang="en-US" sz="2400" b="1" dirty="0">
                <a:solidFill>
                  <a:schemeClr val="accent1">
                    <a:lumMod val="75000"/>
                  </a:schemeClr>
                </a:solidFill>
                <a:latin typeface="Courier New" panose="02070309020205020404" pitchFamily="49" charset="0"/>
                <a:cs typeface="Courier New" panose="02070309020205020404" pitchFamily="49" charset="0"/>
              </a:rPr>
              <a:t>import</a:t>
            </a:r>
            <a:r>
              <a:rPr lang="en-US" sz="2400" b="1" dirty="0">
                <a:latin typeface="Courier New" panose="02070309020205020404" pitchFamily="49" charset="0"/>
                <a:cs typeface="Courier New" panose="02070309020205020404" pitchFamily="49" charset="0"/>
              </a:rPr>
              <a:t> sys</a:t>
            </a:r>
          </a:p>
          <a:p>
            <a:endParaRPr lang="en-US" sz="2400" b="1" dirty="0">
              <a:latin typeface="Courier New" panose="02070309020205020404" pitchFamily="49" charset="0"/>
              <a:cs typeface="Courier New" panose="02070309020205020404" pitchFamily="49" charset="0"/>
            </a:endParaRPr>
          </a:p>
          <a:p>
            <a:r>
              <a:rPr lang="en-US" sz="2400" b="1" dirty="0" err="1">
                <a:latin typeface="Courier New" panose="02070309020205020404" pitchFamily="49" charset="0"/>
                <a:cs typeface="Courier New" panose="02070309020205020404" pitchFamily="49" charset="0"/>
              </a:rPr>
              <a:t>Infile</a:t>
            </a:r>
            <a:r>
              <a:rPr lang="en-US" sz="2400" b="1" dirty="0">
                <a:latin typeface="Courier New" panose="02070309020205020404" pitchFamily="49" charset="0"/>
                <a:cs typeface="Courier New" panose="02070309020205020404" pitchFamily="49" charset="0"/>
              </a:rPr>
              <a:t> = </a:t>
            </a:r>
            <a:r>
              <a:rPr lang="en-US" sz="2400" b="1" dirty="0" err="1">
                <a:latin typeface="Courier New" panose="02070309020205020404" pitchFamily="49" charset="0"/>
                <a:cs typeface="Courier New" panose="02070309020205020404" pitchFamily="49" charset="0"/>
              </a:rPr>
              <a:t>sys.argv</a:t>
            </a:r>
            <a:r>
              <a:rPr lang="en-US" sz="2400" b="1" dirty="0">
                <a:latin typeface="Courier New" panose="02070309020205020404" pitchFamily="49" charset="0"/>
                <a:cs typeface="Courier New" panose="02070309020205020404" pitchFamily="49" charset="0"/>
              </a:rPr>
              <a:t>[1]</a:t>
            </a:r>
          </a:p>
          <a:p>
            <a:r>
              <a:rPr lang="en-US" sz="2400" b="1" dirty="0">
                <a:latin typeface="Courier New" panose="02070309020205020404" pitchFamily="49" charset="0"/>
                <a:cs typeface="Courier New" panose="02070309020205020404" pitchFamily="49" charset="0"/>
              </a:rPr>
              <a:t>IN = open(</a:t>
            </a:r>
            <a:r>
              <a:rPr lang="en-US" sz="2400" b="1" dirty="0" err="1">
                <a:latin typeface="Courier New" panose="02070309020205020404" pitchFamily="49" charset="0"/>
                <a:cs typeface="Courier New" panose="02070309020205020404" pitchFamily="49" charset="0"/>
              </a:rPr>
              <a:t>Infile</a:t>
            </a:r>
            <a:r>
              <a:rPr lang="en-US" sz="2400" b="1" dirty="0">
                <a:latin typeface="Courier New" panose="02070309020205020404" pitchFamily="49" charset="0"/>
                <a:cs typeface="Courier New" panose="02070309020205020404" pitchFamily="49" charset="0"/>
              </a:rPr>
              <a:t>, ‘r’)</a:t>
            </a:r>
          </a:p>
          <a:p>
            <a:endParaRPr lang="en-US" sz="2400" b="1" dirty="0">
              <a:latin typeface="Courier New" panose="02070309020205020404" pitchFamily="49" charset="0"/>
              <a:cs typeface="Courier New" panose="02070309020205020404" pitchFamily="49" charset="0"/>
            </a:endParaRPr>
          </a:p>
          <a:p>
            <a:r>
              <a:rPr lang="en-US" sz="2400" b="1" dirty="0">
                <a:solidFill>
                  <a:srgbClr val="FF0000"/>
                </a:solidFill>
                <a:latin typeface="Courier New" panose="02070309020205020404" pitchFamily="49" charset="0"/>
                <a:cs typeface="Courier New" panose="02070309020205020404" pitchFamily="49" charset="0"/>
              </a:rPr>
              <a:t>OR</a:t>
            </a:r>
          </a:p>
          <a:p>
            <a:r>
              <a:rPr lang="en-US" sz="2400" b="1" dirty="0">
                <a:latin typeface="Courier New" panose="02070309020205020404" pitchFamily="49" charset="0"/>
                <a:cs typeface="Courier New" panose="02070309020205020404" pitchFamily="49" charset="0"/>
              </a:rPr>
              <a:t>IN = open(</a:t>
            </a:r>
            <a:r>
              <a:rPr lang="en-US" sz="2400" b="1" dirty="0" err="1">
                <a:latin typeface="Courier New" panose="02070309020205020404" pitchFamily="49" charset="0"/>
                <a:cs typeface="Courier New" panose="02070309020205020404" pitchFamily="49" charset="0"/>
              </a:rPr>
              <a:t>sys.argv</a:t>
            </a:r>
            <a:r>
              <a:rPr lang="en-US" sz="2400" b="1" dirty="0">
                <a:latin typeface="Courier New" panose="02070309020205020404" pitchFamily="49" charset="0"/>
                <a:cs typeface="Courier New" panose="02070309020205020404" pitchFamily="49" charset="0"/>
              </a:rPr>
              <a:t>[1], ‘r’)</a:t>
            </a:r>
          </a:p>
        </p:txBody>
      </p:sp>
      <p:sp>
        <p:nvSpPr>
          <p:cNvPr id="5" name="TextBox 4">
            <a:extLst>
              <a:ext uri="{FF2B5EF4-FFF2-40B4-BE49-F238E27FC236}">
                <a16:creationId xmlns:a16="http://schemas.microsoft.com/office/drawing/2014/main" id="{56F28613-D79C-7B40-8253-8A3A6597A839}"/>
              </a:ext>
            </a:extLst>
          </p:cNvPr>
          <p:cNvSpPr txBox="1"/>
          <p:nvPr/>
        </p:nvSpPr>
        <p:spPr>
          <a:xfrm>
            <a:off x="251254" y="2244977"/>
            <a:ext cx="9892452" cy="553998"/>
          </a:xfrm>
          <a:prstGeom prst="rect">
            <a:avLst/>
          </a:prstGeom>
          <a:noFill/>
        </p:spPr>
        <p:txBody>
          <a:bodyPr wrap="none" rtlCol="0">
            <a:spAutoFit/>
          </a:bodyPr>
          <a:lstStyle/>
          <a:p>
            <a:r>
              <a:rPr lang="en-US" sz="3000" b="1" dirty="0">
                <a:latin typeface="Courier New" panose="02070309020205020404" pitchFamily="49" charset="0"/>
                <a:cs typeface="Courier New" panose="02070309020205020404" pitchFamily="49" charset="0"/>
              </a:rPr>
              <a:t>sys</a:t>
            </a:r>
            <a:r>
              <a:rPr lang="en-US" sz="3000" dirty="0">
                <a:latin typeface="Helvetica Light" panose="020B0403020202020204" pitchFamily="34" charset="0"/>
                <a:cs typeface="Courier New" panose="02070309020205020404" pitchFamily="49" charset="0"/>
              </a:rPr>
              <a:t> is a python library you will probably use extensively.</a:t>
            </a:r>
          </a:p>
        </p:txBody>
      </p:sp>
      <p:sp>
        <p:nvSpPr>
          <p:cNvPr id="6" name="Rectangle 5">
            <a:extLst>
              <a:ext uri="{FF2B5EF4-FFF2-40B4-BE49-F238E27FC236}">
                <a16:creationId xmlns:a16="http://schemas.microsoft.com/office/drawing/2014/main" id="{8F342EE9-41D0-1D48-9F67-D9AF91821A5E}"/>
              </a:ext>
            </a:extLst>
          </p:cNvPr>
          <p:cNvSpPr/>
          <p:nvPr/>
        </p:nvSpPr>
        <p:spPr>
          <a:xfrm>
            <a:off x="199284" y="1427611"/>
            <a:ext cx="11689491" cy="461665"/>
          </a:xfrm>
          <a:prstGeom prst="rect">
            <a:avLst/>
          </a:prstGeom>
          <a:ln>
            <a:solidFill>
              <a:schemeClr val="tx1"/>
            </a:solidFill>
          </a:ln>
        </p:spPr>
        <p:txBody>
          <a:bodyPr wrap="square">
            <a:spAutoFit/>
          </a:bodyPr>
          <a:lstStyle/>
          <a:p>
            <a:r>
              <a:rPr lang="en-US" sz="2400" b="1" dirty="0">
                <a:latin typeface="Courier New" panose="02070309020205020404" pitchFamily="49" charset="0"/>
                <a:cs typeface="Courier New" panose="02070309020205020404" pitchFamily="49" charset="0"/>
              </a:rPr>
              <a:t>$ python </a:t>
            </a:r>
            <a:r>
              <a:rPr lang="en-US" sz="2400" b="1" dirty="0" err="1">
                <a:latin typeface="Courier New" panose="02070309020205020404" pitchFamily="49" charset="0"/>
                <a:cs typeface="Courier New" panose="02070309020205020404" pitchFamily="49" charset="0"/>
              </a:rPr>
              <a:t>arg_script.py</a:t>
            </a:r>
            <a:r>
              <a:rPr lang="en-US" sz="2400" b="1" dirty="0">
                <a:latin typeface="Courier New" panose="02070309020205020404" pitchFamily="49" charset="0"/>
                <a:cs typeface="Courier New" panose="02070309020205020404" pitchFamily="49" charset="0"/>
              </a:rPr>
              <a:t> </a:t>
            </a:r>
            <a:r>
              <a:rPr lang="en-US" sz="2400" b="1" dirty="0" err="1">
                <a:latin typeface="Courier New" panose="02070309020205020404" pitchFamily="49" charset="0"/>
                <a:cs typeface="Courier New" panose="02070309020205020404" pitchFamily="49" charset="0"/>
              </a:rPr>
              <a:t>datafile.txt</a:t>
            </a:r>
            <a:endParaRPr lang="en-US" sz="2400" b="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9078322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771FF7A-E3C0-A045-86CF-223B0BB4FAC7}"/>
              </a:ext>
            </a:extLst>
          </p:cNvPr>
          <p:cNvSpPr/>
          <p:nvPr/>
        </p:nvSpPr>
        <p:spPr>
          <a:xfrm>
            <a:off x="426309" y="1300731"/>
            <a:ext cx="11661613" cy="4662815"/>
          </a:xfrm>
          <a:prstGeom prst="rect">
            <a:avLst/>
          </a:prstGeom>
          <a:ln>
            <a:noFill/>
          </a:ln>
        </p:spPr>
        <p:txBody>
          <a:bodyPr wrap="square">
            <a:spAutoFit/>
          </a:bodyPr>
          <a:lstStyle/>
          <a:p>
            <a:r>
              <a:rPr lang="en-US" sz="2700" b="1" dirty="0">
                <a:latin typeface="Helvetica Light" panose="020B0403020202020204" pitchFamily="34" charset="0"/>
                <a:cs typeface="Courier New" panose="02070309020205020404" pitchFamily="49" charset="0"/>
              </a:rPr>
              <a:t>.read()</a:t>
            </a:r>
          </a:p>
          <a:p>
            <a:r>
              <a:rPr lang="en-US" sz="2700" dirty="0">
                <a:latin typeface="Helvetica Light" panose="020B0403020202020204" pitchFamily="34" charset="0"/>
                <a:cs typeface="Courier New" panose="02070309020205020404" pitchFamily="49" charset="0"/>
              </a:rPr>
              <a:t> - Reads entire contents from file at once:</a:t>
            </a:r>
          </a:p>
          <a:p>
            <a:r>
              <a:rPr lang="en-US" sz="2700" b="1" dirty="0">
                <a:latin typeface="Courier New" panose="02070309020205020404" pitchFamily="49" charset="0"/>
                <a:cs typeface="Courier New" panose="02070309020205020404" pitchFamily="49" charset="0"/>
              </a:rPr>
              <a:t>data = </a:t>
            </a:r>
            <a:r>
              <a:rPr lang="en-US" sz="2700" b="1" dirty="0" err="1">
                <a:latin typeface="Courier New" panose="02070309020205020404" pitchFamily="49" charset="0"/>
                <a:cs typeface="Courier New" panose="02070309020205020404" pitchFamily="49" charset="0"/>
              </a:rPr>
              <a:t>INfile.</a:t>
            </a:r>
            <a:r>
              <a:rPr lang="en-US" sz="2700" b="1" dirty="0" err="1">
                <a:solidFill>
                  <a:schemeClr val="accent1">
                    <a:lumMod val="75000"/>
                  </a:schemeClr>
                </a:solidFill>
                <a:latin typeface="Courier New" panose="02070309020205020404" pitchFamily="49" charset="0"/>
                <a:cs typeface="Courier New" panose="02070309020205020404" pitchFamily="49" charset="0"/>
              </a:rPr>
              <a:t>read</a:t>
            </a:r>
            <a:r>
              <a:rPr lang="en-US" sz="2700" b="1" dirty="0">
                <a:latin typeface="Courier New" panose="02070309020205020404" pitchFamily="49" charset="0"/>
                <a:cs typeface="Courier New" panose="02070309020205020404" pitchFamily="49" charset="0"/>
              </a:rPr>
              <a:t>() </a:t>
            </a:r>
          </a:p>
          <a:p>
            <a:endParaRPr lang="en-US" sz="2700" b="1" dirty="0">
              <a:solidFill>
                <a:schemeClr val="tx1">
                  <a:lumMod val="65000"/>
                  <a:lumOff val="35000"/>
                </a:schemeClr>
              </a:solidFill>
              <a:latin typeface="Courier New" panose="02070309020205020404" pitchFamily="49" charset="0"/>
              <a:cs typeface="Courier New" panose="02070309020205020404" pitchFamily="49" charset="0"/>
            </a:endParaRPr>
          </a:p>
          <a:p>
            <a:r>
              <a:rPr lang="en-US" sz="2700" b="1" dirty="0">
                <a:latin typeface="Helvetica Light" panose="020B0403020202020204" pitchFamily="34" charset="0"/>
                <a:cs typeface="Courier New" panose="02070309020205020404" pitchFamily="49" charset="0"/>
              </a:rPr>
              <a:t>.</a:t>
            </a:r>
            <a:r>
              <a:rPr lang="en-US" sz="2700" b="1" dirty="0" err="1">
                <a:latin typeface="Helvetica Light" panose="020B0403020202020204" pitchFamily="34" charset="0"/>
                <a:cs typeface="Courier New" panose="02070309020205020404" pitchFamily="49" charset="0"/>
              </a:rPr>
              <a:t>readline</a:t>
            </a:r>
            <a:r>
              <a:rPr lang="en-US" sz="2700" b="1" dirty="0">
                <a:latin typeface="Helvetica Light" panose="020B0403020202020204" pitchFamily="34" charset="0"/>
                <a:cs typeface="Courier New" panose="02070309020205020404" pitchFamily="49" charset="0"/>
              </a:rPr>
              <a:t>()</a:t>
            </a:r>
          </a:p>
          <a:p>
            <a:r>
              <a:rPr lang="en-US" sz="2700" dirty="0">
                <a:latin typeface="Helvetica Light" panose="020B0403020202020204" pitchFamily="34" charset="0"/>
                <a:cs typeface="Courier New" panose="02070309020205020404" pitchFamily="49" charset="0"/>
              </a:rPr>
              <a:t> - Reads one line from a file handle:</a:t>
            </a:r>
            <a:r>
              <a:rPr lang="en-US" sz="2700" b="1" dirty="0">
                <a:solidFill>
                  <a:schemeClr val="tx1">
                    <a:lumMod val="65000"/>
                    <a:lumOff val="35000"/>
                  </a:schemeClr>
                </a:solidFill>
                <a:latin typeface="Courier New" panose="02070309020205020404" pitchFamily="49" charset="0"/>
                <a:cs typeface="Courier New" panose="02070309020205020404" pitchFamily="49" charset="0"/>
              </a:rPr>
              <a:t>			</a:t>
            </a:r>
            <a:endParaRPr lang="en-US" sz="2700" b="1" dirty="0">
              <a:latin typeface="Courier New" panose="02070309020205020404" pitchFamily="49" charset="0"/>
              <a:cs typeface="Courier New" panose="02070309020205020404" pitchFamily="49" charset="0"/>
            </a:endParaRPr>
          </a:p>
          <a:p>
            <a:r>
              <a:rPr lang="en-US" sz="2700" b="1" dirty="0" err="1">
                <a:latin typeface="Courier New" panose="02070309020205020404" pitchFamily="49" charset="0"/>
                <a:cs typeface="Courier New" panose="02070309020205020404" pitchFamily="49" charset="0"/>
              </a:rPr>
              <a:t>One_line</a:t>
            </a:r>
            <a:r>
              <a:rPr lang="en-US" sz="2700" b="1" dirty="0">
                <a:latin typeface="Courier New" panose="02070309020205020404" pitchFamily="49" charset="0"/>
                <a:cs typeface="Courier New" panose="02070309020205020404" pitchFamily="49" charset="0"/>
              </a:rPr>
              <a:t> = </a:t>
            </a:r>
            <a:r>
              <a:rPr lang="en-US" sz="2700" b="1" dirty="0" err="1">
                <a:latin typeface="Courier New" panose="02070309020205020404" pitchFamily="49" charset="0"/>
                <a:cs typeface="Courier New" panose="02070309020205020404" pitchFamily="49" charset="0"/>
              </a:rPr>
              <a:t>INfile.</a:t>
            </a:r>
            <a:r>
              <a:rPr lang="en-US" sz="2700" b="1" dirty="0" err="1">
                <a:solidFill>
                  <a:schemeClr val="accent1">
                    <a:lumMod val="75000"/>
                  </a:schemeClr>
                </a:solidFill>
                <a:latin typeface="Courier New" panose="02070309020205020404" pitchFamily="49" charset="0"/>
                <a:cs typeface="Courier New" panose="02070309020205020404" pitchFamily="49" charset="0"/>
              </a:rPr>
              <a:t>readline</a:t>
            </a:r>
            <a:r>
              <a:rPr lang="en-US" sz="2700" b="1" dirty="0">
                <a:latin typeface="Courier New" panose="02070309020205020404" pitchFamily="49" charset="0"/>
                <a:cs typeface="Courier New" panose="02070309020205020404" pitchFamily="49" charset="0"/>
              </a:rPr>
              <a:t>()</a:t>
            </a:r>
          </a:p>
          <a:p>
            <a:endParaRPr lang="en-US" sz="2700" b="1" dirty="0">
              <a:solidFill>
                <a:schemeClr val="tx1">
                  <a:lumMod val="65000"/>
                  <a:lumOff val="35000"/>
                </a:schemeClr>
              </a:solidFill>
              <a:latin typeface="Courier New" panose="02070309020205020404" pitchFamily="49" charset="0"/>
              <a:cs typeface="Courier New" panose="02070309020205020404" pitchFamily="49" charset="0"/>
            </a:endParaRPr>
          </a:p>
          <a:p>
            <a:r>
              <a:rPr lang="en-US" sz="2700" b="1" dirty="0">
                <a:latin typeface="Helvetica Light" panose="020B0403020202020204" pitchFamily="34" charset="0"/>
                <a:cs typeface="Courier New" panose="02070309020205020404" pitchFamily="49" charset="0"/>
              </a:rPr>
              <a:t>.</a:t>
            </a:r>
            <a:r>
              <a:rPr lang="en-US" sz="2700" b="1" dirty="0" err="1">
                <a:latin typeface="Helvetica Light" panose="020B0403020202020204" pitchFamily="34" charset="0"/>
                <a:cs typeface="Courier New" panose="02070309020205020404" pitchFamily="49" charset="0"/>
              </a:rPr>
              <a:t>readlines</a:t>
            </a:r>
            <a:r>
              <a:rPr lang="en-US" sz="2700" b="1" dirty="0">
                <a:latin typeface="Helvetica Light" panose="020B0403020202020204" pitchFamily="34" charset="0"/>
                <a:cs typeface="Courier New" panose="02070309020205020404" pitchFamily="49" charset="0"/>
              </a:rPr>
              <a:t>()</a:t>
            </a:r>
          </a:p>
          <a:p>
            <a:r>
              <a:rPr lang="en-US" sz="2700" dirty="0">
                <a:latin typeface="Helvetica Light" panose="020B0403020202020204" pitchFamily="34" charset="0"/>
                <a:cs typeface="Courier New" panose="02070309020205020404" pitchFamily="49" charset="0"/>
              </a:rPr>
              <a:t> - Reads entire file into a </a:t>
            </a:r>
            <a:r>
              <a:rPr lang="en-US" sz="2700" b="1" dirty="0">
                <a:latin typeface="Helvetica Light" panose="020B0403020202020204" pitchFamily="34" charset="0"/>
                <a:cs typeface="Courier New" panose="02070309020205020404" pitchFamily="49" charset="0"/>
              </a:rPr>
              <a:t>list</a:t>
            </a:r>
            <a:r>
              <a:rPr lang="en-US" sz="2700" dirty="0">
                <a:latin typeface="Helvetica Light" panose="020B0403020202020204" pitchFamily="34" charset="0"/>
                <a:cs typeface="Courier New" panose="02070309020205020404" pitchFamily="49" charset="0"/>
              </a:rPr>
              <a:t> of lines:</a:t>
            </a:r>
            <a:endParaRPr lang="en-US" sz="2700" b="1" dirty="0">
              <a:solidFill>
                <a:schemeClr val="tx1">
                  <a:lumMod val="65000"/>
                  <a:lumOff val="35000"/>
                </a:schemeClr>
              </a:solidFill>
              <a:latin typeface="Courier New" panose="02070309020205020404" pitchFamily="49" charset="0"/>
              <a:cs typeface="Courier New" panose="02070309020205020404" pitchFamily="49" charset="0"/>
            </a:endParaRPr>
          </a:p>
          <a:p>
            <a:r>
              <a:rPr lang="en-US" sz="2700" b="1" dirty="0" err="1">
                <a:latin typeface="Courier New" panose="02070309020205020404" pitchFamily="49" charset="0"/>
                <a:cs typeface="Courier New" panose="02070309020205020404" pitchFamily="49" charset="0"/>
              </a:rPr>
              <a:t>LineList</a:t>
            </a:r>
            <a:r>
              <a:rPr lang="en-US" sz="2700" b="1" dirty="0">
                <a:latin typeface="Courier New" panose="02070309020205020404" pitchFamily="49" charset="0"/>
                <a:cs typeface="Courier New" panose="02070309020205020404" pitchFamily="49" charset="0"/>
              </a:rPr>
              <a:t> = </a:t>
            </a:r>
            <a:r>
              <a:rPr lang="en-US" sz="2700" b="1" dirty="0" err="1">
                <a:latin typeface="Courier New" panose="02070309020205020404" pitchFamily="49" charset="0"/>
                <a:cs typeface="Courier New" panose="02070309020205020404" pitchFamily="49" charset="0"/>
              </a:rPr>
              <a:t>INfile.</a:t>
            </a:r>
            <a:r>
              <a:rPr lang="en-US" sz="2700" b="1" dirty="0" err="1">
                <a:solidFill>
                  <a:schemeClr val="accent1">
                    <a:lumMod val="75000"/>
                  </a:schemeClr>
                </a:solidFill>
                <a:latin typeface="Courier New" panose="02070309020205020404" pitchFamily="49" charset="0"/>
                <a:cs typeface="Courier New" panose="02070309020205020404" pitchFamily="49" charset="0"/>
              </a:rPr>
              <a:t>readlines</a:t>
            </a:r>
            <a:r>
              <a:rPr lang="en-US" sz="2700" b="1" dirty="0">
                <a:latin typeface="Courier New" panose="02070309020205020404" pitchFamily="49" charset="0"/>
                <a:cs typeface="Courier New" panose="02070309020205020404" pitchFamily="49" charset="0"/>
              </a:rPr>
              <a:t>() </a:t>
            </a:r>
            <a:r>
              <a:rPr lang="en-US" sz="2700" b="1" dirty="0">
                <a:solidFill>
                  <a:schemeClr val="tx1">
                    <a:lumMod val="65000"/>
                    <a:lumOff val="35000"/>
                  </a:schemeClr>
                </a:solidFill>
                <a:latin typeface="Courier New" panose="02070309020205020404" pitchFamily="49" charset="0"/>
                <a:cs typeface="Courier New" panose="02070309020205020404" pitchFamily="49" charset="0"/>
              </a:rPr>
              <a:t># Not good for big data!</a:t>
            </a:r>
            <a:endParaRPr lang="en-US" sz="2700" b="1" dirty="0">
              <a:latin typeface="Courier New" panose="02070309020205020404" pitchFamily="49" charset="0"/>
              <a:cs typeface="Courier New" panose="02070309020205020404" pitchFamily="49" charset="0"/>
            </a:endParaRPr>
          </a:p>
        </p:txBody>
      </p:sp>
      <p:sp>
        <p:nvSpPr>
          <p:cNvPr id="4" name="TextBox 3">
            <a:extLst>
              <a:ext uri="{FF2B5EF4-FFF2-40B4-BE49-F238E27FC236}">
                <a16:creationId xmlns:a16="http://schemas.microsoft.com/office/drawing/2014/main" id="{8DF82217-B242-6248-82DA-E6A0522DAF72}"/>
              </a:ext>
            </a:extLst>
          </p:cNvPr>
          <p:cNvSpPr txBox="1"/>
          <p:nvPr/>
        </p:nvSpPr>
        <p:spPr>
          <a:xfrm>
            <a:off x="1870842" y="294290"/>
            <a:ext cx="7596951" cy="553998"/>
          </a:xfrm>
          <a:prstGeom prst="rect">
            <a:avLst/>
          </a:prstGeom>
          <a:noFill/>
        </p:spPr>
        <p:txBody>
          <a:bodyPr wrap="none" rtlCol="0">
            <a:spAutoFit/>
          </a:bodyPr>
          <a:lstStyle/>
          <a:p>
            <a:r>
              <a:rPr lang="en-US" sz="3000" dirty="0">
                <a:latin typeface="Helvetica Light" panose="020B0403020202020204" pitchFamily="34" charset="0"/>
              </a:rPr>
              <a:t>Opening connections to files, </a:t>
            </a:r>
            <a:r>
              <a:rPr lang="en-US" sz="3000" b="1" dirty="0">
                <a:latin typeface="Helvetica Light" panose="020B0403020202020204" pitchFamily="34" charset="0"/>
              </a:rPr>
              <a:t>reading input</a:t>
            </a:r>
          </a:p>
        </p:txBody>
      </p:sp>
    </p:spTree>
    <p:extLst>
      <p:ext uri="{BB962C8B-B14F-4D97-AF65-F5344CB8AC3E}">
        <p14:creationId xmlns:p14="http://schemas.microsoft.com/office/powerpoint/2010/main" val="12523423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771FF7A-E3C0-A045-86CF-223B0BB4FAC7}"/>
              </a:ext>
            </a:extLst>
          </p:cNvPr>
          <p:cNvSpPr/>
          <p:nvPr/>
        </p:nvSpPr>
        <p:spPr>
          <a:xfrm>
            <a:off x="251254" y="1905506"/>
            <a:ext cx="11689491" cy="2677656"/>
          </a:xfrm>
          <a:prstGeom prst="rect">
            <a:avLst/>
          </a:prstGeom>
          <a:ln>
            <a:solidFill>
              <a:schemeClr val="tx1"/>
            </a:solidFill>
          </a:ln>
        </p:spPr>
        <p:txBody>
          <a:bodyPr wrap="square">
            <a:spAutoFit/>
          </a:bodyPr>
          <a:lstStyle/>
          <a:p>
            <a:endParaRPr lang="en-US" sz="2400" b="1" dirty="0">
              <a:latin typeface="Courier New" panose="02070309020205020404" pitchFamily="49" charset="0"/>
              <a:cs typeface="Courier New" panose="02070309020205020404" pitchFamily="49" charset="0"/>
            </a:endParaRPr>
          </a:p>
          <a:p>
            <a:endParaRPr lang="en-US" sz="2400" b="1" dirty="0">
              <a:latin typeface="Courier New" panose="02070309020205020404" pitchFamily="49" charset="0"/>
              <a:cs typeface="Courier New" panose="02070309020205020404" pitchFamily="49" charset="0"/>
            </a:endParaRPr>
          </a:p>
          <a:p>
            <a:r>
              <a:rPr lang="en-US" sz="2400" b="1" dirty="0">
                <a:solidFill>
                  <a:schemeClr val="accent1">
                    <a:lumMod val="75000"/>
                  </a:schemeClr>
                </a:solidFill>
                <a:latin typeface="Courier New" panose="02070309020205020404" pitchFamily="49" charset="0"/>
                <a:cs typeface="Courier New" panose="02070309020205020404" pitchFamily="49" charset="0"/>
              </a:rPr>
              <a:t>for</a:t>
            </a:r>
            <a:r>
              <a:rPr lang="en-US" sz="2400" b="1" dirty="0">
                <a:latin typeface="Courier New" panose="02070309020205020404" pitchFamily="49" charset="0"/>
                <a:cs typeface="Courier New" panose="02070309020205020404" pitchFamily="49" charset="0"/>
              </a:rPr>
              <a:t> Line </a:t>
            </a:r>
            <a:r>
              <a:rPr lang="en-US" sz="2400" b="1" dirty="0">
                <a:solidFill>
                  <a:schemeClr val="accent1">
                    <a:lumMod val="75000"/>
                  </a:schemeClr>
                </a:solidFill>
                <a:latin typeface="Courier New" panose="02070309020205020404" pitchFamily="49" charset="0"/>
                <a:cs typeface="Courier New" panose="02070309020205020404" pitchFamily="49" charset="0"/>
              </a:rPr>
              <a:t>in</a:t>
            </a:r>
            <a:r>
              <a:rPr lang="en-US" sz="2400" b="1" dirty="0">
                <a:latin typeface="Courier New" panose="02070309020205020404" pitchFamily="49" charset="0"/>
                <a:cs typeface="Courier New" panose="02070309020205020404" pitchFamily="49" charset="0"/>
              </a:rPr>
              <a:t> IN:</a:t>
            </a:r>
          </a:p>
          <a:p>
            <a:r>
              <a:rPr lang="en-US" sz="2400" b="1" dirty="0">
                <a:latin typeface="Courier New" panose="02070309020205020404" pitchFamily="49" charset="0"/>
                <a:cs typeface="Courier New" panose="02070309020205020404" pitchFamily="49" charset="0"/>
              </a:rPr>
              <a:t>	</a:t>
            </a:r>
            <a:r>
              <a:rPr lang="en-US" sz="2400" b="1" dirty="0">
                <a:solidFill>
                  <a:srgbClr val="00B050"/>
                </a:solidFill>
                <a:latin typeface="Courier New" panose="02070309020205020404" pitchFamily="49" charset="0"/>
                <a:cs typeface="Courier New" panose="02070309020205020404" pitchFamily="49" charset="0"/>
              </a:rPr>
              <a:t>print</a:t>
            </a:r>
            <a:r>
              <a:rPr lang="en-US" sz="2400" b="1" dirty="0">
                <a:latin typeface="Courier New" panose="02070309020205020404" pitchFamily="49" charset="0"/>
                <a:cs typeface="Courier New" panose="02070309020205020404" pitchFamily="49" charset="0"/>
              </a:rPr>
              <a:t>("This is one line at a time\n”)</a:t>
            </a:r>
          </a:p>
          <a:p>
            <a:endParaRPr lang="en-US" sz="2400" b="1" dirty="0">
              <a:latin typeface="Courier New" panose="02070309020205020404" pitchFamily="49" charset="0"/>
              <a:cs typeface="Courier New" panose="02070309020205020404" pitchFamily="49" charset="0"/>
            </a:endParaRPr>
          </a:p>
          <a:p>
            <a:r>
              <a:rPr lang="en-US" sz="2400" b="1" dirty="0">
                <a:solidFill>
                  <a:schemeClr val="tx1">
                    <a:lumMod val="65000"/>
                    <a:lumOff val="35000"/>
                  </a:schemeClr>
                </a:solidFill>
                <a:latin typeface="Courier New" panose="02070309020205020404" pitchFamily="49" charset="0"/>
                <a:cs typeface="Courier New" panose="02070309020205020404" pitchFamily="49" charset="0"/>
              </a:rPr>
              <a:t># Each time through the loop, subsequent line is processed.</a:t>
            </a:r>
          </a:p>
          <a:p>
            <a:r>
              <a:rPr lang="en-US" sz="2400" b="1" dirty="0">
                <a:solidFill>
                  <a:schemeClr val="tx1">
                    <a:lumMod val="65000"/>
                    <a:lumOff val="35000"/>
                  </a:schemeClr>
                </a:solidFill>
                <a:latin typeface="Courier New" panose="02070309020205020404" pitchFamily="49" charset="0"/>
                <a:cs typeface="Courier New" panose="02070309020205020404" pitchFamily="49" charset="0"/>
              </a:rPr>
              <a:t>			</a:t>
            </a:r>
            <a:endParaRPr lang="en-US" sz="2400" b="1" dirty="0">
              <a:latin typeface="Courier New" panose="02070309020205020404" pitchFamily="49" charset="0"/>
              <a:cs typeface="Courier New" panose="02070309020205020404" pitchFamily="49" charset="0"/>
            </a:endParaRPr>
          </a:p>
        </p:txBody>
      </p:sp>
      <p:sp>
        <p:nvSpPr>
          <p:cNvPr id="4" name="TextBox 3">
            <a:extLst>
              <a:ext uri="{FF2B5EF4-FFF2-40B4-BE49-F238E27FC236}">
                <a16:creationId xmlns:a16="http://schemas.microsoft.com/office/drawing/2014/main" id="{8DF82217-B242-6248-82DA-E6A0522DAF72}"/>
              </a:ext>
            </a:extLst>
          </p:cNvPr>
          <p:cNvSpPr txBox="1"/>
          <p:nvPr/>
        </p:nvSpPr>
        <p:spPr>
          <a:xfrm>
            <a:off x="3498920" y="249686"/>
            <a:ext cx="4761240" cy="584775"/>
          </a:xfrm>
          <a:prstGeom prst="rect">
            <a:avLst/>
          </a:prstGeom>
          <a:noFill/>
        </p:spPr>
        <p:txBody>
          <a:bodyPr wrap="none" rtlCol="0">
            <a:spAutoFit/>
          </a:bodyPr>
          <a:lstStyle/>
          <a:p>
            <a:r>
              <a:rPr lang="en-US" sz="3200" b="1" dirty="0">
                <a:latin typeface="Helvetica Light" panose="020B0403020202020204" pitchFamily="34" charset="0"/>
              </a:rPr>
              <a:t>But, for most of our work:</a:t>
            </a:r>
          </a:p>
        </p:txBody>
      </p:sp>
      <p:sp>
        <p:nvSpPr>
          <p:cNvPr id="5" name="TextBox 4">
            <a:extLst>
              <a:ext uri="{FF2B5EF4-FFF2-40B4-BE49-F238E27FC236}">
                <a16:creationId xmlns:a16="http://schemas.microsoft.com/office/drawing/2014/main" id="{6B49A80A-DA78-6E43-8758-7CBBFDD78271}"/>
              </a:ext>
            </a:extLst>
          </p:cNvPr>
          <p:cNvSpPr txBox="1"/>
          <p:nvPr/>
        </p:nvSpPr>
        <p:spPr>
          <a:xfrm>
            <a:off x="152400" y="1229143"/>
            <a:ext cx="9733755" cy="553998"/>
          </a:xfrm>
          <a:prstGeom prst="rect">
            <a:avLst/>
          </a:prstGeom>
          <a:noFill/>
        </p:spPr>
        <p:txBody>
          <a:bodyPr wrap="none" rtlCol="0">
            <a:spAutoFit/>
          </a:bodyPr>
          <a:lstStyle/>
          <a:p>
            <a:r>
              <a:rPr lang="en-US" sz="3000" b="1" dirty="0">
                <a:latin typeface="Helvetica Light" panose="020B0403020202020204" pitchFamily="34" charset="0"/>
              </a:rPr>
              <a:t>Processing one line at a time: best option for most uses</a:t>
            </a:r>
            <a:endParaRPr lang="en-US" sz="3000" dirty="0">
              <a:latin typeface="Helvetica Light" panose="020B0403020202020204" pitchFamily="34" charset="0"/>
            </a:endParaRPr>
          </a:p>
        </p:txBody>
      </p:sp>
    </p:spTree>
    <p:extLst>
      <p:ext uri="{BB962C8B-B14F-4D97-AF65-F5344CB8AC3E}">
        <p14:creationId xmlns:p14="http://schemas.microsoft.com/office/powerpoint/2010/main" val="14775508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771FF7A-E3C0-A045-86CF-223B0BB4FAC7}"/>
              </a:ext>
            </a:extLst>
          </p:cNvPr>
          <p:cNvSpPr/>
          <p:nvPr/>
        </p:nvSpPr>
        <p:spPr>
          <a:xfrm>
            <a:off x="251254" y="1783141"/>
            <a:ext cx="11689491" cy="2677656"/>
          </a:xfrm>
          <a:prstGeom prst="rect">
            <a:avLst/>
          </a:prstGeom>
          <a:ln>
            <a:solidFill>
              <a:schemeClr val="tx1"/>
            </a:solidFill>
          </a:ln>
        </p:spPr>
        <p:txBody>
          <a:bodyPr wrap="square">
            <a:spAutoFit/>
          </a:bodyPr>
          <a:lstStyle/>
          <a:p>
            <a:endParaRPr lang="en-US" sz="2400" b="1" dirty="0">
              <a:latin typeface="Courier New" panose="02070309020205020404" pitchFamily="49" charset="0"/>
              <a:cs typeface="Courier New" panose="02070309020205020404" pitchFamily="49" charset="0"/>
            </a:endParaRPr>
          </a:p>
          <a:p>
            <a:r>
              <a:rPr lang="en-US" sz="2400" b="1" dirty="0">
                <a:solidFill>
                  <a:srgbClr val="7030A0"/>
                </a:solidFill>
                <a:latin typeface="Courier New" panose="02070309020205020404" pitchFamily="49" charset="0"/>
                <a:cs typeface="Courier New" panose="02070309020205020404" pitchFamily="49" charset="0"/>
              </a:rPr>
              <a:t>for</a:t>
            </a:r>
            <a:r>
              <a:rPr lang="en-US" sz="2400" b="1" dirty="0">
                <a:latin typeface="Courier New" panose="02070309020205020404" pitchFamily="49" charset="0"/>
                <a:cs typeface="Courier New" panose="02070309020205020404" pitchFamily="49" charset="0"/>
              </a:rPr>
              <a:t> Line </a:t>
            </a:r>
            <a:r>
              <a:rPr lang="en-US" sz="2400" b="1" dirty="0">
                <a:solidFill>
                  <a:srgbClr val="7030A0"/>
                </a:solidFill>
                <a:latin typeface="Courier New" panose="02070309020205020404" pitchFamily="49" charset="0"/>
                <a:cs typeface="Courier New" panose="02070309020205020404" pitchFamily="49" charset="0"/>
              </a:rPr>
              <a:t>in</a:t>
            </a:r>
            <a:r>
              <a:rPr lang="en-US" sz="2400" b="1" dirty="0">
                <a:latin typeface="Courier New" panose="02070309020205020404" pitchFamily="49" charset="0"/>
                <a:cs typeface="Courier New" panose="02070309020205020404" pitchFamily="49" charset="0"/>
              </a:rPr>
              <a:t> IN:</a:t>
            </a:r>
          </a:p>
          <a:p>
            <a:r>
              <a:rPr lang="en-US" sz="2400" b="1" dirty="0">
                <a:latin typeface="Courier New" panose="02070309020205020404" pitchFamily="49" charset="0"/>
                <a:cs typeface="Courier New" panose="02070309020205020404" pitchFamily="49" charset="0"/>
              </a:rPr>
              <a:t>	Line = </a:t>
            </a:r>
            <a:r>
              <a:rPr lang="en-US" sz="2400" b="1" dirty="0" err="1">
                <a:latin typeface="Courier New" panose="02070309020205020404" pitchFamily="49" charset="0"/>
                <a:cs typeface="Courier New" panose="02070309020205020404" pitchFamily="49" charset="0"/>
              </a:rPr>
              <a:t>Line.strip</a:t>
            </a:r>
            <a:r>
              <a:rPr lang="en-US" sz="2400" b="1" dirty="0">
                <a:solidFill>
                  <a:srgbClr val="C00000"/>
                </a:solidFill>
                <a:latin typeface="Courier New" panose="02070309020205020404" pitchFamily="49" charset="0"/>
                <a:cs typeface="Courier New" panose="02070309020205020404" pitchFamily="49" charset="0"/>
              </a:rPr>
              <a:t>('\n'</a:t>
            </a:r>
            <a:r>
              <a:rPr lang="en-US" sz="2400" b="1" dirty="0">
                <a:latin typeface="Courier New" panose="02070309020205020404" pitchFamily="49" charset="0"/>
                <a:cs typeface="Courier New" panose="02070309020205020404" pitchFamily="49" charset="0"/>
              </a:rPr>
              <a:t>) </a:t>
            </a:r>
            <a:r>
              <a:rPr lang="en-US" sz="2400" b="1" dirty="0">
                <a:solidFill>
                  <a:schemeClr val="tx1">
                    <a:lumMod val="50000"/>
                    <a:lumOff val="50000"/>
                  </a:schemeClr>
                </a:solidFill>
                <a:latin typeface="Courier New" panose="02070309020205020404" pitchFamily="49" charset="0"/>
                <a:cs typeface="Courier New" panose="02070309020205020404" pitchFamily="49" charset="0"/>
              </a:rPr>
              <a:t># removing line ending. DO this. </a:t>
            </a:r>
          </a:p>
          <a:p>
            <a:r>
              <a:rPr lang="en-US" sz="2400" b="1" dirty="0">
                <a:latin typeface="Courier New" panose="02070309020205020404" pitchFamily="49" charset="0"/>
                <a:cs typeface="Courier New" panose="02070309020205020404" pitchFamily="49" charset="0"/>
              </a:rPr>
              <a:t>	print("</a:t>
            </a:r>
            <a:r>
              <a:rPr lang="en-US" sz="2400" b="1" dirty="0">
                <a:solidFill>
                  <a:srgbClr val="C00000"/>
                </a:solidFill>
                <a:latin typeface="Courier New" panose="02070309020205020404" pitchFamily="49" charset="0"/>
                <a:cs typeface="Courier New" panose="02070309020205020404" pitchFamily="49" charset="0"/>
              </a:rPr>
              <a:t>This is one line at a time\n</a:t>
            </a:r>
            <a:r>
              <a:rPr lang="en-US" sz="2400" b="1" dirty="0">
                <a:latin typeface="Courier New" panose="02070309020205020404" pitchFamily="49" charset="0"/>
                <a:cs typeface="Courier New" panose="02070309020205020404" pitchFamily="49" charset="0"/>
              </a:rPr>
              <a:t>")</a:t>
            </a:r>
          </a:p>
          <a:p>
            <a:endParaRPr lang="en-US" sz="2400" b="1" dirty="0">
              <a:latin typeface="Courier New" panose="02070309020205020404" pitchFamily="49" charset="0"/>
              <a:cs typeface="Courier New" panose="02070309020205020404" pitchFamily="49" charset="0"/>
            </a:endParaRPr>
          </a:p>
          <a:p>
            <a:r>
              <a:rPr lang="en-US" sz="2400" dirty="0">
                <a:latin typeface="Helvetica Light" panose="020B0403020202020204" pitchFamily="34" charset="0"/>
                <a:cs typeface="Courier New" panose="02070309020205020404" pitchFamily="49" charset="0"/>
              </a:rPr>
              <a:t>- Each time through the loop, subsequent line is processed.</a:t>
            </a:r>
          </a:p>
          <a:p>
            <a:r>
              <a:rPr lang="en-US" sz="2400" dirty="0">
                <a:latin typeface="Helvetica Light" panose="020B0403020202020204" pitchFamily="34" charset="0"/>
                <a:cs typeface="Courier New" panose="02070309020205020404" pitchFamily="49" charset="0"/>
              </a:rPr>
              <a:t>- </a:t>
            </a:r>
            <a:r>
              <a:rPr lang="en-US" sz="2400" dirty="0">
                <a:latin typeface="Courier New" panose="02070309020205020404" pitchFamily="49" charset="0"/>
                <a:cs typeface="Courier New" panose="02070309020205020404" pitchFamily="49" charset="0"/>
              </a:rPr>
              <a:t>Line</a:t>
            </a:r>
            <a:r>
              <a:rPr lang="en-US" sz="2400" dirty="0">
                <a:latin typeface="Helvetica Light" panose="020B0403020202020204" pitchFamily="34" charset="0"/>
                <a:cs typeface="Courier New" panose="02070309020205020404" pitchFamily="49" charset="0"/>
              </a:rPr>
              <a:t> is a string</a:t>
            </a:r>
            <a:r>
              <a:rPr lang="en-US" sz="2400" b="1" dirty="0">
                <a:solidFill>
                  <a:schemeClr val="tx1">
                    <a:lumMod val="65000"/>
                    <a:lumOff val="35000"/>
                  </a:schemeClr>
                </a:solidFill>
                <a:latin typeface="Courier New" panose="02070309020205020404" pitchFamily="49" charset="0"/>
                <a:cs typeface="Courier New" panose="02070309020205020404" pitchFamily="49" charset="0"/>
              </a:rPr>
              <a:t>	</a:t>
            </a:r>
            <a:endParaRPr lang="en-US" sz="2400" b="1" dirty="0">
              <a:latin typeface="Courier New" panose="02070309020205020404" pitchFamily="49" charset="0"/>
              <a:cs typeface="Courier New" panose="02070309020205020404" pitchFamily="49" charset="0"/>
            </a:endParaRPr>
          </a:p>
        </p:txBody>
      </p:sp>
      <p:sp>
        <p:nvSpPr>
          <p:cNvPr id="4" name="TextBox 3">
            <a:extLst>
              <a:ext uri="{FF2B5EF4-FFF2-40B4-BE49-F238E27FC236}">
                <a16:creationId xmlns:a16="http://schemas.microsoft.com/office/drawing/2014/main" id="{8DF82217-B242-6248-82DA-E6A0522DAF72}"/>
              </a:ext>
            </a:extLst>
          </p:cNvPr>
          <p:cNvSpPr txBox="1"/>
          <p:nvPr/>
        </p:nvSpPr>
        <p:spPr>
          <a:xfrm>
            <a:off x="1870842" y="294290"/>
            <a:ext cx="6445995" cy="584775"/>
          </a:xfrm>
          <a:prstGeom prst="rect">
            <a:avLst/>
          </a:prstGeom>
          <a:noFill/>
        </p:spPr>
        <p:txBody>
          <a:bodyPr wrap="none" rtlCol="0">
            <a:spAutoFit/>
          </a:bodyPr>
          <a:lstStyle/>
          <a:p>
            <a:r>
              <a:rPr lang="en-US" sz="3200" b="1" dirty="0">
                <a:latin typeface="Helvetica Light" panose="020B0403020202020204" pitchFamily="34" charset="0"/>
              </a:rPr>
              <a:t>Processing a file one line at a time</a:t>
            </a:r>
          </a:p>
        </p:txBody>
      </p:sp>
      <p:sp>
        <p:nvSpPr>
          <p:cNvPr id="5" name="TextBox 4">
            <a:extLst>
              <a:ext uri="{FF2B5EF4-FFF2-40B4-BE49-F238E27FC236}">
                <a16:creationId xmlns:a16="http://schemas.microsoft.com/office/drawing/2014/main" id="{6B49A80A-DA78-6E43-8758-7CBBFDD78271}"/>
              </a:ext>
            </a:extLst>
          </p:cNvPr>
          <p:cNvSpPr txBox="1"/>
          <p:nvPr/>
        </p:nvSpPr>
        <p:spPr>
          <a:xfrm>
            <a:off x="152400" y="1229143"/>
            <a:ext cx="10333278" cy="553998"/>
          </a:xfrm>
          <a:prstGeom prst="rect">
            <a:avLst/>
          </a:prstGeom>
          <a:noFill/>
        </p:spPr>
        <p:txBody>
          <a:bodyPr wrap="none" rtlCol="0">
            <a:spAutoFit/>
          </a:bodyPr>
          <a:lstStyle/>
          <a:p>
            <a:r>
              <a:rPr lang="en-US" sz="3000" dirty="0">
                <a:latin typeface="Helvetica Light" panose="020B0403020202020204" pitchFamily="34" charset="0"/>
              </a:rPr>
              <a:t>A for loop gives us one line of data each time through loop:</a:t>
            </a:r>
          </a:p>
        </p:txBody>
      </p:sp>
      <p:sp>
        <p:nvSpPr>
          <p:cNvPr id="3" name="Rectangle 2">
            <a:extLst>
              <a:ext uri="{FF2B5EF4-FFF2-40B4-BE49-F238E27FC236}">
                <a16:creationId xmlns:a16="http://schemas.microsoft.com/office/drawing/2014/main" id="{664BF636-32A4-1C4D-9701-45F3F39CE70F}"/>
              </a:ext>
            </a:extLst>
          </p:cNvPr>
          <p:cNvSpPr/>
          <p:nvPr/>
        </p:nvSpPr>
        <p:spPr>
          <a:xfrm>
            <a:off x="5934738" y="3244334"/>
            <a:ext cx="322524" cy="369332"/>
          </a:xfrm>
          <a:prstGeom prst="rect">
            <a:avLst/>
          </a:prstGeom>
        </p:spPr>
        <p:txBody>
          <a:bodyPr wrap="none">
            <a:spAutoFit/>
          </a:bodyPr>
          <a:lstStyle/>
          <a:p>
            <a:r>
              <a:rPr lang="en-US" b="1" dirty="0">
                <a:latin typeface="Courier New" panose="02070309020205020404" pitchFamily="49" charset="0"/>
                <a:cs typeface="Courier New" panose="02070309020205020404" pitchFamily="49" charset="0"/>
              </a:rPr>
              <a:t>'</a:t>
            </a:r>
            <a:endParaRPr lang="en-US" dirty="0"/>
          </a:p>
        </p:txBody>
      </p:sp>
      <p:sp>
        <p:nvSpPr>
          <p:cNvPr id="6" name="TextBox 5">
            <a:extLst>
              <a:ext uri="{FF2B5EF4-FFF2-40B4-BE49-F238E27FC236}">
                <a16:creationId xmlns:a16="http://schemas.microsoft.com/office/drawing/2014/main" id="{CC705293-67FA-C6BD-BB72-B891B3143924}"/>
              </a:ext>
            </a:extLst>
          </p:cNvPr>
          <p:cNvSpPr txBox="1"/>
          <p:nvPr/>
        </p:nvSpPr>
        <p:spPr>
          <a:xfrm>
            <a:off x="3133492" y="4583162"/>
            <a:ext cx="5330305" cy="2092881"/>
          </a:xfrm>
          <a:prstGeom prst="rect">
            <a:avLst/>
          </a:prstGeom>
          <a:noFill/>
        </p:spPr>
        <p:txBody>
          <a:bodyPr wrap="none" rtlCol="0">
            <a:spAutoFit/>
          </a:bodyPr>
          <a:lstStyle/>
          <a:p>
            <a:r>
              <a:rPr lang="en-US" sz="2600" b="1" dirty="0">
                <a:latin typeface="HELVETICA LIGHT" panose="020B0403020202020204" pitchFamily="34" charset="0"/>
              </a:rPr>
              <a:t>Iteration 1:     </a:t>
            </a:r>
            <a:r>
              <a:rPr lang="en-US" sz="2600" dirty="0">
                <a:latin typeface="Helvetica Light" panose="020B0403020202020204" pitchFamily="34" charset="0"/>
              </a:rPr>
              <a:t> </a:t>
            </a:r>
            <a:r>
              <a:rPr lang="en-US" sz="2600" dirty="0">
                <a:latin typeface="Courier New" panose="02070309020205020404" pitchFamily="49" charset="0"/>
                <a:cs typeface="Courier New" panose="02070309020205020404" pitchFamily="49" charset="0"/>
              </a:rPr>
              <a:t>Line </a:t>
            </a:r>
            <a:r>
              <a:rPr lang="en-US" sz="2600" dirty="0">
                <a:latin typeface="Helvetica Light" panose="020B0403020202020204" pitchFamily="34" charset="0"/>
              </a:rPr>
              <a:t>= first line</a:t>
            </a:r>
          </a:p>
          <a:p>
            <a:r>
              <a:rPr lang="en-US" sz="2600" b="1" dirty="0">
                <a:latin typeface="HELVETICA LIGHT" panose="020B0403020202020204" pitchFamily="34" charset="0"/>
              </a:rPr>
              <a:t>Iteration 2: 	   </a:t>
            </a:r>
            <a:r>
              <a:rPr lang="en-US" sz="2600" dirty="0">
                <a:latin typeface="Courier New" panose="02070309020205020404" pitchFamily="49" charset="0"/>
                <a:cs typeface="Courier New" panose="02070309020205020404" pitchFamily="49" charset="0"/>
              </a:rPr>
              <a:t>Line</a:t>
            </a:r>
            <a:r>
              <a:rPr lang="en-US" sz="2600" dirty="0">
                <a:latin typeface="Helvetica Light" panose="020B0403020202020204" pitchFamily="34" charset="0"/>
              </a:rPr>
              <a:t> = second line</a:t>
            </a:r>
          </a:p>
          <a:p>
            <a:r>
              <a:rPr lang="en-US" sz="2600" b="1" dirty="0">
                <a:latin typeface="HELVETICA LIGHT" panose="020B0403020202020204" pitchFamily="34" charset="0"/>
              </a:rPr>
              <a:t>Iteration 3:      </a:t>
            </a:r>
            <a:r>
              <a:rPr lang="en-US" sz="2600" dirty="0">
                <a:latin typeface="Courier New" panose="02070309020205020404" pitchFamily="49" charset="0"/>
                <a:cs typeface="Courier New" panose="02070309020205020404" pitchFamily="49" charset="0"/>
              </a:rPr>
              <a:t>Line</a:t>
            </a:r>
            <a:r>
              <a:rPr lang="en-US" sz="2600" dirty="0">
                <a:latin typeface="Helvetica Light" panose="020B0403020202020204" pitchFamily="34" charset="0"/>
              </a:rPr>
              <a:t> = third line</a:t>
            </a:r>
          </a:p>
          <a:p>
            <a:r>
              <a:rPr lang="en-US" sz="2600" b="1" dirty="0">
                <a:latin typeface="HELVETICA LIGHT" panose="020B0403020202020204" pitchFamily="34" charset="0"/>
              </a:rPr>
              <a:t>Iteration 4:      </a:t>
            </a:r>
            <a:r>
              <a:rPr lang="en-US" sz="2600" dirty="0">
                <a:latin typeface="Courier New" panose="02070309020205020404" pitchFamily="49" charset="0"/>
                <a:cs typeface="Courier New" panose="02070309020205020404" pitchFamily="49" charset="0"/>
              </a:rPr>
              <a:t>Line</a:t>
            </a:r>
            <a:r>
              <a:rPr lang="en-US" sz="2600" dirty="0">
                <a:latin typeface="Helvetica Light" panose="020B0403020202020204" pitchFamily="34" charset="0"/>
              </a:rPr>
              <a:t> = fourth line</a:t>
            </a:r>
          </a:p>
          <a:p>
            <a:endParaRPr lang="en-US" sz="2600" dirty="0">
              <a:latin typeface="Helvetica Light" panose="020B0403020202020204" pitchFamily="34" charset="0"/>
            </a:endParaRPr>
          </a:p>
        </p:txBody>
      </p:sp>
    </p:spTree>
    <p:extLst>
      <p:ext uri="{BB962C8B-B14F-4D97-AF65-F5344CB8AC3E}">
        <p14:creationId xmlns:p14="http://schemas.microsoft.com/office/powerpoint/2010/main" val="26213678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DE0867-6DF9-3FFF-5116-C2600599811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DD930DA-ADD7-F4A8-036B-6CC34F17BAF1}"/>
              </a:ext>
            </a:extLst>
          </p:cNvPr>
          <p:cNvSpPr/>
          <p:nvPr/>
        </p:nvSpPr>
        <p:spPr>
          <a:xfrm>
            <a:off x="251254" y="1783141"/>
            <a:ext cx="11689491" cy="4616648"/>
          </a:xfrm>
          <a:prstGeom prst="rect">
            <a:avLst/>
          </a:prstGeom>
          <a:ln>
            <a:solidFill>
              <a:schemeClr val="tx1"/>
            </a:solidFill>
          </a:ln>
        </p:spPr>
        <p:txBody>
          <a:bodyPr wrap="square">
            <a:spAutoFit/>
          </a:bodyPr>
          <a:lstStyle/>
          <a:p>
            <a:endParaRPr lang="en-US" sz="2400" b="1" dirty="0">
              <a:latin typeface="Courier New" panose="02070309020205020404" pitchFamily="49" charset="0"/>
              <a:cs typeface="Courier New" panose="02070309020205020404" pitchFamily="49" charset="0"/>
            </a:endParaRPr>
          </a:p>
          <a:p>
            <a:r>
              <a:rPr lang="en-US" sz="3000" b="1" dirty="0">
                <a:solidFill>
                  <a:srgbClr val="7030A0"/>
                </a:solidFill>
                <a:latin typeface="Courier New" panose="02070309020205020404" pitchFamily="49" charset="0"/>
                <a:cs typeface="Courier New" panose="02070309020205020404" pitchFamily="49" charset="0"/>
              </a:rPr>
              <a:t>for</a:t>
            </a:r>
            <a:r>
              <a:rPr lang="en-US" sz="3000" b="1" dirty="0">
                <a:latin typeface="Courier New" panose="02070309020205020404" pitchFamily="49" charset="0"/>
                <a:cs typeface="Courier New" panose="02070309020205020404" pitchFamily="49" charset="0"/>
              </a:rPr>
              <a:t> Line </a:t>
            </a:r>
            <a:r>
              <a:rPr lang="en-US" sz="3000" b="1" dirty="0">
                <a:solidFill>
                  <a:srgbClr val="7030A0"/>
                </a:solidFill>
                <a:latin typeface="Courier New" panose="02070309020205020404" pitchFamily="49" charset="0"/>
                <a:cs typeface="Courier New" panose="02070309020205020404" pitchFamily="49" charset="0"/>
              </a:rPr>
              <a:t>in</a:t>
            </a:r>
            <a:r>
              <a:rPr lang="en-US" sz="3000" b="1" dirty="0">
                <a:latin typeface="Courier New" panose="02070309020205020404" pitchFamily="49" charset="0"/>
                <a:cs typeface="Courier New" panose="02070309020205020404" pitchFamily="49" charset="0"/>
              </a:rPr>
              <a:t> IN:</a:t>
            </a:r>
          </a:p>
          <a:p>
            <a:r>
              <a:rPr lang="en-US" sz="3000" b="1" dirty="0">
                <a:latin typeface="Courier New" panose="02070309020205020404" pitchFamily="49" charset="0"/>
                <a:cs typeface="Courier New" panose="02070309020205020404" pitchFamily="49" charset="0"/>
              </a:rPr>
              <a:t>    Line = </a:t>
            </a:r>
            <a:r>
              <a:rPr lang="en-US" sz="3000" b="1" dirty="0" err="1">
                <a:latin typeface="Courier New" panose="02070309020205020404" pitchFamily="49" charset="0"/>
                <a:cs typeface="Courier New" panose="02070309020205020404" pitchFamily="49" charset="0"/>
              </a:rPr>
              <a:t>Line.strip</a:t>
            </a:r>
            <a:r>
              <a:rPr lang="en-US" sz="3000" b="1" dirty="0">
                <a:solidFill>
                  <a:srgbClr val="C00000"/>
                </a:solidFill>
                <a:latin typeface="Courier New" panose="02070309020205020404" pitchFamily="49" charset="0"/>
                <a:cs typeface="Courier New" panose="02070309020205020404" pitchFamily="49" charset="0"/>
              </a:rPr>
              <a:t>("\n"</a:t>
            </a:r>
            <a:r>
              <a:rPr lang="en-US" sz="3000" b="1" dirty="0">
                <a:latin typeface="Courier New" panose="02070309020205020404" pitchFamily="49" charset="0"/>
                <a:cs typeface="Courier New" panose="02070309020205020404" pitchFamily="49" charset="0"/>
              </a:rPr>
              <a:t>)</a:t>
            </a:r>
          </a:p>
          <a:p>
            <a:r>
              <a:rPr lang="en-US" sz="3000" b="1" dirty="0">
                <a:latin typeface="Courier New" panose="02070309020205020404" pitchFamily="49" charset="0"/>
                <a:cs typeface="Courier New" panose="02070309020205020404" pitchFamily="49" charset="0"/>
              </a:rPr>
              <a:t>    </a:t>
            </a:r>
            <a:r>
              <a:rPr lang="en-US" sz="3000" b="1" dirty="0" err="1">
                <a:latin typeface="Courier New" panose="02070309020205020404" pitchFamily="49" charset="0"/>
                <a:cs typeface="Courier New" panose="02070309020205020404" pitchFamily="49" charset="0"/>
              </a:rPr>
              <a:t>LineList</a:t>
            </a:r>
            <a:r>
              <a:rPr lang="en-US" sz="3000" b="1" dirty="0">
                <a:latin typeface="Courier New" panose="02070309020205020404" pitchFamily="49" charset="0"/>
                <a:cs typeface="Courier New" panose="02070309020205020404" pitchFamily="49" charset="0"/>
              </a:rPr>
              <a:t> = </a:t>
            </a:r>
            <a:r>
              <a:rPr lang="en-US" sz="3000" b="1" dirty="0" err="1">
                <a:latin typeface="Courier New" panose="02070309020205020404" pitchFamily="49" charset="0"/>
                <a:cs typeface="Courier New" panose="02070309020205020404" pitchFamily="49" charset="0"/>
              </a:rPr>
              <a:t>Line.split</a:t>
            </a:r>
            <a:r>
              <a:rPr lang="en-US" sz="3000" b="1" dirty="0">
                <a:latin typeface="Courier New" panose="02070309020205020404" pitchFamily="49" charset="0"/>
                <a:cs typeface="Courier New" panose="02070309020205020404" pitchFamily="49" charset="0"/>
              </a:rPr>
              <a:t>()</a:t>
            </a:r>
          </a:p>
          <a:p>
            <a:r>
              <a:rPr lang="en-US" sz="3000" b="1" dirty="0">
                <a:latin typeface="Courier New" panose="02070309020205020404" pitchFamily="49" charset="0"/>
                <a:cs typeface="Courier New" panose="02070309020205020404" pitchFamily="49" charset="0"/>
              </a:rPr>
              <a:t>    Gene = </a:t>
            </a:r>
            <a:r>
              <a:rPr lang="en-US" sz="3000" b="1" dirty="0" err="1">
                <a:latin typeface="Courier New" panose="02070309020205020404" pitchFamily="49" charset="0"/>
                <a:cs typeface="Courier New" panose="02070309020205020404" pitchFamily="49" charset="0"/>
              </a:rPr>
              <a:t>LineList</a:t>
            </a:r>
            <a:r>
              <a:rPr lang="en-US" sz="3000" b="1" dirty="0">
                <a:latin typeface="Courier New" panose="02070309020205020404" pitchFamily="49" charset="0"/>
                <a:cs typeface="Courier New" panose="02070309020205020404" pitchFamily="49" charset="0"/>
              </a:rPr>
              <a:t>[1]</a:t>
            </a:r>
          </a:p>
          <a:p>
            <a:endParaRPr lang="en-US" sz="2400" b="1" dirty="0">
              <a:latin typeface="Courier New" panose="02070309020205020404" pitchFamily="49" charset="0"/>
              <a:cs typeface="Courier New" panose="02070309020205020404" pitchFamily="49" charset="0"/>
            </a:endParaRPr>
          </a:p>
          <a:p>
            <a:endParaRPr lang="en-US" sz="2400" b="1" dirty="0">
              <a:latin typeface="Courier New" panose="02070309020205020404" pitchFamily="49" charset="0"/>
              <a:cs typeface="Courier New" panose="02070309020205020404" pitchFamily="49" charset="0"/>
            </a:endParaRPr>
          </a:p>
          <a:p>
            <a:r>
              <a:rPr lang="en-US" sz="2600" dirty="0">
                <a:latin typeface="Helvetica Light" panose="020B0403020202020204" pitchFamily="34" charset="0"/>
              </a:rPr>
              <a:t>This is why we spent time on strings and lists. A line comes out of the file as a string. We clean that string, use </a:t>
            </a:r>
            <a:r>
              <a:rPr lang="en-US" sz="2600" dirty="0">
                <a:latin typeface="Courier New" panose="02070309020205020404" pitchFamily="49" charset="0"/>
                <a:cs typeface="Courier New" panose="02070309020205020404" pitchFamily="49" charset="0"/>
              </a:rPr>
              <a:t>.split() </a:t>
            </a:r>
            <a:r>
              <a:rPr lang="en-US" sz="2600" dirty="0">
                <a:latin typeface="Helvetica Light" panose="020B0403020202020204" pitchFamily="34" charset="0"/>
              </a:rPr>
              <a:t>to turn it into a list, and then list indexing lets us pull out individual columns.</a:t>
            </a:r>
          </a:p>
          <a:p>
            <a:r>
              <a:rPr lang="en-US" sz="2400" b="1" dirty="0">
                <a:solidFill>
                  <a:schemeClr val="tx1">
                    <a:lumMod val="65000"/>
                    <a:lumOff val="35000"/>
                  </a:schemeClr>
                </a:solidFill>
                <a:latin typeface="Courier New" panose="02070309020205020404" pitchFamily="49" charset="0"/>
                <a:cs typeface="Courier New" panose="02070309020205020404" pitchFamily="49" charset="0"/>
              </a:rPr>
              <a:t>	</a:t>
            </a:r>
            <a:endParaRPr lang="en-US" sz="2400" b="1" dirty="0">
              <a:latin typeface="Courier New" panose="02070309020205020404" pitchFamily="49" charset="0"/>
              <a:cs typeface="Courier New" panose="02070309020205020404" pitchFamily="49" charset="0"/>
            </a:endParaRPr>
          </a:p>
        </p:txBody>
      </p:sp>
      <p:sp>
        <p:nvSpPr>
          <p:cNvPr id="4" name="TextBox 3">
            <a:extLst>
              <a:ext uri="{FF2B5EF4-FFF2-40B4-BE49-F238E27FC236}">
                <a16:creationId xmlns:a16="http://schemas.microsoft.com/office/drawing/2014/main" id="{A2946D1D-8EB3-92DD-DA91-7829440398CC}"/>
              </a:ext>
            </a:extLst>
          </p:cNvPr>
          <p:cNvSpPr txBox="1"/>
          <p:nvPr/>
        </p:nvSpPr>
        <p:spPr>
          <a:xfrm>
            <a:off x="2640276" y="290798"/>
            <a:ext cx="6085320" cy="1015663"/>
          </a:xfrm>
          <a:prstGeom prst="rect">
            <a:avLst/>
          </a:prstGeom>
          <a:noFill/>
        </p:spPr>
        <p:txBody>
          <a:bodyPr wrap="none" rtlCol="0">
            <a:spAutoFit/>
          </a:bodyPr>
          <a:lstStyle/>
          <a:p>
            <a:r>
              <a:rPr lang="en-US" sz="3200" b="1" dirty="0">
                <a:latin typeface="Helvetica Light" panose="020B0403020202020204" pitchFamily="34" charset="0"/>
              </a:rPr>
              <a:t>From a line of text to usable data</a:t>
            </a:r>
          </a:p>
          <a:p>
            <a:pPr algn="ctr"/>
            <a:r>
              <a:rPr lang="en-US" sz="2800" b="1" i="1" dirty="0">
                <a:latin typeface="Helvetica Light" panose="020B0403020202020204" pitchFamily="34" charset="0"/>
              </a:rPr>
              <a:t>Clean, split, extract</a:t>
            </a:r>
          </a:p>
        </p:txBody>
      </p:sp>
      <p:sp>
        <p:nvSpPr>
          <p:cNvPr id="5" name="TextBox 4">
            <a:extLst>
              <a:ext uri="{FF2B5EF4-FFF2-40B4-BE49-F238E27FC236}">
                <a16:creationId xmlns:a16="http://schemas.microsoft.com/office/drawing/2014/main" id="{230FF796-6EB5-48E1-8C43-A40E4C192635}"/>
              </a:ext>
            </a:extLst>
          </p:cNvPr>
          <p:cNvSpPr txBox="1"/>
          <p:nvPr/>
        </p:nvSpPr>
        <p:spPr>
          <a:xfrm>
            <a:off x="152400" y="1229143"/>
            <a:ext cx="10333278" cy="553998"/>
          </a:xfrm>
          <a:prstGeom prst="rect">
            <a:avLst/>
          </a:prstGeom>
          <a:noFill/>
        </p:spPr>
        <p:txBody>
          <a:bodyPr wrap="none" rtlCol="0">
            <a:spAutoFit/>
          </a:bodyPr>
          <a:lstStyle/>
          <a:p>
            <a:r>
              <a:rPr lang="en-US" sz="3000" dirty="0">
                <a:latin typeface="Helvetica Light" panose="020B0403020202020204" pitchFamily="34" charset="0"/>
              </a:rPr>
              <a:t>A for loop gives us one line of data each time through loop:</a:t>
            </a:r>
          </a:p>
        </p:txBody>
      </p:sp>
    </p:spTree>
    <p:extLst>
      <p:ext uri="{BB962C8B-B14F-4D97-AF65-F5344CB8AC3E}">
        <p14:creationId xmlns:p14="http://schemas.microsoft.com/office/powerpoint/2010/main" val="46597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B54B0B-47F8-C2D9-3D7F-F496BDCA40C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89D7A6C-FA32-6F33-9533-3673774A7C9A}"/>
              </a:ext>
            </a:extLst>
          </p:cNvPr>
          <p:cNvSpPr/>
          <p:nvPr/>
        </p:nvSpPr>
        <p:spPr>
          <a:xfrm>
            <a:off x="251254" y="1783141"/>
            <a:ext cx="11689491" cy="5139869"/>
          </a:xfrm>
          <a:prstGeom prst="rect">
            <a:avLst/>
          </a:prstGeom>
          <a:ln>
            <a:solidFill>
              <a:schemeClr val="tx1"/>
            </a:solidFill>
          </a:ln>
        </p:spPr>
        <p:txBody>
          <a:bodyPr wrap="square">
            <a:spAutoFit/>
          </a:bodyPr>
          <a:lstStyle/>
          <a:p>
            <a:endParaRPr lang="en-US" sz="2400" b="1" dirty="0">
              <a:latin typeface="Courier New" panose="02070309020205020404" pitchFamily="49" charset="0"/>
              <a:cs typeface="Courier New" panose="02070309020205020404" pitchFamily="49" charset="0"/>
            </a:endParaRPr>
          </a:p>
          <a:p>
            <a:r>
              <a:rPr lang="en-US" sz="3000" b="1" dirty="0" err="1">
                <a:latin typeface="Courier New" panose="02070309020205020404" pitchFamily="49" charset="0"/>
                <a:cs typeface="Courier New" panose="02070309020205020404" pitchFamily="49" charset="0"/>
              </a:rPr>
              <a:t>GeneList</a:t>
            </a:r>
            <a:r>
              <a:rPr lang="en-US" sz="3000" b="1" dirty="0">
                <a:latin typeface="Courier New" panose="02070309020205020404" pitchFamily="49" charset="0"/>
                <a:cs typeface="Courier New" panose="02070309020205020404" pitchFamily="49" charset="0"/>
              </a:rPr>
              <a:t> = []      </a:t>
            </a:r>
            <a:r>
              <a:rPr lang="en-US" sz="3000" b="1" dirty="0">
                <a:solidFill>
                  <a:schemeClr val="bg1">
                    <a:lumMod val="50000"/>
                  </a:schemeClr>
                </a:solidFill>
                <a:latin typeface="Courier New" panose="02070309020205020404" pitchFamily="49" charset="0"/>
                <a:cs typeface="Courier New" panose="02070309020205020404" pitchFamily="49" charset="0"/>
              </a:rPr>
              <a:t># initialize list</a:t>
            </a:r>
          </a:p>
          <a:p>
            <a:endParaRPr lang="en-US" sz="2400" b="1" dirty="0">
              <a:latin typeface="Courier New" panose="02070309020205020404" pitchFamily="49" charset="0"/>
              <a:cs typeface="Courier New" panose="02070309020205020404" pitchFamily="49" charset="0"/>
            </a:endParaRPr>
          </a:p>
          <a:p>
            <a:r>
              <a:rPr lang="en-US" sz="3000" b="1" dirty="0">
                <a:solidFill>
                  <a:srgbClr val="7030A0"/>
                </a:solidFill>
                <a:latin typeface="Courier New" panose="02070309020205020404" pitchFamily="49" charset="0"/>
                <a:cs typeface="Courier New" panose="02070309020205020404" pitchFamily="49" charset="0"/>
              </a:rPr>
              <a:t>for</a:t>
            </a:r>
            <a:r>
              <a:rPr lang="en-US" sz="3000" b="1" dirty="0">
                <a:latin typeface="Courier New" panose="02070309020205020404" pitchFamily="49" charset="0"/>
                <a:cs typeface="Courier New" panose="02070309020205020404" pitchFamily="49" charset="0"/>
              </a:rPr>
              <a:t> Line </a:t>
            </a:r>
            <a:r>
              <a:rPr lang="en-US" sz="3000" b="1" dirty="0">
                <a:solidFill>
                  <a:srgbClr val="7030A0"/>
                </a:solidFill>
                <a:latin typeface="Courier New" panose="02070309020205020404" pitchFamily="49" charset="0"/>
                <a:cs typeface="Courier New" panose="02070309020205020404" pitchFamily="49" charset="0"/>
              </a:rPr>
              <a:t>in</a:t>
            </a:r>
            <a:r>
              <a:rPr lang="en-US" sz="3000" b="1" dirty="0">
                <a:latin typeface="Courier New" panose="02070309020205020404" pitchFamily="49" charset="0"/>
                <a:cs typeface="Courier New" panose="02070309020205020404" pitchFamily="49" charset="0"/>
              </a:rPr>
              <a:t> IN:</a:t>
            </a:r>
          </a:p>
          <a:p>
            <a:r>
              <a:rPr lang="en-US" sz="3000" b="1" dirty="0">
                <a:latin typeface="Courier New" panose="02070309020205020404" pitchFamily="49" charset="0"/>
                <a:cs typeface="Courier New" panose="02070309020205020404" pitchFamily="49" charset="0"/>
              </a:rPr>
              <a:t>    Line = </a:t>
            </a:r>
            <a:r>
              <a:rPr lang="en-US" sz="3000" b="1" dirty="0" err="1">
                <a:latin typeface="Courier New" panose="02070309020205020404" pitchFamily="49" charset="0"/>
                <a:cs typeface="Courier New" panose="02070309020205020404" pitchFamily="49" charset="0"/>
              </a:rPr>
              <a:t>Line.strip</a:t>
            </a:r>
            <a:r>
              <a:rPr lang="en-US" sz="3000" b="1" dirty="0">
                <a:solidFill>
                  <a:srgbClr val="C00000"/>
                </a:solidFill>
                <a:latin typeface="Courier New" panose="02070309020205020404" pitchFamily="49" charset="0"/>
                <a:cs typeface="Courier New" panose="02070309020205020404" pitchFamily="49" charset="0"/>
              </a:rPr>
              <a:t>("\n"</a:t>
            </a:r>
            <a:r>
              <a:rPr lang="en-US" sz="3000" b="1" dirty="0">
                <a:latin typeface="Courier New" panose="02070309020205020404" pitchFamily="49" charset="0"/>
                <a:cs typeface="Courier New" panose="02070309020205020404" pitchFamily="49" charset="0"/>
              </a:rPr>
              <a:t>)</a:t>
            </a:r>
          </a:p>
          <a:p>
            <a:r>
              <a:rPr lang="en-US" sz="3000" b="1" dirty="0">
                <a:latin typeface="Courier New" panose="02070309020205020404" pitchFamily="49" charset="0"/>
                <a:cs typeface="Courier New" panose="02070309020205020404" pitchFamily="49" charset="0"/>
              </a:rPr>
              <a:t>    </a:t>
            </a:r>
            <a:r>
              <a:rPr lang="en-US" sz="3000" b="1" dirty="0" err="1">
                <a:latin typeface="Courier New" panose="02070309020205020404" pitchFamily="49" charset="0"/>
                <a:cs typeface="Courier New" panose="02070309020205020404" pitchFamily="49" charset="0"/>
              </a:rPr>
              <a:t>LineList</a:t>
            </a:r>
            <a:r>
              <a:rPr lang="en-US" sz="3000" b="1" dirty="0">
                <a:latin typeface="Courier New" panose="02070309020205020404" pitchFamily="49" charset="0"/>
                <a:cs typeface="Courier New" panose="02070309020205020404" pitchFamily="49" charset="0"/>
              </a:rPr>
              <a:t> = </a:t>
            </a:r>
            <a:r>
              <a:rPr lang="en-US" sz="3000" b="1" dirty="0" err="1">
                <a:latin typeface="Courier New" panose="02070309020205020404" pitchFamily="49" charset="0"/>
                <a:cs typeface="Courier New" panose="02070309020205020404" pitchFamily="49" charset="0"/>
              </a:rPr>
              <a:t>Line.split</a:t>
            </a:r>
            <a:r>
              <a:rPr lang="en-US" sz="3000" b="1" dirty="0">
                <a:latin typeface="Courier New" panose="02070309020205020404" pitchFamily="49" charset="0"/>
                <a:cs typeface="Courier New" panose="02070309020205020404" pitchFamily="49" charset="0"/>
              </a:rPr>
              <a:t>()</a:t>
            </a:r>
          </a:p>
          <a:p>
            <a:r>
              <a:rPr lang="en-US" sz="3000" b="1" dirty="0">
                <a:latin typeface="Courier New" panose="02070309020205020404" pitchFamily="49" charset="0"/>
                <a:cs typeface="Courier New" panose="02070309020205020404" pitchFamily="49" charset="0"/>
              </a:rPr>
              <a:t>    </a:t>
            </a:r>
            <a:r>
              <a:rPr lang="en-US" sz="3000" b="1" dirty="0" err="1">
                <a:latin typeface="Courier New" panose="02070309020205020404" pitchFamily="49" charset="0"/>
                <a:cs typeface="Courier New" panose="02070309020205020404" pitchFamily="49" charset="0"/>
              </a:rPr>
              <a:t>GeneList.append</a:t>
            </a:r>
            <a:r>
              <a:rPr lang="en-US" sz="3000" b="1" dirty="0">
                <a:latin typeface="Courier New" panose="02070309020205020404" pitchFamily="49" charset="0"/>
                <a:cs typeface="Courier New" panose="02070309020205020404" pitchFamily="49" charset="0"/>
              </a:rPr>
              <a:t>(</a:t>
            </a:r>
            <a:r>
              <a:rPr lang="en-US" sz="3000" b="1" dirty="0" err="1">
                <a:latin typeface="Courier New" panose="02070309020205020404" pitchFamily="49" charset="0"/>
                <a:cs typeface="Courier New" panose="02070309020205020404" pitchFamily="49" charset="0"/>
              </a:rPr>
              <a:t>LineList</a:t>
            </a:r>
            <a:r>
              <a:rPr lang="en-US" sz="3000" b="1" dirty="0">
                <a:latin typeface="Courier New" panose="02070309020205020404" pitchFamily="49" charset="0"/>
                <a:cs typeface="Courier New" panose="02070309020205020404" pitchFamily="49" charset="0"/>
              </a:rPr>
              <a:t>[</a:t>
            </a:r>
            <a:r>
              <a:rPr lang="en-US" sz="3000" b="1" dirty="0">
                <a:solidFill>
                  <a:srgbClr val="0070C0"/>
                </a:solidFill>
                <a:latin typeface="Courier New" panose="02070309020205020404" pitchFamily="49" charset="0"/>
                <a:cs typeface="Courier New" panose="02070309020205020404" pitchFamily="49" charset="0"/>
              </a:rPr>
              <a:t>1</a:t>
            </a:r>
            <a:r>
              <a:rPr lang="en-US" sz="3000" b="1" dirty="0">
                <a:latin typeface="Courier New" panose="02070309020205020404" pitchFamily="49" charset="0"/>
                <a:cs typeface="Courier New" panose="02070309020205020404" pitchFamily="49" charset="0"/>
              </a:rPr>
              <a:t>])</a:t>
            </a:r>
          </a:p>
          <a:p>
            <a:r>
              <a:rPr lang="en-US" sz="3000" b="1" dirty="0">
                <a:latin typeface="Courier New" panose="02070309020205020404" pitchFamily="49" charset="0"/>
                <a:cs typeface="Courier New" panose="02070309020205020404" pitchFamily="49" charset="0"/>
              </a:rPr>
              <a:t>	Counter += 1</a:t>
            </a:r>
          </a:p>
          <a:p>
            <a:endParaRPr lang="en-US" sz="2400" b="1" dirty="0">
              <a:latin typeface="Courier New" panose="02070309020205020404" pitchFamily="49" charset="0"/>
              <a:cs typeface="Courier New" panose="02070309020205020404" pitchFamily="49" charset="0"/>
            </a:endParaRPr>
          </a:p>
          <a:p>
            <a:pPr marL="457200" indent="-457200">
              <a:buFontTx/>
              <a:buChar char="-"/>
            </a:pPr>
            <a:r>
              <a:rPr lang="en-US" sz="2600" b="1" dirty="0" err="1">
                <a:latin typeface="Courier New" panose="02070309020205020404" pitchFamily="49" charset="0"/>
                <a:cs typeface="Courier New" panose="02070309020205020404" pitchFamily="49" charset="0"/>
              </a:rPr>
              <a:t>GeneList</a:t>
            </a:r>
            <a:r>
              <a:rPr lang="en-US" sz="2600" b="1" dirty="0">
                <a:latin typeface="Helvetica Light" panose="020B0403020202020204" pitchFamily="34" charset="0"/>
              </a:rPr>
              <a:t> grows with every iteration.</a:t>
            </a:r>
          </a:p>
          <a:p>
            <a:pPr marL="457200" indent="-457200">
              <a:buFontTx/>
              <a:buChar char="-"/>
            </a:pPr>
            <a:r>
              <a:rPr lang="en-US" sz="2600" b="1" dirty="0">
                <a:latin typeface="Courier New" panose="02070309020205020404" pitchFamily="49" charset="0"/>
                <a:cs typeface="Courier New" panose="02070309020205020404" pitchFamily="49" charset="0"/>
              </a:rPr>
              <a:t>Counter</a:t>
            </a:r>
            <a:r>
              <a:rPr lang="en-US" sz="2600" b="1" dirty="0">
                <a:latin typeface="Helvetica Light" panose="020B0403020202020204" pitchFamily="34" charset="0"/>
              </a:rPr>
              <a:t> gets one bigger with each iteration</a:t>
            </a:r>
          </a:p>
          <a:p>
            <a:r>
              <a:rPr lang="en-US" sz="2400" b="1" dirty="0">
                <a:solidFill>
                  <a:schemeClr val="tx1">
                    <a:lumMod val="65000"/>
                    <a:lumOff val="35000"/>
                  </a:schemeClr>
                </a:solidFill>
                <a:latin typeface="Courier New" panose="02070309020205020404" pitchFamily="49" charset="0"/>
                <a:cs typeface="Courier New" panose="02070309020205020404" pitchFamily="49" charset="0"/>
              </a:rPr>
              <a:t>	</a:t>
            </a:r>
            <a:endParaRPr lang="en-US" sz="2400" b="1" dirty="0">
              <a:latin typeface="Courier New" panose="02070309020205020404" pitchFamily="49" charset="0"/>
              <a:cs typeface="Courier New" panose="02070309020205020404" pitchFamily="49" charset="0"/>
            </a:endParaRPr>
          </a:p>
        </p:txBody>
      </p:sp>
      <p:sp>
        <p:nvSpPr>
          <p:cNvPr id="4" name="TextBox 3">
            <a:extLst>
              <a:ext uri="{FF2B5EF4-FFF2-40B4-BE49-F238E27FC236}">
                <a16:creationId xmlns:a16="http://schemas.microsoft.com/office/drawing/2014/main" id="{7501139A-CC55-163C-207B-49A2FE87B937}"/>
              </a:ext>
            </a:extLst>
          </p:cNvPr>
          <p:cNvSpPr txBox="1"/>
          <p:nvPr/>
        </p:nvSpPr>
        <p:spPr>
          <a:xfrm>
            <a:off x="2662578" y="213480"/>
            <a:ext cx="5840060" cy="1015663"/>
          </a:xfrm>
          <a:prstGeom prst="rect">
            <a:avLst/>
          </a:prstGeom>
          <a:noFill/>
        </p:spPr>
        <p:txBody>
          <a:bodyPr wrap="none" rtlCol="0">
            <a:spAutoFit/>
          </a:bodyPr>
          <a:lstStyle/>
          <a:p>
            <a:r>
              <a:rPr lang="en-US" sz="3200" b="1" dirty="0">
                <a:latin typeface="Helvetica Light" panose="020B0403020202020204" pitchFamily="34" charset="0"/>
              </a:rPr>
              <a:t>Building lists and running totals</a:t>
            </a:r>
          </a:p>
          <a:p>
            <a:pPr algn="ctr"/>
            <a:r>
              <a:rPr lang="en-US" sz="2800" b="1" i="1" dirty="0">
                <a:latin typeface="Helvetica Light" panose="020B0403020202020204" pitchFamily="34" charset="0"/>
              </a:rPr>
              <a:t>Clean, split, extract</a:t>
            </a:r>
          </a:p>
        </p:txBody>
      </p:sp>
      <p:sp>
        <p:nvSpPr>
          <p:cNvPr id="5" name="TextBox 4">
            <a:extLst>
              <a:ext uri="{FF2B5EF4-FFF2-40B4-BE49-F238E27FC236}">
                <a16:creationId xmlns:a16="http://schemas.microsoft.com/office/drawing/2014/main" id="{C1FDDF56-AC93-47CE-6B8B-E54D1753C8A6}"/>
              </a:ext>
            </a:extLst>
          </p:cNvPr>
          <p:cNvSpPr txBox="1"/>
          <p:nvPr/>
        </p:nvSpPr>
        <p:spPr>
          <a:xfrm>
            <a:off x="152400" y="1229143"/>
            <a:ext cx="10333278" cy="553998"/>
          </a:xfrm>
          <a:prstGeom prst="rect">
            <a:avLst/>
          </a:prstGeom>
          <a:noFill/>
        </p:spPr>
        <p:txBody>
          <a:bodyPr wrap="none" rtlCol="0">
            <a:spAutoFit/>
          </a:bodyPr>
          <a:lstStyle/>
          <a:p>
            <a:r>
              <a:rPr lang="en-US" sz="3000" dirty="0">
                <a:latin typeface="Helvetica Light" panose="020B0403020202020204" pitchFamily="34" charset="0"/>
              </a:rPr>
              <a:t>A for loop gives us one line of data each time through loop:</a:t>
            </a:r>
          </a:p>
        </p:txBody>
      </p:sp>
    </p:spTree>
    <p:extLst>
      <p:ext uri="{BB962C8B-B14F-4D97-AF65-F5344CB8AC3E}">
        <p14:creationId xmlns:p14="http://schemas.microsoft.com/office/powerpoint/2010/main" val="3486647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509E8DB-E969-3D4B-8DB3-0990A967B5CA}"/>
              </a:ext>
            </a:extLst>
          </p:cNvPr>
          <p:cNvSpPr txBox="1"/>
          <p:nvPr/>
        </p:nvSpPr>
        <p:spPr>
          <a:xfrm>
            <a:off x="1302431" y="248124"/>
            <a:ext cx="8577989" cy="600164"/>
          </a:xfrm>
          <a:prstGeom prst="rect">
            <a:avLst/>
          </a:prstGeom>
          <a:noFill/>
        </p:spPr>
        <p:txBody>
          <a:bodyPr wrap="none" rtlCol="0">
            <a:spAutoFit/>
          </a:bodyPr>
          <a:lstStyle/>
          <a:p>
            <a:r>
              <a:rPr lang="en-US" sz="3300" dirty="0">
                <a:latin typeface="Helvetica Light" panose="020B0403020202020204" pitchFamily="34" charset="0"/>
              </a:rPr>
              <a:t>Opening connections to files, </a:t>
            </a:r>
            <a:r>
              <a:rPr lang="en-US" sz="3300" b="1" dirty="0">
                <a:latin typeface="Helvetica Light" panose="020B0403020202020204" pitchFamily="34" charset="0"/>
              </a:rPr>
              <a:t>writing output</a:t>
            </a:r>
          </a:p>
        </p:txBody>
      </p:sp>
      <p:sp>
        <p:nvSpPr>
          <p:cNvPr id="9" name="Rectangle 8">
            <a:extLst>
              <a:ext uri="{FF2B5EF4-FFF2-40B4-BE49-F238E27FC236}">
                <a16:creationId xmlns:a16="http://schemas.microsoft.com/office/drawing/2014/main" id="{C0102FCD-4DE3-C842-87EE-DF489CEB87AD}"/>
              </a:ext>
            </a:extLst>
          </p:cNvPr>
          <p:cNvSpPr/>
          <p:nvPr/>
        </p:nvSpPr>
        <p:spPr>
          <a:xfrm>
            <a:off x="251254" y="2090172"/>
            <a:ext cx="11689491" cy="2677656"/>
          </a:xfrm>
          <a:prstGeom prst="rect">
            <a:avLst/>
          </a:prstGeom>
          <a:ln>
            <a:solidFill>
              <a:schemeClr val="tx1"/>
            </a:solidFill>
          </a:ln>
        </p:spPr>
        <p:txBody>
          <a:bodyPr wrap="square">
            <a:spAutoFit/>
          </a:bodyPr>
          <a:lstStyle/>
          <a:p>
            <a:endParaRPr lang="en-US" sz="2400" dirty="0">
              <a:latin typeface="Courier New" panose="02070309020205020404" pitchFamily="49" charset="0"/>
              <a:cs typeface="Courier New" panose="02070309020205020404" pitchFamily="49" charset="0"/>
            </a:endParaRPr>
          </a:p>
          <a:p>
            <a:r>
              <a:rPr lang="en-US" sz="2400" b="1" dirty="0">
                <a:latin typeface="Courier New" panose="02070309020205020404" pitchFamily="49" charset="0"/>
                <a:cs typeface="Courier New" panose="02070309020205020404" pitchFamily="49" charset="0"/>
              </a:rPr>
              <a:t>OUT = </a:t>
            </a:r>
            <a:r>
              <a:rPr lang="en-US" sz="2400" b="1" dirty="0">
                <a:solidFill>
                  <a:schemeClr val="accent1">
                    <a:lumMod val="75000"/>
                  </a:schemeClr>
                </a:solidFill>
                <a:latin typeface="Courier New" panose="02070309020205020404" pitchFamily="49" charset="0"/>
                <a:cs typeface="Courier New" panose="02070309020205020404" pitchFamily="49" charset="0"/>
              </a:rPr>
              <a:t>open</a:t>
            </a:r>
            <a:r>
              <a:rPr lang="en-US" sz="2400" b="1" dirty="0">
                <a:latin typeface="Courier New" panose="02070309020205020404" pitchFamily="49" charset="0"/>
                <a:cs typeface="Courier New" panose="02070309020205020404" pitchFamily="49" charset="0"/>
              </a:rPr>
              <a:t>('</a:t>
            </a:r>
            <a:r>
              <a:rPr lang="en-US" sz="2400" b="1" dirty="0" err="1">
                <a:solidFill>
                  <a:srgbClr val="FF0000"/>
                </a:solidFill>
                <a:latin typeface="Courier New" panose="02070309020205020404" pitchFamily="49" charset="0"/>
                <a:cs typeface="Courier New" panose="02070309020205020404" pitchFamily="49" charset="0"/>
              </a:rPr>
              <a:t>outdata.txt</a:t>
            </a:r>
            <a:r>
              <a:rPr lang="en-US" sz="2400" b="1" dirty="0">
                <a:solidFill>
                  <a:srgbClr val="FF0000"/>
                </a:solidFill>
                <a:latin typeface="Courier New" panose="02070309020205020404" pitchFamily="49" charset="0"/>
                <a:cs typeface="Courier New" panose="02070309020205020404" pitchFamily="49" charset="0"/>
              </a:rPr>
              <a:t>', 'w') </a:t>
            </a:r>
            <a:r>
              <a:rPr lang="en-US" sz="2400" b="1" dirty="0">
                <a:solidFill>
                  <a:schemeClr val="tx1">
                    <a:lumMod val="65000"/>
                    <a:lumOff val="35000"/>
                  </a:schemeClr>
                </a:solidFill>
                <a:latin typeface="Courier New" panose="02070309020205020404" pitchFamily="49" charset="0"/>
                <a:cs typeface="Courier New" panose="02070309020205020404" pitchFamily="49" charset="0"/>
              </a:rPr>
              <a:t># w for write</a:t>
            </a:r>
          </a:p>
          <a:p>
            <a:endParaRPr lang="en-US" sz="2400" b="1" dirty="0">
              <a:latin typeface="Courier New" panose="02070309020205020404" pitchFamily="49" charset="0"/>
              <a:cs typeface="Courier New" panose="02070309020205020404" pitchFamily="49" charset="0"/>
            </a:endParaRPr>
          </a:p>
          <a:p>
            <a:r>
              <a:rPr lang="en-US" sz="2400" b="1" dirty="0">
                <a:latin typeface="Courier New" panose="02070309020205020404" pitchFamily="49" charset="0"/>
                <a:cs typeface="Courier New" panose="02070309020205020404" pitchFamily="49" charset="0"/>
              </a:rPr>
              <a:t>OUT2 = </a:t>
            </a:r>
            <a:r>
              <a:rPr lang="en-US" sz="2400" b="1" dirty="0">
                <a:solidFill>
                  <a:schemeClr val="accent1">
                    <a:lumMod val="75000"/>
                  </a:schemeClr>
                </a:solidFill>
                <a:latin typeface="Courier New" panose="02070309020205020404" pitchFamily="49" charset="0"/>
                <a:cs typeface="Courier New" panose="02070309020205020404" pitchFamily="49" charset="0"/>
              </a:rPr>
              <a:t>open</a:t>
            </a:r>
            <a:r>
              <a:rPr lang="en-US" sz="2400" b="1" dirty="0">
                <a:latin typeface="Courier New" panose="02070309020205020404" pitchFamily="49" charset="0"/>
                <a:cs typeface="Courier New" panose="02070309020205020404" pitchFamily="49" charset="0"/>
              </a:rPr>
              <a:t>(</a:t>
            </a:r>
            <a:r>
              <a:rPr lang="en-US" sz="2400" b="1" dirty="0">
                <a:solidFill>
                  <a:srgbClr val="FF0000"/>
                </a:solidFill>
                <a:latin typeface="Courier New" panose="02070309020205020404" pitchFamily="49" charset="0"/>
                <a:cs typeface="Courier New" panose="02070309020205020404" pitchFamily="49" charset="0"/>
              </a:rPr>
              <a:t>'/working/Parchman/</a:t>
            </a:r>
            <a:r>
              <a:rPr lang="en-US" sz="2400" b="1" dirty="0" err="1">
                <a:solidFill>
                  <a:srgbClr val="FF0000"/>
                </a:solidFill>
                <a:latin typeface="Courier New" panose="02070309020205020404" pitchFamily="49" charset="0"/>
                <a:cs typeface="Courier New" panose="02070309020205020404" pitchFamily="49" charset="0"/>
              </a:rPr>
              <a:t>datamatrix.txt</a:t>
            </a:r>
            <a:r>
              <a:rPr lang="en-US" sz="2400" b="1" dirty="0">
                <a:solidFill>
                  <a:srgbClr val="FF0000"/>
                </a:solidFill>
                <a:latin typeface="Courier New" panose="02070309020205020404" pitchFamily="49" charset="0"/>
                <a:cs typeface="Courier New" panose="02070309020205020404" pitchFamily="49" charset="0"/>
              </a:rPr>
              <a:t>'</a:t>
            </a:r>
            <a:r>
              <a:rPr lang="en-US" sz="2400" b="1" dirty="0">
                <a:latin typeface="Courier New" panose="02070309020205020404" pitchFamily="49" charset="0"/>
                <a:cs typeface="Courier New" panose="02070309020205020404" pitchFamily="49" charset="0"/>
              </a:rPr>
              <a:t>, </a:t>
            </a:r>
            <a:r>
              <a:rPr lang="en-US" sz="2400" b="1" dirty="0">
                <a:solidFill>
                  <a:srgbClr val="FF0000"/>
                </a:solidFill>
                <a:latin typeface="Courier New" panose="02070309020205020404" pitchFamily="49" charset="0"/>
                <a:cs typeface="Courier New" panose="02070309020205020404" pitchFamily="49" charset="0"/>
              </a:rPr>
              <a:t>'w'</a:t>
            </a:r>
            <a:r>
              <a:rPr lang="en-US" sz="2400" b="1" dirty="0">
                <a:latin typeface="Courier New" panose="02070309020205020404" pitchFamily="49" charset="0"/>
                <a:cs typeface="Courier New" panose="02070309020205020404" pitchFamily="49" charset="0"/>
              </a:rPr>
              <a:t>)</a:t>
            </a:r>
          </a:p>
          <a:p>
            <a:endParaRPr lang="en-US" sz="2400" b="1" dirty="0">
              <a:solidFill>
                <a:srgbClr val="FF0000"/>
              </a:solidFill>
              <a:latin typeface="Courier New" panose="02070309020205020404" pitchFamily="49" charset="0"/>
              <a:cs typeface="Courier New" panose="02070309020205020404" pitchFamily="49" charset="0"/>
            </a:endParaRPr>
          </a:p>
          <a:p>
            <a:r>
              <a:rPr lang="en-US" sz="2400" b="1" dirty="0">
                <a:latin typeface="Courier New" panose="02070309020205020404" pitchFamily="49" charset="0"/>
                <a:cs typeface="Courier New" panose="02070309020205020404" pitchFamily="49" charset="0"/>
              </a:rPr>
              <a:t>OUT3 = </a:t>
            </a:r>
            <a:r>
              <a:rPr lang="en-US" sz="2400" b="1" dirty="0">
                <a:solidFill>
                  <a:schemeClr val="accent1">
                    <a:lumMod val="75000"/>
                  </a:schemeClr>
                </a:solidFill>
                <a:latin typeface="Courier New" panose="02070309020205020404" pitchFamily="49" charset="0"/>
                <a:cs typeface="Courier New" panose="02070309020205020404" pitchFamily="49" charset="0"/>
              </a:rPr>
              <a:t>open</a:t>
            </a:r>
            <a:r>
              <a:rPr lang="en-US" sz="2400" b="1" dirty="0">
                <a:latin typeface="Courier New" panose="02070309020205020404" pitchFamily="49" charset="0"/>
                <a:cs typeface="Courier New" panose="02070309020205020404" pitchFamily="49" charset="0"/>
              </a:rPr>
              <a:t>(</a:t>
            </a:r>
            <a:r>
              <a:rPr lang="en-US" sz="2400" b="1" dirty="0">
                <a:solidFill>
                  <a:srgbClr val="FF0000"/>
                </a:solidFill>
                <a:latin typeface="Courier New" panose="02070309020205020404" pitchFamily="49" charset="0"/>
                <a:cs typeface="Courier New" panose="02070309020205020404" pitchFamily="49" charset="0"/>
              </a:rPr>
              <a:t>'</a:t>
            </a:r>
            <a:r>
              <a:rPr lang="en-US" sz="2400" b="1" dirty="0" err="1">
                <a:solidFill>
                  <a:srgbClr val="FF0000"/>
                </a:solidFill>
                <a:latin typeface="Courier New" panose="02070309020205020404" pitchFamily="49" charset="0"/>
                <a:cs typeface="Courier New" panose="02070309020205020404" pitchFamily="49" charset="0"/>
              </a:rPr>
              <a:t>cumulative_data.txt</a:t>
            </a:r>
            <a:r>
              <a:rPr lang="en-US" sz="2400" b="1" dirty="0">
                <a:solidFill>
                  <a:srgbClr val="FF0000"/>
                </a:solidFill>
                <a:latin typeface="Courier New" panose="02070309020205020404" pitchFamily="49" charset="0"/>
                <a:cs typeface="Courier New" panose="02070309020205020404" pitchFamily="49" charset="0"/>
              </a:rPr>
              <a:t>', 'a'</a:t>
            </a:r>
            <a:r>
              <a:rPr lang="en-US" sz="2400" b="1" dirty="0">
                <a:latin typeface="Courier New" panose="02070309020205020404" pitchFamily="49" charset="0"/>
                <a:cs typeface="Courier New" panose="02070309020205020404" pitchFamily="49" charset="0"/>
              </a:rPr>
              <a:t>) </a:t>
            </a:r>
            <a:r>
              <a:rPr lang="en-US" sz="2400" b="1" dirty="0">
                <a:solidFill>
                  <a:schemeClr val="tx1">
                    <a:lumMod val="65000"/>
                    <a:lumOff val="35000"/>
                  </a:schemeClr>
                </a:solidFill>
                <a:latin typeface="Courier New" panose="02070309020205020404" pitchFamily="49" charset="0"/>
                <a:cs typeface="Courier New" panose="02070309020205020404" pitchFamily="49" charset="0"/>
              </a:rPr>
              <a:t># a: append to existing</a:t>
            </a:r>
          </a:p>
          <a:p>
            <a:endParaRPr lang="en-US" sz="2400" b="1" dirty="0">
              <a:solidFill>
                <a:srgbClr val="FF0000"/>
              </a:solidFill>
              <a:latin typeface="Courier New" panose="02070309020205020404" pitchFamily="49" charset="0"/>
              <a:cs typeface="Courier New" panose="02070309020205020404" pitchFamily="49" charset="0"/>
            </a:endParaRPr>
          </a:p>
        </p:txBody>
      </p:sp>
      <p:sp>
        <p:nvSpPr>
          <p:cNvPr id="10" name="TextBox 9">
            <a:extLst>
              <a:ext uri="{FF2B5EF4-FFF2-40B4-BE49-F238E27FC236}">
                <a16:creationId xmlns:a16="http://schemas.microsoft.com/office/drawing/2014/main" id="{E5395FE9-866A-0744-886C-443A43C50739}"/>
              </a:ext>
            </a:extLst>
          </p:cNvPr>
          <p:cNvSpPr txBox="1"/>
          <p:nvPr/>
        </p:nvSpPr>
        <p:spPr>
          <a:xfrm>
            <a:off x="251254" y="1335278"/>
            <a:ext cx="10682733" cy="553998"/>
          </a:xfrm>
          <a:prstGeom prst="rect">
            <a:avLst/>
          </a:prstGeom>
          <a:noFill/>
        </p:spPr>
        <p:txBody>
          <a:bodyPr wrap="none" rtlCol="0">
            <a:spAutoFit/>
          </a:bodyPr>
          <a:lstStyle/>
          <a:p>
            <a:r>
              <a:rPr lang="en-US" sz="3000" b="1" dirty="0">
                <a:latin typeface="Courier New" panose="02070309020205020404" pitchFamily="49" charset="0"/>
                <a:cs typeface="Courier New" panose="02070309020205020404" pitchFamily="49" charset="0"/>
              </a:rPr>
              <a:t>open() </a:t>
            </a:r>
            <a:r>
              <a:rPr lang="en-US" sz="3000" dirty="0">
                <a:latin typeface="Helvetica Light" panose="020B0403020202020204" pitchFamily="34" charset="0"/>
              </a:rPr>
              <a:t>function used for read (</a:t>
            </a:r>
            <a:r>
              <a:rPr lang="en-US" sz="3000" b="1" dirty="0">
                <a:latin typeface="Courier New" panose="02070309020205020404" pitchFamily="49" charset="0"/>
                <a:cs typeface="Courier New" panose="02070309020205020404" pitchFamily="49" charset="0"/>
              </a:rPr>
              <a:t>r</a:t>
            </a:r>
            <a:r>
              <a:rPr lang="en-US" sz="3000" dirty="0">
                <a:latin typeface="Helvetica Light" panose="020B0403020202020204" pitchFamily="34" charset="0"/>
              </a:rPr>
              <a:t>), write (</a:t>
            </a:r>
            <a:r>
              <a:rPr lang="en-US" sz="3000" b="1" dirty="0">
                <a:latin typeface="Courier New" panose="02070309020205020404" pitchFamily="49" charset="0"/>
                <a:cs typeface="Courier New" panose="02070309020205020404" pitchFamily="49" charset="0"/>
              </a:rPr>
              <a:t>w</a:t>
            </a:r>
            <a:r>
              <a:rPr lang="en-US" sz="3000" dirty="0">
                <a:latin typeface="Helvetica Light" panose="020B0403020202020204" pitchFamily="34" charset="0"/>
              </a:rPr>
              <a:t>), and append (</a:t>
            </a:r>
            <a:r>
              <a:rPr lang="en-US" sz="3000" b="1" dirty="0">
                <a:latin typeface="Courier New" panose="02070309020205020404" pitchFamily="49" charset="0"/>
                <a:cs typeface="Courier New" panose="02070309020205020404" pitchFamily="49" charset="0"/>
              </a:rPr>
              <a:t>a</a:t>
            </a:r>
            <a:r>
              <a:rPr lang="en-US" sz="3000" dirty="0">
                <a:latin typeface="Helvetica Light" panose="020B0403020202020204" pitchFamily="34" charset="0"/>
              </a:rPr>
              <a:t>)</a:t>
            </a:r>
          </a:p>
        </p:txBody>
      </p:sp>
      <p:sp>
        <p:nvSpPr>
          <p:cNvPr id="2" name="Rectangle 1">
            <a:extLst>
              <a:ext uri="{FF2B5EF4-FFF2-40B4-BE49-F238E27FC236}">
                <a16:creationId xmlns:a16="http://schemas.microsoft.com/office/drawing/2014/main" id="{C4F36924-046C-5918-DE4C-F31B6B931470}"/>
              </a:ext>
            </a:extLst>
          </p:cNvPr>
          <p:cNvSpPr/>
          <p:nvPr/>
        </p:nvSpPr>
        <p:spPr>
          <a:xfrm>
            <a:off x="251254" y="4968724"/>
            <a:ext cx="11689491" cy="1569660"/>
          </a:xfrm>
          <a:prstGeom prst="rect">
            <a:avLst/>
          </a:prstGeom>
          <a:ln>
            <a:solidFill>
              <a:schemeClr val="tx1"/>
            </a:solidFill>
          </a:ln>
        </p:spPr>
        <p:txBody>
          <a:bodyPr wrap="square">
            <a:spAutoFit/>
          </a:bodyPr>
          <a:lstStyle/>
          <a:p>
            <a:r>
              <a:rPr lang="en-US" sz="2400" dirty="0">
                <a:solidFill>
                  <a:schemeClr val="tx1">
                    <a:lumMod val="50000"/>
                    <a:lumOff val="50000"/>
                  </a:schemeClr>
                </a:solidFill>
                <a:latin typeface="Courier New" panose="02070309020205020404" pitchFamily="49" charset="0"/>
                <a:cs typeface="Courier New" panose="02070309020205020404" pitchFamily="49" charset="0"/>
              </a:rPr>
              <a:t>## using command line argument, name of </a:t>
            </a:r>
            <a:r>
              <a:rPr lang="en-US" sz="2400" dirty="0" err="1">
                <a:solidFill>
                  <a:schemeClr val="tx1">
                    <a:lumMod val="50000"/>
                    <a:lumOff val="50000"/>
                  </a:schemeClr>
                </a:solidFill>
                <a:latin typeface="Courier New" panose="02070309020205020404" pitchFamily="49" charset="0"/>
                <a:cs typeface="Courier New" panose="02070309020205020404" pitchFamily="49" charset="0"/>
              </a:rPr>
              <a:t>outfile</a:t>
            </a:r>
            <a:r>
              <a:rPr lang="en-US" sz="2400" dirty="0">
                <a:solidFill>
                  <a:schemeClr val="tx1">
                    <a:lumMod val="50000"/>
                    <a:lumOff val="50000"/>
                  </a:schemeClr>
                </a:solidFill>
                <a:latin typeface="Courier New" panose="02070309020205020404" pitchFamily="49" charset="0"/>
                <a:cs typeface="Courier New" panose="02070309020205020404" pitchFamily="49" charset="0"/>
              </a:rPr>
              <a:t> provided each ## time run: $ python </a:t>
            </a:r>
            <a:r>
              <a:rPr lang="en-US" sz="2400" dirty="0" err="1">
                <a:solidFill>
                  <a:schemeClr val="tx1">
                    <a:lumMod val="50000"/>
                    <a:lumOff val="50000"/>
                  </a:schemeClr>
                </a:solidFill>
                <a:latin typeface="Courier New" panose="02070309020205020404" pitchFamily="49" charset="0"/>
                <a:cs typeface="Courier New" panose="02070309020205020404" pitchFamily="49" charset="0"/>
              </a:rPr>
              <a:t>myscript.py</a:t>
            </a:r>
            <a:r>
              <a:rPr lang="en-US" sz="2400" dirty="0">
                <a:solidFill>
                  <a:schemeClr val="tx1">
                    <a:lumMod val="50000"/>
                    <a:lumOff val="50000"/>
                  </a:schemeClr>
                </a:solidFill>
                <a:latin typeface="Courier New" panose="02070309020205020404" pitchFamily="49" charset="0"/>
                <a:cs typeface="Courier New" panose="02070309020205020404" pitchFamily="49" charset="0"/>
              </a:rPr>
              <a:t> </a:t>
            </a:r>
            <a:r>
              <a:rPr lang="en-US" sz="2400" dirty="0" err="1">
                <a:solidFill>
                  <a:schemeClr val="tx1">
                    <a:lumMod val="50000"/>
                    <a:lumOff val="50000"/>
                  </a:schemeClr>
                </a:solidFill>
                <a:latin typeface="Courier New" panose="02070309020205020404" pitchFamily="49" charset="0"/>
                <a:cs typeface="Courier New" panose="02070309020205020404" pitchFamily="49" charset="0"/>
              </a:rPr>
              <a:t>outfile.txt</a:t>
            </a:r>
            <a:endParaRPr lang="en-US" sz="2400" dirty="0">
              <a:solidFill>
                <a:schemeClr val="tx1">
                  <a:lumMod val="50000"/>
                  <a:lumOff val="50000"/>
                </a:schemeClr>
              </a:solidFill>
              <a:latin typeface="Courier New" panose="02070309020205020404" pitchFamily="49" charset="0"/>
              <a:cs typeface="Courier New" panose="02070309020205020404" pitchFamily="49" charset="0"/>
            </a:endParaRPr>
          </a:p>
          <a:p>
            <a:endParaRPr lang="en-US" sz="2400" dirty="0">
              <a:latin typeface="Courier New" panose="02070309020205020404" pitchFamily="49" charset="0"/>
              <a:cs typeface="Courier New" panose="02070309020205020404" pitchFamily="49" charset="0"/>
            </a:endParaRPr>
          </a:p>
          <a:p>
            <a:r>
              <a:rPr lang="en-US" sz="2400" b="1" dirty="0">
                <a:latin typeface="Courier New" panose="02070309020205020404" pitchFamily="49" charset="0"/>
                <a:cs typeface="Courier New" panose="02070309020205020404" pitchFamily="49" charset="0"/>
              </a:rPr>
              <a:t>OUT = </a:t>
            </a:r>
            <a:r>
              <a:rPr lang="en-US" sz="2400" b="1" dirty="0">
                <a:solidFill>
                  <a:schemeClr val="accent1">
                    <a:lumMod val="75000"/>
                  </a:schemeClr>
                </a:solidFill>
                <a:latin typeface="Courier New" panose="02070309020205020404" pitchFamily="49" charset="0"/>
                <a:cs typeface="Courier New" panose="02070309020205020404" pitchFamily="49" charset="0"/>
              </a:rPr>
              <a:t>open</a:t>
            </a:r>
            <a:r>
              <a:rPr lang="en-US" sz="2400" b="1" dirty="0">
                <a:latin typeface="Courier New" panose="02070309020205020404" pitchFamily="49" charset="0"/>
                <a:cs typeface="Courier New" panose="02070309020205020404" pitchFamily="49" charset="0"/>
              </a:rPr>
              <a:t>(</a:t>
            </a:r>
            <a:r>
              <a:rPr lang="en-US" sz="2400" b="1" dirty="0">
                <a:solidFill>
                  <a:srgbClr val="FF0000"/>
                </a:solidFill>
                <a:latin typeface="Courier New" panose="02070309020205020404" pitchFamily="49" charset="0"/>
                <a:cs typeface="Courier New" panose="02070309020205020404" pitchFamily="49" charset="0"/>
              </a:rPr>
              <a:t>'</a:t>
            </a:r>
            <a:r>
              <a:rPr lang="en-US" sz="2400" b="1" dirty="0" err="1">
                <a:solidFill>
                  <a:srgbClr val="FF0000"/>
                </a:solidFill>
                <a:latin typeface="Courier New" panose="02070309020205020404" pitchFamily="49" charset="0"/>
                <a:cs typeface="Courier New" panose="02070309020205020404" pitchFamily="49" charset="0"/>
              </a:rPr>
              <a:t>sys.arg</a:t>
            </a:r>
            <a:r>
              <a:rPr lang="en-US" sz="2400" b="1" dirty="0">
                <a:solidFill>
                  <a:srgbClr val="FF0000"/>
                </a:solidFill>
                <a:latin typeface="Courier New" panose="02070309020205020404" pitchFamily="49" charset="0"/>
                <a:cs typeface="Courier New" panose="02070309020205020404" pitchFamily="49" charset="0"/>
              </a:rPr>
              <a:t>[1]', 'w')</a:t>
            </a:r>
            <a:endParaRPr lang="en-US" sz="2400" b="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265620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509E8DB-E969-3D4B-8DB3-0990A967B5CA}"/>
              </a:ext>
            </a:extLst>
          </p:cNvPr>
          <p:cNvSpPr txBox="1"/>
          <p:nvPr/>
        </p:nvSpPr>
        <p:spPr>
          <a:xfrm>
            <a:off x="2450590" y="248125"/>
            <a:ext cx="7792519" cy="1538883"/>
          </a:xfrm>
          <a:prstGeom prst="rect">
            <a:avLst/>
          </a:prstGeom>
          <a:noFill/>
        </p:spPr>
        <p:txBody>
          <a:bodyPr wrap="none" rtlCol="0">
            <a:spAutoFit/>
          </a:bodyPr>
          <a:lstStyle/>
          <a:p>
            <a:pPr algn="ctr"/>
            <a:r>
              <a:rPr lang="en-US" sz="3300" b="1" dirty="0">
                <a:latin typeface="Helvetica Light" panose="020B0403020202020204" pitchFamily="34" charset="0"/>
              </a:rPr>
              <a:t>Writing output to a file</a:t>
            </a:r>
          </a:p>
          <a:p>
            <a:pPr algn="ctr"/>
            <a:r>
              <a:rPr lang="en-US" sz="2800" dirty="0">
                <a:latin typeface="Helvetica Light" panose="020B0403020202020204" pitchFamily="34" charset="0"/>
              </a:rPr>
              <a:t>Use </a:t>
            </a:r>
            <a:r>
              <a:rPr lang="en-US" sz="2800" dirty="0">
                <a:latin typeface="Courier New" panose="02070309020205020404" pitchFamily="49" charset="0"/>
                <a:cs typeface="Courier New" panose="02070309020205020404" pitchFamily="49" charset="0"/>
              </a:rPr>
              <a:t>.write() </a:t>
            </a:r>
            <a:r>
              <a:rPr lang="en-US" sz="2800" dirty="0">
                <a:latin typeface="Helvetica Light" panose="020B0403020202020204" pitchFamily="34" charset="0"/>
              </a:rPr>
              <a:t>to send results to an output file</a:t>
            </a:r>
          </a:p>
          <a:p>
            <a:pPr algn="ctr"/>
            <a:endParaRPr lang="en-US" sz="3300" b="1" dirty="0">
              <a:latin typeface="Helvetica Light" panose="020B0403020202020204" pitchFamily="34" charset="0"/>
            </a:endParaRPr>
          </a:p>
        </p:txBody>
      </p:sp>
      <p:sp>
        <p:nvSpPr>
          <p:cNvPr id="9" name="Rectangle 8">
            <a:extLst>
              <a:ext uri="{FF2B5EF4-FFF2-40B4-BE49-F238E27FC236}">
                <a16:creationId xmlns:a16="http://schemas.microsoft.com/office/drawing/2014/main" id="{C0102FCD-4DE3-C842-87EE-DF489CEB87AD}"/>
              </a:ext>
            </a:extLst>
          </p:cNvPr>
          <p:cNvSpPr/>
          <p:nvPr/>
        </p:nvSpPr>
        <p:spPr>
          <a:xfrm>
            <a:off x="251254" y="3551269"/>
            <a:ext cx="11611232" cy="3139321"/>
          </a:xfrm>
          <a:prstGeom prst="rect">
            <a:avLst/>
          </a:prstGeom>
          <a:ln>
            <a:solidFill>
              <a:schemeClr val="tx1"/>
            </a:solidFill>
          </a:ln>
        </p:spPr>
        <p:txBody>
          <a:bodyPr wrap="square">
            <a:spAutoFit/>
          </a:bodyPr>
          <a:lstStyle/>
          <a:p>
            <a:r>
              <a:rPr lang="en-US" sz="2800" b="1" dirty="0">
                <a:latin typeface="Courier New" panose="02070309020205020404" pitchFamily="49" charset="0"/>
                <a:cs typeface="Courier New" panose="02070309020205020404" pitchFamily="49" charset="0"/>
              </a:rPr>
              <a:t>OUT = open("</a:t>
            </a:r>
            <a:r>
              <a:rPr lang="en-US" sz="2800" b="1" dirty="0" err="1">
                <a:latin typeface="Courier New" panose="02070309020205020404" pitchFamily="49" charset="0"/>
                <a:cs typeface="Courier New" panose="02070309020205020404" pitchFamily="49" charset="0"/>
              </a:rPr>
              <a:t>results.txt</a:t>
            </a:r>
            <a:r>
              <a:rPr lang="en-US" sz="2800" b="1" dirty="0">
                <a:latin typeface="Courier New" panose="02070309020205020404" pitchFamily="49" charset="0"/>
                <a:cs typeface="Courier New" panose="02070309020205020404" pitchFamily="49" charset="0"/>
              </a:rPr>
              <a:t>", </a:t>
            </a:r>
            <a:r>
              <a:rPr lang="en-US" sz="2800" b="1" dirty="0">
                <a:solidFill>
                  <a:srgbClr val="FF0000"/>
                </a:solidFill>
                <a:latin typeface="Courier New" panose="02070309020205020404" pitchFamily="49" charset="0"/>
                <a:cs typeface="Courier New" panose="02070309020205020404" pitchFamily="49" charset="0"/>
              </a:rPr>
              <a:t>"w"</a:t>
            </a:r>
            <a:r>
              <a:rPr lang="en-US" sz="2800" b="1" dirty="0">
                <a:latin typeface="Courier New" panose="02070309020205020404" pitchFamily="49" charset="0"/>
                <a:cs typeface="Courier New" panose="02070309020205020404" pitchFamily="49" charset="0"/>
              </a:rPr>
              <a:t>)</a:t>
            </a:r>
          </a:p>
          <a:p>
            <a:endParaRPr lang="en-US" sz="2800" b="1" dirty="0">
              <a:latin typeface="Courier New" panose="02070309020205020404" pitchFamily="49" charset="0"/>
              <a:cs typeface="Courier New" panose="02070309020205020404" pitchFamily="49" charset="0"/>
            </a:endParaRPr>
          </a:p>
          <a:p>
            <a:r>
              <a:rPr lang="en-US" sz="2800" b="1" dirty="0">
                <a:latin typeface="Courier New" panose="02070309020205020404" pitchFamily="49" charset="0"/>
                <a:cs typeface="Courier New" panose="02070309020205020404" pitchFamily="49" charset="0"/>
              </a:rPr>
              <a:t>Seq= </a:t>
            </a:r>
            <a:r>
              <a:rPr lang="en-US" sz="2800" b="1" dirty="0">
                <a:solidFill>
                  <a:srgbClr val="FF0000"/>
                </a:solidFill>
                <a:latin typeface="Courier New" panose="02070309020205020404" pitchFamily="49" charset="0"/>
                <a:cs typeface="Courier New" panose="02070309020205020404" pitchFamily="49" charset="0"/>
              </a:rPr>
              <a:t>”ATCTTGGGCACACA”</a:t>
            </a:r>
            <a:r>
              <a:rPr lang="en-US" sz="2800" b="1" dirty="0">
                <a:latin typeface="Courier New" panose="02070309020205020404" pitchFamily="49" charset="0"/>
                <a:cs typeface="Courier New" panose="02070309020205020404" pitchFamily="49" charset="0"/>
              </a:rPr>
              <a:t> </a:t>
            </a:r>
          </a:p>
          <a:p>
            <a:r>
              <a:rPr lang="en-US" sz="2800" b="1" dirty="0" err="1">
                <a:latin typeface="Courier New" panose="02070309020205020404" pitchFamily="49" charset="0"/>
                <a:cs typeface="Courier New" panose="02070309020205020404" pitchFamily="49" charset="0"/>
              </a:rPr>
              <a:t>OUT.write</a:t>
            </a:r>
            <a:r>
              <a:rPr lang="en-US" sz="2800" b="1" dirty="0">
                <a:latin typeface="Courier New" panose="02070309020205020404" pitchFamily="49" charset="0"/>
                <a:cs typeface="Courier New" panose="02070309020205020404" pitchFamily="49" charset="0"/>
              </a:rPr>
              <a:t>(Seq + </a:t>
            </a:r>
            <a:r>
              <a:rPr lang="en-US" sz="2800" b="1" dirty="0">
                <a:solidFill>
                  <a:srgbClr val="FF0000"/>
                </a:solidFill>
                <a:latin typeface="Courier New" panose="02070309020205020404" pitchFamily="49" charset="0"/>
                <a:cs typeface="Courier New" panose="02070309020205020404" pitchFamily="49" charset="0"/>
              </a:rPr>
              <a:t>"\n</a:t>
            </a:r>
            <a:r>
              <a:rPr lang="en-US" sz="2800" b="1" dirty="0">
                <a:solidFill>
                  <a:srgbClr val="C00000"/>
                </a:solidFill>
                <a:latin typeface="Courier New" panose="02070309020205020404" pitchFamily="49" charset="0"/>
                <a:cs typeface="Courier New" panose="02070309020205020404" pitchFamily="49" charset="0"/>
              </a:rPr>
              <a:t>"</a:t>
            </a:r>
            <a:r>
              <a:rPr lang="en-US" sz="2800" b="1" dirty="0">
                <a:solidFill>
                  <a:srgbClr val="FF0000"/>
                </a:solidFill>
                <a:latin typeface="Courier New" panose="02070309020205020404" pitchFamily="49" charset="0"/>
                <a:cs typeface="Courier New" panose="02070309020205020404" pitchFamily="49" charset="0"/>
              </a:rPr>
              <a:t>)	</a:t>
            </a:r>
            <a:r>
              <a:rPr lang="en-US" sz="2800" b="1" dirty="0">
                <a:solidFill>
                  <a:schemeClr val="bg1">
                    <a:lumMod val="50000"/>
                  </a:schemeClr>
                </a:solidFill>
                <a:latin typeface="Courier New" panose="02070309020205020404" pitchFamily="49" charset="0"/>
                <a:cs typeface="Courier New" panose="02070309020205020404" pitchFamily="49" charset="0"/>
              </a:rPr>
              <a:t># add line ending after a variable</a:t>
            </a:r>
          </a:p>
          <a:p>
            <a:endParaRPr lang="en-US" sz="2800" b="1" dirty="0">
              <a:latin typeface="Courier New" panose="02070309020205020404" pitchFamily="49" charset="0"/>
              <a:cs typeface="Courier New" panose="02070309020205020404" pitchFamily="49" charset="0"/>
            </a:endParaRPr>
          </a:p>
          <a:p>
            <a:r>
              <a:rPr lang="en-US" sz="2800" b="1" dirty="0" err="1">
                <a:latin typeface="Courier New" panose="02070309020205020404" pitchFamily="49" charset="0"/>
                <a:cs typeface="Courier New" panose="02070309020205020404" pitchFamily="49" charset="0"/>
              </a:rPr>
              <a:t>OUT.write</a:t>
            </a:r>
            <a:r>
              <a:rPr lang="en-US" sz="2800" b="1" dirty="0">
                <a:latin typeface="Courier New" panose="02070309020205020404" pitchFamily="49" charset="0"/>
                <a:cs typeface="Courier New" panose="02070309020205020404" pitchFamily="49" charset="0"/>
              </a:rPr>
              <a:t>(</a:t>
            </a:r>
            <a:r>
              <a:rPr lang="en-US" sz="2800" b="1" dirty="0" err="1">
                <a:latin typeface="Courier New" panose="02070309020205020404" pitchFamily="49" charset="0"/>
                <a:cs typeface="Courier New" panose="02070309020205020404" pitchFamily="49" charset="0"/>
              </a:rPr>
              <a:t>f</a:t>
            </a:r>
            <a:r>
              <a:rPr lang="en-US" sz="2800" b="1" dirty="0" err="1">
                <a:solidFill>
                  <a:srgbClr val="FF0000"/>
                </a:solidFill>
                <a:latin typeface="Courier New" panose="02070309020205020404" pitchFamily="49" charset="0"/>
                <a:cs typeface="Courier New" panose="02070309020205020404" pitchFamily="49" charset="0"/>
              </a:rPr>
              <a:t>"Sequence</a:t>
            </a:r>
            <a:r>
              <a:rPr lang="en-US" sz="2800" b="1" dirty="0">
                <a:solidFill>
                  <a:srgbClr val="FF0000"/>
                </a:solidFill>
                <a:latin typeface="Courier New" panose="02070309020205020404" pitchFamily="49" charset="0"/>
                <a:cs typeface="Courier New" panose="02070309020205020404" pitchFamily="49" charset="0"/>
              </a:rPr>
              <a:t> length: {</a:t>
            </a:r>
            <a:r>
              <a:rPr lang="en-US" sz="2800" b="1" dirty="0" err="1">
                <a:solidFill>
                  <a:srgbClr val="FF0000"/>
                </a:solidFill>
                <a:latin typeface="Courier New" panose="02070309020205020404" pitchFamily="49" charset="0"/>
                <a:cs typeface="Courier New" panose="02070309020205020404" pitchFamily="49" charset="0"/>
              </a:rPr>
              <a:t>SeqLength</a:t>
            </a:r>
            <a:r>
              <a:rPr lang="en-US" sz="2800" b="1" dirty="0">
                <a:solidFill>
                  <a:srgbClr val="FF0000"/>
                </a:solidFill>
                <a:latin typeface="Courier New" panose="02070309020205020404" pitchFamily="49" charset="0"/>
                <a:cs typeface="Courier New" panose="02070309020205020404" pitchFamily="49" charset="0"/>
              </a:rPr>
              <a:t>} \n"</a:t>
            </a:r>
            <a:r>
              <a:rPr lang="en-US" sz="2800" b="1" dirty="0">
                <a:latin typeface="Courier New" panose="02070309020205020404" pitchFamily="49" charset="0"/>
                <a:cs typeface="Courier New" panose="02070309020205020404" pitchFamily="49" charset="0"/>
              </a:rPr>
              <a:t>)</a:t>
            </a:r>
            <a:endParaRPr lang="en-US" sz="2800" b="1" dirty="0">
              <a:solidFill>
                <a:srgbClr val="FF0000"/>
              </a:solidFill>
              <a:latin typeface="Courier New" panose="02070309020205020404" pitchFamily="49" charset="0"/>
              <a:cs typeface="Courier New" panose="02070309020205020404" pitchFamily="49" charset="0"/>
            </a:endParaRPr>
          </a:p>
        </p:txBody>
      </p:sp>
      <p:sp>
        <p:nvSpPr>
          <p:cNvPr id="10" name="TextBox 9">
            <a:extLst>
              <a:ext uri="{FF2B5EF4-FFF2-40B4-BE49-F238E27FC236}">
                <a16:creationId xmlns:a16="http://schemas.microsoft.com/office/drawing/2014/main" id="{E5395FE9-866A-0744-886C-443A43C50739}"/>
              </a:ext>
            </a:extLst>
          </p:cNvPr>
          <p:cNvSpPr txBox="1"/>
          <p:nvPr/>
        </p:nvSpPr>
        <p:spPr>
          <a:xfrm>
            <a:off x="251254" y="1335278"/>
            <a:ext cx="11784227" cy="2092881"/>
          </a:xfrm>
          <a:prstGeom prst="rect">
            <a:avLst/>
          </a:prstGeom>
          <a:noFill/>
        </p:spPr>
        <p:txBody>
          <a:bodyPr wrap="square" rtlCol="0">
            <a:spAutoFit/>
          </a:bodyPr>
          <a:lstStyle/>
          <a:p>
            <a:r>
              <a:rPr lang="en-US" sz="2600" b="1" dirty="0">
                <a:latin typeface="Courier New" panose="02070309020205020404" pitchFamily="49" charset="0"/>
                <a:cs typeface="Courier New" panose="02070309020205020404" pitchFamily="49" charset="0"/>
              </a:rPr>
              <a:t>.write </a:t>
            </a:r>
            <a:r>
              <a:rPr lang="en-US" sz="2600" dirty="0">
                <a:latin typeface="Helvetica Light" panose="020B0403020202020204" pitchFamily="34" charset="0"/>
              </a:rPr>
              <a:t>works similarly to </a:t>
            </a:r>
            <a:r>
              <a:rPr lang="en-US" sz="2600" b="1" dirty="0">
                <a:latin typeface="Courier New" panose="02070309020205020404" pitchFamily="49" charset="0"/>
                <a:cs typeface="Courier New" panose="02070309020205020404" pitchFamily="49" charset="0"/>
              </a:rPr>
              <a:t>print</a:t>
            </a:r>
            <a:r>
              <a:rPr lang="en-US" sz="2600" dirty="0">
                <a:latin typeface="Helvetica Light" panose="020B0403020202020204" pitchFamily="34" charset="0"/>
              </a:rPr>
              <a:t>, used for writing to the file.</a:t>
            </a:r>
          </a:p>
          <a:p>
            <a:endParaRPr lang="en-US" sz="2600" dirty="0">
              <a:latin typeface="Helvetica Light" panose="020B0403020202020204" pitchFamily="34" charset="0"/>
            </a:endParaRPr>
          </a:p>
          <a:p>
            <a:pPr marL="457200" indent="-457200">
              <a:buFontTx/>
              <a:buChar char="-"/>
            </a:pPr>
            <a:r>
              <a:rPr lang="en-US" sz="2600" dirty="0">
                <a:latin typeface="Helvetica Light" panose="020B0403020202020204" pitchFamily="34" charset="0"/>
              </a:rPr>
              <a:t>Writes strings. So, if you have a list, need to convert to string to write.</a:t>
            </a:r>
          </a:p>
          <a:p>
            <a:pPr marL="457200" indent="-457200">
              <a:buFontTx/>
              <a:buChar char="-"/>
            </a:pPr>
            <a:r>
              <a:rPr lang="en-US" sz="2600" dirty="0">
                <a:latin typeface="Helvetica Light" panose="020B0403020202020204" pitchFamily="34" charset="0"/>
              </a:rPr>
              <a:t>Unlike </a:t>
            </a:r>
            <a:r>
              <a:rPr lang="en-US" sz="2600" b="1" dirty="0">
                <a:latin typeface="Courier New" panose="02070309020205020404" pitchFamily="49" charset="0"/>
                <a:cs typeface="Courier New" panose="02070309020205020404" pitchFamily="49" charset="0"/>
              </a:rPr>
              <a:t>print</a:t>
            </a:r>
            <a:r>
              <a:rPr lang="en-US" sz="2600" dirty="0">
                <a:latin typeface="Helvetica Light" panose="020B0403020202020204" pitchFamily="34" charset="0"/>
              </a:rPr>
              <a:t>, </a:t>
            </a:r>
            <a:r>
              <a:rPr lang="en-US" sz="2600" b="1" dirty="0">
                <a:latin typeface="Courier New" panose="02070309020205020404" pitchFamily="49" charset="0"/>
                <a:cs typeface="Courier New" panose="02070309020205020404" pitchFamily="49" charset="0"/>
              </a:rPr>
              <a:t>.write </a:t>
            </a:r>
            <a:r>
              <a:rPr lang="en-US" sz="2600" dirty="0">
                <a:latin typeface="Helvetica Light" panose="020B0403020202020204" pitchFamily="34" charset="0"/>
              </a:rPr>
              <a:t>doesn’t automatically add line ending. You will USUALLY want to add line ending</a:t>
            </a:r>
          </a:p>
        </p:txBody>
      </p:sp>
    </p:spTree>
    <p:extLst>
      <p:ext uri="{BB962C8B-B14F-4D97-AF65-F5344CB8AC3E}">
        <p14:creationId xmlns:p14="http://schemas.microsoft.com/office/powerpoint/2010/main" val="6821353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771FF7A-E3C0-A045-86CF-223B0BB4FAC7}"/>
              </a:ext>
            </a:extLst>
          </p:cNvPr>
          <p:cNvSpPr/>
          <p:nvPr/>
        </p:nvSpPr>
        <p:spPr>
          <a:xfrm>
            <a:off x="139262" y="1263962"/>
            <a:ext cx="11913476" cy="4893647"/>
          </a:xfrm>
          <a:prstGeom prst="rect">
            <a:avLst/>
          </a:prstGeom>
          <a:ln>
            <a:solidFill>
              <a:schemeClr val="tx1"/>
            </a:solidFill>
          </a:ln>
        </p:spPr>
        <p:txBody>
          <a:bodyPr wrap="square">
            <a:spAutoFit/>
          </a:bodyPr>
          <a:lstStyle/>
          <a:p>
            <a:r>
              <a:rPr lang="en-US" sz="2400" b="1" dirty="0">
                <a:latin typeface="Courier New" panose="02070309020205020404" pitchFamily="49" charset="0"/>
                <a:cs typeface="Courier New" panose="02070309020205020404" pitchFamily="49" charset="0"/>
              </a:rPr>
              <a:t>Line = open(</a:t>
            </a:r>
            <a:r>
              <a:rPr lang="en-US" sz="2400" b="1" dirty="0">
                <a:solidFill>
                  <a:srgbClr val="FF0000"/>
                </a:solidFill>
                <a:latin typeface="Courier New" panose="02070309020205020404" pitchFamily="49" charset="0"/>
                <a:cs typeface="Courier New" panose="02070309020205020404" pitchFamily="49" charset="0"/>
              </a:rPr>
              <a:t>”</a:t>
            </a:r>
            <a:r>
              <a:rPr lang="en-US" sz="2400" b="1" dirty="0" err="1">
                <a:solidFill>
                  <a:srgbClr val="FF0000"/>
                </a:solidFill>
                <a:latin typeface="Courier New" panose="02070309020205020404" pitchFamily="49" charset="0"/>
                <a:cs typeface="Courier New" panose="02070309020205020404" pitchFamily="49" charset="0"/>
              </a:rPr>
              <a:t>datafile.txt</a:t>
            </a:r>
            <a:r>
              <a:rPr lang="en-US" sz="2400" b="1" dirty="0">
                <a:solidFill>
                  <a:srgbClr val="FF0000"/>
                </a:solidFill>
                <a:latin typeface="Courier New" panose="02070309020205020404" pitchFamily="49" charset="0"/>
                <a:cs typeface="Courier New" panose="02070309020205020404" pitchFamily="49" charset="0"/>
              </a:rPr>
              <a:t>”, 'r')</a:t>
            </a:r>
            <a:endParaRPr lang="en-US" sz="2400" b="1" dirty="0">
              <a:latin typeface="Courier New" panose="02070309020205020404" pitchFamily="49" charset="0"/>
              <a:cs typeface="Courier New" panose="02070309020205020404" pitchFamily="49" charset="0"/>
            </a:endParaRPr>
          </a:p>
          <a:p>
            <a:r>
              <a:rPr lang="en-US" sz="2400" b="1" dirty="0">
                <a:solidFill>
                  <a:srgbClr val="7030A0"/>
                </a:solidFill>
                <a:latin typeface="Courier New" panose="02070309020205020404" pitchFamily="49" charset="0"/>
                <a:cs typeface="Courier New" panose="02070309020205020404" pitchFamily="49" charset="0"/>
              </a:rPr>
              <a:t>for</a:t>
            </a:r>
            <a:r>
              <a:rPr lang="en-US" sz="2400" b="1" dirty="0">
                <a:latin typeface="Courier New" panose="02070309020205020404" pitchFamily="49" charset="0"/>
                <a:cs typeface="Courier New" panose="02070309020205020404" pitchFamily="49" charset="0"/>
              </a:rPr>
              <a:t> Line </a:t>
            </a:r>
            <a:r>
              <a:rPr lang="en-US" sz="2400" b="1" dirty="0">
                <a:solidFill>
                  <a:srgbClr val="7030A0"/>
                </a:solidFill>
                <a:latin typeface="Courier New" panose="02070309020205020404" pitchFamily="49" charset="0"/>
                <a:cs typeface="Courier New" panose="02070309020205020404" pitchFamily="49" charset="0"/>
              </a:rPr>
              <a:t>in</a:t>
            </a:r>
            <a:r>
              <a:rPr lang="en-US" sz="2400" b="1" dirty="0">
                <a:latin typeface="Courier New" panose="02070309020205020404" pitchFamily="49" charset="0"/>
                <a:cs typeface="Courier New" panose="02070309020205020404" pitchFamily="49" charset="0"/>
              </a:rPr>
              <a:t> IN:</a:t>
            </a:r>
          </a:p>
          <a:p>
            <a:r>
              <a:rPr lang="en-US" sz="2400" b="1" dirty="0">
                <a:latin typeface="Courier New" panose="02070309020205020404" pitchFamily="49" charset="0"/>
                <a:cs typeface="Courier New" panose="02070309020205020404" pitchFamily="49" charset="0"/>
              </a:rPr>
              <a:t>	Ctr += 1 </a:t>
            </a:r>
            <a:r>
              <a:rPr lang="en-US" sz="2400" b="1" dirty="0">
                <a:solidFill>
                  <a:schemeClr val="tx1">
                    <a:lumMod val="50000"/>
                    <a:lumOff val="50000"/>
                  </a:schemeClr>
                </a:solidFill>
                <a:latin typeface="Courier New" panose="02070309020205020404" pitchFamily="49" charset="0"/>
                <a:cs typeface="Courier New" panose="02070309020205020404" pitchFamily="49" charset="0"/>
              </a:rPr>
              <a:t># counter to keep track of loop</a:t>
            </a:r>
          </a:p>
          <a:p>
            <a:r>
              <a:rPr lang="en-US" sz="2400" b="1" dirty="0">
                <a:latin typeface="Courier New" panose="02070309020205020404" pitchFamily="49" charset="0"/>
                <a:cs typeface="Courier New" panose="02070309020205020404" pitchFamily="49" charset="0"/>
              </a:rPr>
              <a:t>	Line = </a:t>
            </a:r>
            <a:r>
              <a:rPr lang="en-US" sz="2400" b="1" dirty="0" err="1">
                <a:latin typeface="Courier New" panose="02070309020205020404" pitchFamily="49" charset="0"/>
                <a:cs typeface="Courier New" panose="02070309020205020404" pitchFamily="49" charset="0"/>
              </a:rPr>
              <a:t>Line.strip</a:t>
            </a:r>
            <a:r>
              <a:rPr lang="en-US" sz="2400" b="1" dirty="0">
                <a:latin typeface="Courier New" panose="02070309020205020404" pitchFamily="49" charset="0"/>
                <a:cs typeface="Courier New" panose="02070309020205020404" pitchFamily="49" charset="0"/>
              </a:rPr>
              <a:t>(</a:t>
            </a:r>
            <a:r>
              <a:rPr lang="en-US" sz="2400" b="1" dirty="0">
                <a:solidFill>
                  <a:srgbClr val="FF0000"/>
                </a:solidFill>
                <a:latin typeface="Courier New" panose="02070309020205020404" pitchFamily="49" charset="0"/>
                <a:cs typeface="Courier New" panose="02070309020205020404" pitchFamily="49" charset="0"/>
              </a:rPr>
              <a:t>'\n'</a:t>
            </a:r>
            <a:r>
              <a:rPr lang="en-US" sz="2400" b="1" dirty="0">
                <a:solidFill>
                  <a:schemeClr val="tx1">
                    <a:lumMod val="95000"/>
                    <a:lumOff val="5000"/>
                  </a:schemeClr>
                </a:solidFill>
                <a:latin typeface="Courier New" panose="02070309020205020404" pitchFamily="49" charset="0"/>
                <a:cs typeface="Courier New" panose="02070309020205020404" pitchFamily="49" charset="0"/>
              </a:rPr>
              <a:t>)</a:t>
            </a:r>
            <a:r>
              <a:rPr lang="en-US" sz="2400" b="1" dirty="0">
                <a:solidFill>
                  <a:srgbClr val="FF0000"/>
                </a:solidFill>
                <a:latin typeface="Courier New" panose="02070309020205020404" pitchFamily="49" charset="0"/>
                <a:cs typeface="Courier New" panose="02070309020205020404" pitchFamily="49" charset="0"/>
              </a:rPr>
              <a:t> </a:t>
            </a:r>
            <a:r>
              <a:rPr lang="en-US" sz="2400" b="1" dirty="0">
                <a:solidFill>
                  <a:schemeClr val="tx1">
                    <a:lumMod val="50000"/>
                    <a:lumOff val="50000"/>
                  </a:schemeClr>
                </a:solidFill>
                <a:latin typeface="Courier New" panose="02070309020205020404" pitchFamily="49" charset="0"/>
                <a:cs typeface="Courier New" panose="02070309020205020404" pitchFamily="49" charset="0"/>
              </a:rPr>
              <a:t># removing line ending. DO this. </a:t>
            </a:r>
          </a:p>
          <a:p>
            <a:r>
              <a:rPr lang="en-US" sz="2400" b="1" dirty="0">
                <a:latin typeface="Courier New" panose="02070309020205020404" pitchFamily="49" charset="0"/>
                <a:cs typeface="Courier New" panose="02070309020205020404" pitchFamily="49" charset="0"/>
              </a:rPr>
              <a:t>	</a:t>
            </a:r>
            <a:r>
              <a:rPr lang="en-US" sz="2400" b="1" dirty="0" err="1">
                <a:latin typeface="Courier New" panose="02070309020205020404" pitchFamily="49" charset="0"/>
                <a:cs typeface="Courier New" panose="02070309020205020404" pitchFamily="49" charset="0"/>
              </a:rPr>
              <a:t>Ccount</a:t>
            </a:r>
            <a:r>
              <a:rPr lang="en-US" sz="2400" b="1" dirty="0">
                <a:latin typeface="Courier New" panose="02070309020205020404" pitchFamily="49" charset="0"/>
                <a:cs typeface="Courier New" panose="02070309020205020404" pitchFamily="49" charset="0"/>
              </a:rPr>
              <a:t>=</a:t>
            </a:r>
            <a:r>
              <a:rPr lang="en-US" sz="2400" b="1" dirty="0" err="1">
                <a:latin typeface="Courier New" panose="02070309020205020404" pitchFamily="49" charset="0"/>
                <a:cs typeface="Courier New" panose="02070309020205020404" pitchFamily="49" charset="0"/>
              </a:rPr>
              <a:t>Line.count</a:t>
            </a:r>
            <a:r>
              <a:rPr lang="en-US" sz="2400" b="1" dirty="0">
                <a:latin typeface="Courier New" panose="02070309020205020404" pitchFamily="49" charset="0"/>
                <a:cs typeface="Courier New" panose="02070309020205020404" pitchFamily="49" charset="0"/>
              </a:rPr>
              <a:t>(</a:t>
            </a:r>
            <a:r>
              <a:rPr lang="en-US" sz="2400" b="1" dirty="0">
                <a:solidFill>
                  <a:srgbClr val="FF0000"/>
                </a:solidFill>
                <a:latin typeface="Courier New" panose="02070309020205020404" pitchFamily="49" charset="0"/>
                <a:cs typeface="Courier New" panose="02070309020205020404" pitchFamily="49" charset="0"/>
              </a:rPr>
              <a:t>'C'</a:t>
            </a:r>
            <a:r>
              <a:rPr lang="en-US" sz="2400" b="1" dirty="0">
                <a:latin typeface="Courier New" panose="02070309020205020404" pitchFamily="49" charset="0"/>
                <a:cs typeface="Courier New" panose="02070309020205020404" pitchFamily="49" charset="0"/>
              </a:rPr>
              <a:t>) </a:t>
            </a:r>
            <a:r>
              <a:rPr lang="en-US" sz="2400" b="1" dirty="0">
                <a:solidFill>
                  <a:schemeClr val="bg1">
                    <a:lumMod val="50000"/>
                  </a:schemeClr>
                </a:solidFill>
                <a:latin typeface="Courier New" panose="02070309020205020404" pitchFamily="49" charset="0"/>
                <a:cs typeface="Courier New" panose="02070309020205020404" pitchFamily="49" charset="0"/>
              </a:rPr>
              <a:t># counts Cs in Line string</a:t>
            </a:r>
          </a:p>
          <a:p>
            <a:r>
              <a:rPr lang="en-US" sz="2400" b="1" dirty="0">
                <a:latin typeface="Courier New" panose="02070309020205020404" pitchFamily="49" charset="0"/>
                <a:cs typeface="Courier New" panose="02070309020205020404" pitchFamily="49" charset="0"/>
              </a:rPr>
              <a:t>	SL=</a:t>
            </a:r>
            <a:r>
              <a:rPr lang="en-US" sz="2400" b="1" dirty="0" err="1">
                <a:solidFill>
                  <a:srgbClr val="7030A0"/>
                </a:solidFill>
                <a:latin typeface="Courier New" panose="02070309020205020404" pitchFamily="49" charset="0"/>
                <a:cs typeface="Courier New" panose="02070309020205020404" pitchFamily="49" charset="0"/>
              </a:rPr>
              <a:t>len</a:t>
            </a:r>
            <a:r>
              <a:rPr lang="en-US" sz="2400" b="1" dirty="0">
                <a:latin typeface="Courier New" panose="02070309020205020404" pitchFamily="49" charset="0"/>
                <a:cs typeface="Courier New" panose="02070309020205020404" pitchFamily="49" charset="0"/>
              </a:rPr>
              <a:t>(Line)</a:t>
            </a:r>
          </a:p>
          <a:p>
            <a:r>
              <a:rPr lang="en-US" sz="2400" b="1" dirty="0">
                <a:latin typeface="Courier New" panose="02070309020205020404" pitchFamily="49" charset="0"/>
                <a:cs typeface="Courier New" panose="02070309020205020404" pitchFamily="49" charset="0"/>
              </a:rPr>
              <a:t>	</a:t>
            </a:r>
            <a:r>
              <a:rPr lang="en-US" sz="2400" b="1" dirty="0" err="1">
                <a:latin typeface="Courier New" panose="02070309020205020404" pitchFamily="49" charset="0"/>
                <a:cs typeface="Courier New" panose="02070309020205020404" pitchFamily="49" charset="0"/>
              </a:rPr>
              <a:t>OUT.write</a:t>
            </a:r>
            <a:r>
              <a:rPr lang="en-US" sz="2400" b="1" dirty="0">
                <a:latin typeface="Courier New" panose="02070309020205020404" pitchFamily="49" charset="0"/>
                <a:cs typeface="Courier New" panose="02070309020205020404" pitchFamily="49" charset="0"/>
              </a:rPr>
              <a:t>(</a:t>
            </a:r>
            <a:r>
              <a:rPr lang="en-US" sz="2400" b="1" dirty="0" err="1">
                <a:latin typeface="Courier New" panose="02070309020205020404" pitchFamily="49" charset="0"/>
                <a:cs typeface="Courier New" panose="02070309020205020404" pitchFamily="49" charset="0"/>
              </a:rPr>
              <a:t>f</a:t>
            </a:r>
            <a:r>
              <a:rPr lang="en-US" sz="2400" b="1" dirty="0" err="1">
                <a:solidFill>
                  <a:srgbClr val="FF0000"/>
                </a:solidFill>
                <a:latin typeface="Courier New" panose="02070309020205020404" pitchFamily="49" charset="0"/>
                <a:cs typeface="Courier New" panose="02070309020205020404" pitchFamily="49" charset="0"/>
              </a:rPr>
              <a:t>"Number</a:t>
            </a:r>
            <a:r>
              <a:rPr lang="en-US" sz="2400" b="1" dirty="0">
                <a:solidFill>
                  <a:srgbClr val="FF0000"/>
                </a:solidFill>
                <a:latin typeface="Courier New" panose="02070309020205020404" pitchFamily="49" charset="0"/>
                <a:cs typeface="Courier New" panose="02070309020205020404" pitchFamily="49" charset="0"/>
              </a:rPr>
              <a:t> of Cs: {}, Seq length: {}"</a:t>
            </a:r>
            <a:r>
              <a:rPr lang="en-US" sz="2400" b="1" dirty="0">
                <a:latin typeface="Courier New" panose="02070309020205020404" pitchFamily="49" charset="0"/>
                <a:cs typeface="Courier New" panose="02070309020205020404" pitchFamily="49" charset="0"/>
              </a:rPr>
              <a:t>)</a:t>
            </a:r>
          </a:p>
          <a:p>
            <a:endParaRPr lang="en-US" sz="2400" b="1" dirty="0">
              <a:latin typeface="Courier New" panose="02070309020205020404" pitchFamily="49" charset="0"/>
              <a:cs typeface="Courier New" panose="02070309020205020404" pitchFamily="49" charset="0"/>
            </a:endParaRPr>
          </a:p>
          <a:p>
            <a:r>
              <a:rPr lang="en-US" sz="2400" b="1" dirty="0">
                <a:latin typeface="Courier New" panose="02070309020205020404" pitchFamily="49" charset="0"/>
                <a:cs typeface="Courier New" panose="02070309020205020404" pitchFamily="49" charset="0"/>
              </a:rPr>
              <a:t>print(Ctr)</a:t>
            </a:r>
            <a:r>
              <a:rPr lang="en-US" sz="2400" b="1" dirty="0">
                <a:solidFill>
                  <a:schemeClr val="bg1">
                    <a:lumMod val="50000"/>
                  </a:schemeClr>
                </a:solidFill>
                <a:latin typeface="Courier New" panose="02070309020205020404" pitchFamily="49" charset="0"/>
                <a:cs typeface="Courier New" panose="02070309020205020404" pitchFamily="49" charset="0"/>
              </a:rPr>
              <a:t> # after loop is finished, prints value, which will be number of lines processed</a:t>
            </a:r>
            <a:endParaRPr lang="en-US" sz="2400" b="1" dirty="0">
              <a:latin typeface="Courier New" panose="02070309020205020404" pitchFamily="49" charset="0"/>
              <a:cs typeface="Courier New" panose="02070309020205020404" pitchFamily="49" charset="0"/>
            </a:endParaRPr>
          </a:p>
          <a:p>
            <a:endParaRPr lang="en-US" sz="2400" dirty="0">
              <a:solidFill>
                <a:schemeClr val="tx1">
                  <a:lumMod val="95000"/>
                  <a:lumOff val="5000"/>
                </a:schemeClr>
              </a:solidFill>
              <a:latin typeface="Courier New" panose="02070309020205020404" pitchFamily="49" charset="0"/>
              <a:cs typeface="Courier New" panose="02070309020205020404" pitchFamily="49" charset="0"/>
            </a:endParaRPr>
          </a:p>
          <a:p>
            <a:r>
              <a:rPr lang="en-US" sz="2400" dirty="0">
                <a:solidFill>
                  <a:schemeClr val="tx1">
                    <a:lumMod val="95000"/>
                    <a:lumOff val="5000"/>
                  </a:schemeClr>
                </a:solidFill>
                <a:latin typeface="Helvetica Light" panose="020B0403020202020204" pitchFamily="34" charset="0"/>
                <a:cs typeface="Courier New" panose="02070309020205020404" pitchFamily="49" charset="0"/>
              </a:rPr>
              <a:t>- </a:t>
            </a:r>
            <a:r>
              <a:rPr lang="en-US" sz="2400" b="1" dirty="0">
                <a:solidFill>
                  <a:schemeClr val="tx1">
                    <a:lumMod val="95000"/>
                    <a:lumOff val="5000"/>
                  </a:schemeClr>
                </a:solidFill>
                <a:latin typeface="HELVETICA LIGHT" panose="020B0403020202020204" pitchFamily="34" charset="0"/>
                <a:cs typeface="Courier New" panose="02070309020205020404" pitchFamily="49" charset="0"/>
              </a:rPr>
              <a:t>Each time through the loop, subsequent line is processed.</a:t>
            </a:r>
          </a:p>
          <a:p>
            <a:r>
              <a:rPr lang="en-US" sz="2400" b="1" dirty="0">
                <a:solidFill>
                  <a:schemeClr val="tx1">
                    <a:lumMod val="65000"/>
                    <a:lumOff val="35000"/>
                  </a:schemeClr>
                </a:solidFill>
                <a:latin typeface="Courier New" panose="02070309020205020404" pitchFamily="49" charset="0"/>
                <a:cs typeface="Courier New" panose="02070309020205020404" pitchFamily="49" charset="0"/>
              </a:rPr>
              <a:t>			</a:t>
            </a:r>
            <a:endParaRPr lang="en-US" sz="2400" b="1" dirty="0">
              <a:latin typeface="Courier New" panose="02070309020205020404" pitchFamily="49" charset="0"/>
              <a:cs typeface="Courier New" panose="02070309020205020404" pitchFamily="49" charset="0"/>
            </a:endParaRPr>
          </a:p>
        </p:txBody>
      </p:sp>
      <p:sp>
        <p:nvSpPr>
          <p:cNvPr id="4" name="TextBox 3">
            <a:extLst>
              <a:ext uri="{FF2B5EF4-FFF2-40B4-BE49-F238E27FC236}">
                <a16:creationId xmlns:a16="http://schemas.microsoft.com/office/drawing/2014/main" id="{8DF82217-B242-6248-82DA-E6A0522DAF72}"/>
              </a:ext>
            </a:extLst>
          </p:cNvPr>
          <p:cNvSpPr txBox="1"/>
          <p:nvPr/>
        </p:nvSpPr>
        <p:spPr>
          <a:xfrm>
            <a:off x="2093867" y="270363"/>
            <a:ext cx="7923964" cy="615553"/>
          </a:xfrm>
          <a:prstGeom prst="rect">
            <a:avLst/>
          </a:prstGeom>
          <a:noFill/>
        </p:spPr>
        <p:txBody>
          <a:bodyPr wrap="none" rtlCol="0">
            <a:spAutoFit/>
          </a:bodyPr>
          <a:lstStyle/>
          <a:p>
            <a:r>
              <a:rPr lang="en-US" sz="3400" b="1" dirty="0">
                <a:latin typeface="Helvetica Light" panose="020B0403020202020204" pitchFamily="34" charset="0"/>
              </a:rPr>
              <a:t>Putting it together: read - process - write</a:t>
            </a:r>
          </a:p>
        </p:txBody>
      </p:sp>
    </p:spTree>
    <p:extLst>
      <p:ext uri="{BB962C8B-B14F-4D97-AF65-F5344CB8AC3E}">
        <p14:creationId xmlns:p14="http://schemas.microsoft.com/office/powerpoint/2010/main" val="17562811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771FF7A-E3C0-A045-86CF-223B0BB4FAC7}"/>
              </a:ext>
            </a:extLst>
          </p:cNvPr>
          <p:cNvSpPr/>
          <p:nvPr/>
        </p:nvSpPr>
        <p:spPr>
          <a:xfrm>
            <a:off x="481289" y="4089093"/>
            <a:ext cx="10701576" cy="2092881"/>
          </a:xfrm>
          <a:prstGeom prst="rect">
            <a:avLst/>
          </a:prstGeom>
          <a:ln>
            <a:solidFill>
              <a:schemeClr val="tx1"/>
            </a:solidFill>
          </a:ln>
        </p:spPr>
        <p:txBody>
          <a:bodyPr wrap="square">
            <a:spAutoFit/>
          </a:bodyPr>
          <a:lstStyle/>
          <a:p>
            <a:r>
              <a:rPr lang="en-US" sz="2600" b="1" dirty="0">
                <a:latin typeface="Courier New" panose="02070309020205020404" pitchFamily="49" charset="0"/>
                <a:cs typeface="Courier New" panose="02070309020205020404" pitchFamily="49" charset="0"/>
              </a:rPr>
              <a:t>import re</a:t>
            </a:r>
            <a:r>
              <a:rPr lang="en-US" sz="2600" b="1" dirty="0">
                <a:solidFill>
                  <a:schemeClr val="tx1">
                    <a:lumMod val="65000"/>
                    <a:lumOff val="35000"/>
                  </a:schemeClr>
                </a:solidFill>
                <a:latin typeface="Courier New" panose="02070309020205020404" pitchFamily="49" charset="0"/>
                <a:cs typeface="Courier New" panose="02070309020205020404" pitchFamily="49" charset="0"/>
              </a:rPr>
              <a:t>	</a:t>
            </a:r>
          </a:p>
          <a:p>
            <a:endParaRPr lang="en-US" sz="2600" b="1" dirty="0">
              <a:solidFill>
                <a:schemeClr val="tx1">
                  <a:lumMod val="65000"/>
                  <a:lumOff val="35000"/>
                </a:schemeClr>
              </a:solidFill>
              <a:latin typeface="Courier New" panose="02070309020205020404" pitchFamily="49" charset="0"/>
              <a:cs typeface="Courier New" panose="02070309020205020404" pitchFamily="49" charset="0"/>
            </a:endParaRPr>
          </a:p>
          <a:p>
            <a:r>
              <a:rPr lang="en-US" sz="2600" b="1" dirty="0">
                <a:latin typeface="Courier New" panose="02070309020205020404" pitchFamily="49" charset="0"/>
                <a:cs typeface="Courier New" panose="02070309020205020404" pitchFamily="49" charset="0"/>
              </a:rPr>
              <a:t>Seq = "ATCGGGGCCTAGAAT"</a:t>
            </a:r>
          </a:p>
          <a:p>
            <a:r>
              <a:rPr lang="en-US" sz="2600" b="1" dirty="0">
                <a:latin typeface="Courier New" panose="02070309020205020404" pitchFamily="49" charset="0"/>
                <a:cs typeface="Courier New" panose="02070309020205020404" pitchFamily="49" charset="0"/>
              </a:rPr>
              <a:t>if </a:t>
            </a:r>
            <a:r>
              <a:rPr lang="en-US" sz="2600" b="1" dirty="0" err="1">
                <a:latin typeface="Courier New" panose="02070309020205020404" pitchFamily="49" charset="0"/>
                <a:cs typeface="Courier New" panose="02070309020205020404" pitchFamily="49" charset="0"/>
              </a:rPr>
              <a:t>re.search</a:t>
            </a:r>
            <a:r>
              <a:rPr lang="en-US" sz="2600" b="1" dirty="0">
                <a:latin typeface="Courier New" panose="02070309020205020404" pitchFamily="49" charset="0"/>
                <a:cs typeface="Courier New" panose="02070309020205020404" pitchFamily="49" charset="0"/>
              </a:rPr>
              <a:t>("TAG", Seq):</a:t>
            </a:r>
          </a:p>
          <a:p>
            <a:r>
              <a:rPr lang="en-US" sz="2600" b="1" dirty="0">
                <a:latin typeface="Courier New" panose="02070309020205020404" pitchFamily="49" charset="0"/>
                <a:cs typeface="Courier New" panose="02070309020205020404" pitchFamily="49" charset="0"/>
              </a:rPr>
              <a:t>	print("Stop codon (TAG) found.\n")</a:t>
            </a:r>
          </a:p>
        </p:txBody>
      </p:sp>
      <p:sp>
        <p:nvSpPr>
          <p:cNvPr id="4" name="TextBox 3">
            <a:extLst>
              <a:ext uri="{FF2B5EF4-FFF2-40B4-BE49-F238E27FC236}">
                <a16:creationId xmlns:a16="http://schemas.microsoft.com/office/drawing/2014/main" id="{8DF82217-B242-6248-82DA-E6A0522DAF72}"/>
              </a:ext>
            </a:extLst>
          </p:cNvPr>
          <p:cNvSpPr txBox="1"/>
          <p:nvPr/>
        </p:nvSpPr>
        <p:spPr>
          <a:xfrm>
            <a:off x="1870842" y="294290"/>
            <a:ext cx="7617791" cy="553998"/>
          </a:xfrm>
          <a:prstGeom prst="rect">
            <a:avLst/>
          </a:prstGeom>
          <a:noFill/>
        </p:spPr>
        <p:txBody>
          <a:bodyPr wrap="none" rtlCol="0">
            <a:spAutoFit/>
          </a:bodyPr>
          <a:lstStyle/>
          <a:p>
            <a:r>
              <a:rPr lang="en-US" sz="3000" dirty="0">
                <a:latin typeface="Helvetica Light" panose="020B0403020202020204" pitchFamily="34" charset="0"/>
              </a:rPr>
              <a:t>Introduction/Preview of </a:t>
            </a:r>
            <a:r>
              <a:rPr lang="en-US" sz="3000" b="1" dirty="0">
                <a:latin typeface="Helvetica Light" panose="020B0403020202020204" pitchFamily="34" charset="0"/>
              </a:rPr>
              <a:t>regular expressions</a:t>
            </a:r>
          </a:p>
        </p:txBody>
      </p:sp>
      <p:sp>
        <p:nvSpPr>
          <p:cNvPr id="5" name="TextBox 4">
            <a:extLst>
              <a:ext uri="{FF2B5EF4-FFF2-40B4-BE49-F238E27FC236}">
                <a16:creationId xmlns:a16="http://schemas.microsoft.com/office/drawing/2014/main" id="{6B49A80A-DA78-6E43-8758-7CBBFDD78271}"/>
              </a:ext>
            </a:extLst>
          </p:cNvPr>
          <p:cNvSpPr txBox="1"/>
          <p:nvPr/>
        </p:nvSpPr>
        <p:spPr>
          <a:xfrm>
            <a:off x="481289" y="1303284"/>
            <a:ext cx="10906897" cy="2492990"/>
          </a:xfrm>
          <a:prstGeom prst="rect">
            <a:avLst/>
          </a:prstGeom>
          <a:noFill/>
        </p:spPr>
        <p:txBody>
          <a:bodyPr wrap="square" rtlCol="0">
            <a:spAutoFit/>
          </a:bodyPr>
          <a:lstStyle/>
          <a:p>
            <a:r>
              <a:rPr lang="en-US" sz="2600" dirty="0">
                <a:latin typeface="Helvetica Light" panose="020B0403020202020204" pitchFamily="34" charset="0"/>
              </a:rPr>
              <a:t>Specific or flexible pattern matching is a key to data science, we do this with </a:t>
            </a:r>
            <a:r>
              <a:rPr lang="en-US" sz="2600" b="1" dirty="0">
                <a:latin typeface="Helvetica Light" panose="020B0403020202020204" pitchFamily="34" charset="0"/>
              </a:rPr>
              <a:t>regular expressions</a:t>
            </a:r>
          </a:p>
          <a:p>
            <a:endParaRPr lang="en-US" sz="2600" b="1" dirty="0">
              <a:latin typeface="Helvetica Light" panose="020B0403020202020204" pitchFamily="34" charset="0"/>
            </a:endParaRPr>
          </a:p>
          <a:p>
            <a:r>
              <a:rPr lang="en-US" sz="2600" b="1" dirty="0">
                <a:latin typeface="Courier New" panose="02070309020205020404" pitchFamily="49" charset="0"/>
                <a:cs typeface="Courier New" panose="02070309020205020404" pitchFamily="49" charset="0"/>
              </a:rPr>
              <a:t>re</a:t>
            </a:r>
            <a:r>
              <a:rPr lang="en-US" sz="2600" b="1" dirty="0">
                <a:latin typeface="Helvetica Light" panose="020B0403020202020204" pitchFamily="34" charset="0"/>
              </a:rPr>
              <a:t> </a:t>
            </a:r>
            <a:r>
              <a:rPr lang="en-US" sz="2600" dirty="0">
                <a:latin typeface="Helvetica Light" panose="020B0403020202020204" pitchFamily="34" charset="0"/>
              </a:rPr>
              <a:t>library in python has built in functions to do this.</a:t>
            </a:r>
          </a:p>
          <a:p>
            <a:endParaRPr lang="en-US" sz="2600" dirty="0">
              <a:latin typeface="Helvetica Light" panose="020B0403020202020204" pitchFamily="34" charset="0"/>
            </a:endParaRPr>
          </a:p>
          <a:p>
            <a:r>
              <a:rPr lang="en-US" sz="2600" b="1" dirty="0" err="1">
                <a:latin typeface="Courier New" panose="02070309020205020404" pitchFamily="49" charset="0"/>
                <a:cs typeface="Courier New" panose="02070309020205020404" pitchFamily="49" charset="0"/>
              </a:rPr>
              <a:t>re.search</a:t>
            </a:r>
            <a:r>
              <a:rPr lang="en-US" sz="2600" b="1" dirty="0">
                <a:latin typeface="Courier New" panose="02070309020205020404" pitchFamily="49" charset="0"/>
                <a:cs typeface="Courier New" panose="02070309020205020404" pitchFamily="49" charset="0"/>
              </a:rPr>
              <a:t> </a:t>
            </a:r>
            <a:r>
              <a:rPr lang="en-US" sz="2600" dirty="0">
                <a:latin typeface="Helvetica Light" panose="020B0403020202020204" pitchFamily="34" charset="0"/>
              </a:rPr>
              <a:t>returns true/false; match occurs or doesn’t.</a:t>
            </a:r>
          </a:p>
        </p:txBody>
      </p:sp>
    </p:spTree>
    <p:extLst>
      <p:ext uri="{BB962C8B-B14F-4D97-AF65-F5344CB8AC3E}">
        <p14:creationId xmlns:p14="http://schemas.microsoft.com/office/powerpoint/2010/main" val="41964247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083A82E-72E2-914E-92E2-18175FEB8BFD}"/>
              </a:ext>
            </a:extLst>
          </p:cNvPr>
          <p:cNvSpPr/>
          <p:nvPr/>
        </p:nvSpPr>
        <p:spPr>
          <a:xfrm>
            <a:off x="460269" y="988546"/>
            <a:ext cx="10701576" cy="2092881"/>
          </a:xfrm>
          <a:prstGeom prst="rect">
            <a:avLst/>
          </a:prstGeom>
          <a:ln>
            <a:solidFill>
              <a:schemeClr val="tx1"/>
            </a:solidFill>
          </a:ln>
        </p:spPr>
        <p:txBody>
          <a:bodyPr wrap="square">
            <a:spAutoFit/>
          </a:bodyPr>
          <a:lstStyle/>
          <a:p>
            <a:r>
              <a:rPr lang="en-US" sz="2600" b="1" dirty="0">
                <a:latin typeface="Courier New" panose="02070309020205020404" pitchFamily="49" charset="0"/>
                <a:cs typeface="Courier New" panose="02070309020205020404" pitchFamily="49" charset="0"/>
              </a:rPr>
              <a:t>import re</a:t>
            </a:r>
            <a:r>
              <a:rPr lang="en-US" sz="2600" b="1" dirty="0">
                <a:solidFill>
                  <a:schemeClr val="tx1">
                    <a:lumMod val="65000"/>
                    <a:lumOff val="35000"/>
                  </a:schemeClr>
                </a:solidFill>
                <a:latin typeface="Courier New" panose="02070309020205020404" pitchFamily="49" charset="0"/>
                <a:cs typeface="Courier New" panose="02070309020205020404" pitchFamily="49" charset="0"/>
              </a:rPr>
              <a:t>	</a:t>
            </a:r>
          </a:p>
          <a:p>
            <a:endParaRPr lang="en-US" sz="2600" b="1" dirty="0">
              <a:solidFill>
                <a:schemeClr val="tx1">
                  <a:lumMod val="65000"/>
                  <a:lumOff val="35000"/>
                </a:schemeClr>
              </a:solidFill>
              <a:latin typeface="Courier New" panose="02070309020205020404" pitchFamily="49" charset="0"/>
              <a:cs typeface="Courier New" panose="02070309020205020404" pitchFamily="49" charset="0"/>
            </a:endParaRPr>
          </a:p>
          <a:p>
            <a:r>
              <a:rPr lang="en-US" sz="2600" b="1" dirty="0">
                <a:latin typeface="Courier New" panose="02070309020205020404" pitchFamily="49" charset="0"/>
                <a:cs typeface="Courier New" panose="02070309020205020404" pitchFamily="49" charset="0"/>
              </a:rPr>
              <a:t>Seq = "ATCGGGGCCTAGAAT"</a:t>
            </a:r>
          </a:p>
          <a:p>
            <a:r>
              <a:rPr lang="en-US" sz="2600" b="1" dirty="0">
                <a:latin typeface="Courier New" panose="02070309020205020404" pitchFamily="49" charset="0"/>
                <a:cs typeface="Courier New" panose="02070309020205020404" pitchFamily="49" charset="0"/>
              </a:rPr>
              <a:t>if </a:t>
            </a:r>
            <a:r>
              <a:rPr lang="en-US" sz="2600" b="1" dirty="0" err="1">
                <a:latin typeface="Courier New" panose="02070309020205020404" pitchFamily="49" charset="0"/>
                <a:cs typeface="Courier New" panose="02070309020205020404" pitchFamily="49" charset="0"/>
              </a:rPr>
              <a:t>re.search</a:t>
            </a:r>
            <a:r>
              <a:rPr lang="en-US" sz="2600" b="1" dirty="0">
                <a:latin typeface="Courier New" panose="02070309020205020404" pitchFamily="49" charset="0"/>
                <a:cs typeface="Courier New" panose="02070309020205020404" pitchFamily="49" charset="0"/>
              </a:rPr>
              <a:t>("TAG", Seq):</a:t>
            </a:r>
          </a:p>
          <a:p>
            <a:r>
              <a:rPr lang="en-US" sz="2600" b="1" dirty="0">
                <a:latin typeface="Courier New" panose="02070309020205020404" pitchFamily="49" charset="0"/>
                <a:cs typeface="Courier New" panose="02070309020205020404" pitchFamily="49" charset="0"/>
              </a:rPr>
              <a:t>	print("Stop codon (TAG) found.\n")</a:t>
            </a:r>
          </a:p>
        </p:txBody>
      </p:sp>
      <p:sp>
        <p:nvSpPr>
          <p:cNvPr id="3" name="TextBox 2">
            <a:extLst>
              <a:ext uri="{FF2B5EF4-FFF2-40B4-BE49-F238E27FC236}">
                <a16:creationId xmlns:a16="http://schemas.microsoft.com/office/drawing/2014/main" id="{83AA738A-121B-9446-BC76-ACA0223DC19D}"/>
              </a:ext>
            </a:extLst>
          </p:cNvPr>
          <p:cNvSpPr txBox="1"/>
          <p:nvPr/>
        </p:nvSpPr>
        <p:spPr>
          <a:xfrm>
            <a:off x="2771603" y="157655"/>
            <a:ext cx="6529352" cy="553998"/>
          </a:xfrm>
          <a:prstGeom prst="rect">
            <a:avLst/>
          </a:prstGeom>
          <a:noFill/>
        </p:spPr>
        <p:txBody>
          <a:bodyPr wrap="none" rtlCol="0">
            <a:spAutoFit/>
          </a:bodyPr>
          <a:lstStyle/>
          <a:p>
            <a:r>
              <a:rPr lang="en-US" sz="3000" b="1" dirty="0" err="1">
                <a:latin typeface="Courier New" panose="02070309020205020404" pitchFamily="49" charset="0"/>
                <a:cs typeface="Courier New" panose="02070309020205020404" pitchFamily="49" charset="0"/>
              </a:rPr>
              <a:t>re.search</a:t>
            </a:r>
            <a:r>
              <a:rPr lang="en-US" sz="3000" b="1" dirty="0">
                <a:latin typeface="Courier New" panose="02070309020205020404" pitchFamily="49" charset="0"/>
                <a:cs typeface="Courier New" panose="02070309020205020404" pitchFamily="49" charset="0"/>
              </a:rPr>
              <a:t> </a:t>
            </a:r>
            <a:r>
              <a:rPr lang="en-US" sz="3000" dirty="0">
                <a:latin typeface="Helvetica Light" panose="020B0403020202020204" pitchFamily="34" charset="0"/>
              </a:rPr>
              <a:t>example actions/syntax</a:t>
            </a:r>
            <a:endParaRPr lang="en-US" sz="3000" b="1" dirty="0">
              <a:latin typeface="Helvetica Light" panose="020B0403020202020204" pitchFamily="34" charset="0"/>
            </a:endParaRPr>
          </a:p>
        </p:txBody>
      </p:sp>
      <p:sp>
        <p:nvSpPr>
          <p:cNvPr id="5" name="Rectangle 4">
            <a:extLst>
              <a:ext uri="{FF2B5EF4-FFF2-40B4-BE49-F238E27FC236}">
                <a16:creationId xmlns:a16="http://schemas.microsoft.com/office/drawing/2014/main" id="{0E043452-DF6B-1545-8C56-5EE84A323B99}"/>
              </a:ext>
            </a:extLst>
          </p:cNvPr>
          <p:cNvSpPr/>
          <p:nvPr/>
        </p:nvSpPr>
        <p:spPr>
          <a:xfrm>
            <a:off x="460269" y="4011335"/>
            <a:ext cx="11269276" cy="2677656"/>
          </a:xfrm>
          <a:prstGeom prst="rect">
            <a:avLst/>
          </a:prstGeom>
          <a:ln>
            <a:solidFill>
              <a:schemeClr val="tx1"/>
            </a:solidFill>
          </a:ln>
        </p:spPr>
        <p:txBody>
          <a:bodyPr wrap="square">
            <a:spAutoFit/>
          </a:bodyPr>
          <a:lstStyle/>
          <a:p>
            <a:r>
              <a:rPr lang="en-US" sz="2400" b="1" dirty="0" err="1">
                <a:latin typeface="Courier New" panose="02070309020205020404" pitchFamily="49" charset="0"/>
                <a:cs typeface="Courier New" panose="02070309020205020404" pitchFamily="49" charset="0"/>
              </a:rPr>
              <a:t>re.search</a:t>
            </a:r>
            <a:r>
              <a:rPr lang="en-US" sz="2400" b="1" dirty="0">
                <a:latin typeface="Courier New" panose="02070309020205020404" pitchFamily="49" charset="0"/>
                <a:cs typeface="Courier New" panose="02070309020205020404" pitchFamily="49" charset="0"/>
              </a:rPr>
              <a:t>("TTA(A|G)", Var):  </a:t>
            </a:r>
            <a:r>
              <a:rPr lang="en-US" sz="2400" b="1" dirty="0">
                <a:solidFill>
                  <a:schemeClr val="tx1">
                    <a:lumMod val="50000"/>
                    <a:lumOff val="50000"/>
                  </a:schemeClr>
                </a:solidFill>
                <a:latin typeface="Courier New" panose="02070309020205020404" pitchFamily="49" charset="0"/>
                <a:cs typeface="Courier New" panose="02070309020205020404" pitchFamily="49" charset="0"/>
              </a:rPr>
              <a:t># A or G</a:t>
            </a:r>
          </a:p>
          <a:p>
            <a:endParaRPr lang="en-US" sz="2400" b="1" dirty="0">
              <a:latin typeface="Courier New" panose="02070309020205020404" pitchFamily="49" charset="0"/>
              <a:cs typeface="Courier New" panose="02070309020205020404" pitchFamily="49" charset="0"/>
            </a:endParaRPr>
          </a:p>
          <a:p>
            <a:r>
              <a:rPr lang="en-US" sz="2400" b="1" dirty="0" err="1">
                <a:latin typeface="Courier New" panose="02070309020205020404" pitchFamily="49" charset="0"/>
                <a:cs typeface="Courier New" panose="02070309020205020404" pitchFamily="49" charset="0"/>
              </a:rPr>
              <a:t>re.search</a:t>
            </a:r>
            <a:r>
              <a:rPr lang="en-US" sz="2400" b="1" dirty="0">
                <a:latin typeface="Courier New" panose="02070309020205020404" pitchFamily="49" charset="0"/>
                <a:cs typeface="Courier New" panose="02070309020205020404" pitchFamily="49" charset="0"/>
              </a:rPr>
              <a:t>("TTA[ATCG]", Var):  </a:t>
            </a:r>
            <a:r>
              <a:rPr lang="en-US" sz="2400" b="1" dirty="0">
                <a:solidFill>
                  <a:schemeClr val="tx1">
                    <a:lumMod val="50000"/>
                    <a:lumOff val="50000"/>
                  </a:schemeClr>
                </a:solidFill>
                <a:latin typeface="Courier New" panose="02070309020205020404" pitchFamily="49" charset="0"/>
                <a:cs typeface="Courier New" panose="02070309020205020404" pitchFamily="49" charset="0"/>
              </a:rPr>
              <a:t>#[]s enclose character class</a:t>
            </a:r>
          </a:p>
          <a:p>
            <a:endParaRPr lang="en-US" sz="2400" b="1" dirty="0">
              <a:latin typeface="Courier New" panose="02070309020205020404" pitchFamily="49" charset="0"/>
              <a:cs typeface="Courier New" panose="02070309020205020404" pitchFamily="49" charset="0"/>
            </a:endParaRPr>
          </a:p>
          <a:p>
            <a:r>
              <a:rPr lang="en-US" sz="2400" b="1" dirty="0" err="1">
                <a:latin typeface="Courier New" panose="02070309020205020404" pitchFamily="49" charset="0"/>
                <a:cs typeface="Courier New" panose="02070309020205020404" pitchFamily="49" charset="0"/>
              </a:rPr>
              <a:t>re.search</a:t>
            </a:r>
            <a:r>
              <a:rPr lang="en-US" sz="2400" b="1" dirty="0">
                <a:latin typeface="Courier New" panose="02070309020205020404" pitchFamily="49" charset="0"/>
                <a:cs typeface="Courier New" panose="02070309020205020404" pitchFamily="49" charset="0"/>
              </a:rPr>
              <a:t>("\d+", Var):  </a:t>
            </a:r>
            <a:r>
              <a:rPr lang="en-US" sz="2400" b="1" dirty="0">
                <a:solidFill>
                  <a:schemeClr val="tx1">
                    <a:lumMod val="50000"/>
                    <a:lumOff val="50000"/>
                  </a:schemeClr>
                </a:solidFill>
                <a:latin typeface="Courier New" panose="02070309020205020404" pitchFamily="49" charset="0"/>
                <a:cs typeface="Courier New" panose="02070309020205020404" pitchFamily="49" charset="0"/>
              </a:rPr>
              <a:t>#1 or more digit</a:t>
            </a:r>
            <a:endParaRPr lang="en-US" sz="2400" b="1" dirty="0">
              <a:latin typeface="Courier New" panose="02070309020205020404" pitchFamily="49" charset="0"/>
              <a:cs typeface="Courier New" panose="02070309020205020404" pitchFamily="49" charset="0"/>
            </a:endParaRPr>
          </a:p>
          <a:p>
            <a:endParaRPr lang="en-US" sz="2400" b="1" dirty="0">
              <a:latin typeface="Courier New" panose="02070309020205020404" pitchFamily="49" charset="0"/>
              <a:cs typeface="Courier New" panose="02070309020205020404" pitchFamily="49" charset="0"/>
            </a:endParaRPr>
          </a:p>
          <a:p>
            <a:r>
              <a:rPr lang="en-US" sz="2400" b="1" dirty="0" err="1">
                <a:latin typeface="Courier New" panose="02070309020205020404" pitchFamily="49" charset="0"/>
                <a:cs typeface="Courier New" panose="02070309020205020404" pitchFamily="49" charset="0"/>
              </a:rPr>
              <a:t>re.search</a:t>
            </a:r>
            <a:r>
              <a:rPr lang="en-US" sz="2400" b="1" dirty="0">
                <a:latin typeface="Courier New" panose="02070309020205020404" pitchFamily="49" charset="0"/>
                <a:cs typeface="Courier New" panose="02070309020205020404" pitchFamily="49" charset="0"/>
              </a:rPr>
              <a:t>("\s+", Var):  </a:t>
            </a:r>
            <a:r>
              <a:rPr lang="en-US" sz="2400" b="1" dirty="0">
                <a:solidFill>
                  <a:schemeClr val="tx1">
                    <a:lumMod val="50000"/>
                    <a:lumOff val="50000"/>
                  </a:schemeClr>
                </a:solidFill>
                <a:latin typeface="Courier New" panose="02070309020205020404" pitchFamily="49" charset="0"/>
                <a:cs typeface="Courier New" panose="02070309020205020404" pitchFamily="49" charset="0"/>
              </a:rPr>
              <a:t>#1 or more whitespace</a:t>
            </a:r>
            <a:endParaRPr lang="en-US" sz="2400" b="1" dirty="0">
              <a:latin typeface="Courier New" panose="02070309020205020404" pitchFamily="49" charset="0"/>
              <a:cs typeface="Courier New" panose="02070309020205020404" pitchFamily="49" charset="0"/>
            </a:endParaRPr>
          </a:p>
        </p:txBody>
      </p:sp>
      <p:sp>
        <p:nvSpPr>
          <p:cNvPr id="6" name="TextBox 5">
            <a:extLst>
              <a:ext uri="{FF2B5EF4-FFF2-40B4-BE49-F238E27FC236}">
                <a16:creationId xmlns:a16="http://schemas.microsoft.com/office/drawing/2014/main" id="{E21EEEB6-68F6-1547-A13E-639E53CDCE5B}"/>
              </a:ext>
            </a:extLst>
          </p:cNvPr>
          <p:cNvSpPr txBox="1"/>
          <p:nvPr/>
        </p:nvSpPr>
        <p:spPr>
          <a:xfrm>
            <a:off x="460269" y="3482291"/>
            <a:ext cx="3623108" cy="523220"/>
          </a:xfrm>
          <a:prstGeom prst="rect">
            <a:avLst/>
          </a:prstGeom>
          <a:noFill/>
        </p:spPr>
        <p:txBody>
          <a:bodyPr wrap="none" rtlCol="0">
            <a:spAutoFit/>
          </a:bodyPr>
          <a:lstStyle/>
          <a:p>
            <a:r>
              <a:rPr lang="en-US" sz="2800" dirty="0">
                <a:latin typeface="Helvetica Light" panose="020B0403020202020204" pitchFamily="34" charset="0"/>
              </a:rPr>
              <a:t>Example expressions</a:t>
            </a:r>
          </a:p>
        </p:txBody>
      </p:sp>
    </p:spTree>
    <p:extLst>
      <p:ext uri="{BB962C8B-B14F-4D97-AF65-F5344CB8AC3E}">
        <p14:creationId xmlns:p14="http://schemas.microsoft.com/office/powerpoint/2010/main" val="27739369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083A82E-72E2-914E-92E2-18175FEB8BFD}"/>
              </a:ext>
            </a:extLst>
          </p:cNvPr>
          <p:cNvSpPr/>
          <p:nvPr/>
        </p:nvSpPr>
        <p:spPr>
          <a:xfrm>
            <a:off x="460269" y="1125176"/>
            <a:ext cx="10701576" cy="4493538"/>
          </a:xfrm>
          <a:prstGeom prst="rect">
            <a:avLst/>
          </a:prstGeom>
          <a:ln>
            <a:solidFill>
              <a:schemeClr val="tx1"/>
            </a:solidFill>
          </a:ln>
        </p:spPr>
        <p:txBody>
          <a:bodyPr wrap="square">
            <a:spAutoFit/>
          </a:bodyPr>
          <a:lstStyle/>
          <a:p>
            <a:r>
              <a:rPr lang="en-US" sz="2600" b="1" dirty="0">
                <a:latin typeface="Courier New" panose="02070309020205020404" pitchFamily="49" charset="0"/>
                <a:cs typeface="Courier New" panose="02070309020205020404" pitchFamily="49" charset="0"/>
              </a:rPr>
              <a:t>import re</a:t>
            </a:r>
            <a:r>
              <a:rPr lang="en-US" sz="2600" b="1" dirty="0">
                <a:solidFill>
                  <a:schemeClr val="tx1">
                    <a:lumMod val="65000"/>
                    <a:lumOff val="35000"/>
                  </a:schemeClr>
                </a:solidFill>
                <a:latin typeface="Courier New" panose="02070309020205020404" pitchFamily="49" charset="0"/>
                <a:cs typeface="Courier New" panose="02070309020205020404" pitchFamily="49" charset="0"/>
              </a:rPr>
              <a:t>	</a:t>
            </a:r>
          </a:p>
          <a:p>
            <a:endParaRPr lang="en-US" sz="2600" b="1" dirty="0">
              <a:solidFill>
                <a:schemeClr val="tx1">
                  <a:lumMod val="65000"/>
                  <a:lumOff val="35000"/>
                </a:schemeClr>
              </a:solidFill>
              <a:latin typeface="Courier New" panose="02070309020205020404" pitchFamily="49" charset="0"/>
              <a:cs typeface="Courier New" panose="02070309020205020404" pitchFamily="49" charset="0"/>
            </a:endParaRPr>
          </a:p>
          <a:p>
            <a:endParaRPr lang="en-US" sz="2600" b="1" dirty="0">
              <a:latin typeface="Courier New" panose="02070309020205020404" pitchFamily="49" charset="0"/>
              <a:cs typeface="Courier New" panose="02070309020205020404" pitchFamily="49" charset="0"/>
            </a:endParaRPr>
          </a:p>
          <a:p>
            <a:r>
              <a:rPr lang="en-US" sz="2600" b="1" dirty="0">
                <a:latin typeface="Courier New" panose="02070309020205020404" pitchFamily="49" charset="0"/>
                <a:cs typeface="Courier New" panose="02070309020205020404" pitchFamily="49" charset="0"/>
              </a:rPr>
              <a:t>if </a:t>
            </a:r>
            <a:r>
              <a:rPr lang="en-US" sz="2600" b="1" dirty="0" err="1">
                <a:latin typeface="Courier New" panose="02070309020205020404" pitchFamily="49" charset="0"/>
                <a:cs typeface="Courier New" panose="02070309020205020404" pitchFamily="49" charset="0"/>
              </a:rPr>
              <a:t>re.search</a:t>
            </a:r>
            <a:r>
              <a:rPr lang="en-US" sz="2600" b="1" dirty="0">
                <a:latin typeface="Courier New" panose="02070309020205020404" pitchFamily="49" charset="0"/>
                <a:cs typeface="Courier New" panose="02070309020205020404" pitchFamily="49" charset="0"/>
              </a:rPr>
              <a:t>("^&gt;", Line):	# beginning anchor</a:t>
            </a:r>
          </a:p>
          <a:p>
            <a:r>
              <a:rPr lang="en-US" sz="2600" b="1" dirty="0">
                <a:latin typeface="Courier New" panose="02070309020205020404" pitchFamily="49" charset="0"/>
                <a:cs typeface="Courier New" panose="02070309020205020404" pitchFamily="49" charset="0"/>
              </a:rPr>
              <a:t>	</a:t>
            </a:r>
            <a:r>
              <a:rPr lang="en-US" sz="2600" b="1" dirty="0" err="1">
                <a:latin typeface="Courier New" panose="02070309020205020404" pitchFamily="49" charset="0"/>
                <a:cs typeface="Courier New" panose="02070309020205020404" pitchFamily="49" charset="0"/>
              </a:rPr>
              <a:t>OUT.write</a:t>
            </a:r>
            <a:r>
              <a:rPr lang="en-US" sz="2600" b="1" dirty="0">
                <a:latin typeface="Courier New" panose="02070309020205020404" pitchFamily="49" charset="0"/>
                <a:cs typeface="Courier New" panose="02070309020205020404" pitchFamily="49" charset="0"/>
              </a:rPr>
              <a:t>("Line starts with &gt; \n")</a:t>
            </a:r>
          </a:p>
          <a:p>
            <a:endParaRPr lang="en-US" sz="2600" b="1" dirty="0">
              <a:latin typeface="Courier New" panose="02070309020205020404" pitchFamily="49" charset="0"/>
              <a:cs typeface="Courier New" panose="02070309020205020404" pitchFamily="49" charset="0"/>
            </a:endParaRPr>
          </a:p>
          <a:p>
            <a:r>
              <a:rPr lang="en-US" sz="2600" b="1" dirty="0" err="1">
                <a:latin typeface="Courier New" panose="02070309020205020404" pitchFamily="49" charset="0"/>
                <a:cs typeface="Courier New" panose="02070309020205020404" pitchFamily="49" charset="0"/>
              </a:rPr>
              <a:t>elif</a:t>
            </a:r>
            <a:r>
              <a:rPr lang="en-US" sz="2600" b="1" dirty="0">
                <a:latin typeface="Courier New" panose="02070309020205020404" pitchFamily="49" charset="0"/>
                <a:cs typeface="Courier New" panose="02070309020205020404" pitchFamily="49" charset="0"/>
              </a:rPr>
              <a:t> </a:t>
            </a:r>
            <a:r>
              <a:rPr lang="en-US" sz="2600" b="1" dirty="0" err="1">
                <a:latin typeface="Courier New" panose="02070309020205020404" pitchFamily="49" charset="0"/>
                <a:cs typeface="Courier New" panose="02070309020205020404" pitchFamily="49" charset="0"/>
              </a:rPr>
              <a:t>re.search</a:t>
            </a:r>
            <a:r>
              <a:rPr lang="en-US" sz="2600" b="1" dirty="0">
                <a:latin typeface="Courier New" panose="02070309020205020404" pitchFamily="49" charset="0"/>
                <a:cs typeface="Courier New" panose="02070309020205020404" pitchFamily="49" charset="0"/>
              </a:rPr>
              <a:t>([ATCG], Line):</a:t>
            </a:r>
          </a:p>
          <a:p>
            <a:r>
              <a:rPr lang="en-US" sz="2600" b="1" dirty="0">
                <a:latin typeface="Courier New" panose="02070309020205020404" pitchFamily="49" charset="0"/>
                <a:cs typeface="Courier New" panose="02070309020205020404" pitchFamily="49" charset="0"/>
              </a:rPr>
              <a:t>	</a:t>
            </a:r>
            <a:r>
              <a:rPr lang="en-US" sz="2600" b="1" dirty="0" err="1">
                <a:latin typeface="Courier New" panose="02070309020205020404" pitchFamily="49" charset="0"/>
                <a:cs typeface="Courier New" panose="02070309020205020404" pitchFamily="49" charset="0"/>
              </a:rPr>
              <a:t>OUT.write</a:t>
            </a:r>
            <a:r>
              <a:rPr lang="en-US" sz="2600" b="1" dirty="0">
                <a:latin typeface="Courier New" panose="02070309020205020404" pitchFamily="49" charset="0"/>
                <a:cs typeface="Courier New" panose="02070309020205020404" pitchFamily="49" charset="0"/>
              </a:rPr>
              <a:t>("Line contains DNA sequence\n")</a:t>
            </a:r>
          </a:p>
          <a:p>
            <a:endParaRPr lang="en-US" sz="2600" b="1" dirty="0">
              <a:latin typeface="Courier New" panose="02070309020205020404" pitchFamily="49" charset="0"/>
              <a:cs typeface="Courier New" panose="02070309020205020404" pitchFamily="49" charset="0"/>
            </a:endParaRPr>
          </a:p>
          <a:p>
            <a:r>
              <a:rPr lang="en-US" sz="2600" b="1" dirty="0">
                <a:latin typeface="Courier New" panose="02070309020205020404" pitchFamily="49" charset="0"/>
                <a:cs typeface="Courier New" panose="02070309020205020404" pitchFamily="49" charset="0"/>
              </a:rPr>
              <a:t>	</a:t>
            </a:r>
          </a:p>
          <a:p>
            <a:endParaRPr lang="en-US" sz="2600" b="1" dirty="0">
              <a:latin typeface="Courier New" panose="02070309020205020404" pitchFamily="49" charset="0"/>
              <a:cs typeface="Courier New" panose="02070309020205020404" pitchFamily="49" charset="0"/>
            </a:endParaRPr>
          </a:p>
        </p:txBody>
      </p:sp>
      <p:sp>
        <p:nvSpPr>
          <p:cNvPr id="3" name="TextBox 2">
            <a:extLst>
              <a:ext uri="{FF2B5EF4-FFF2-40B4-BE49-F238E27FC236}">
                <a16:creationId xmlns:a16="http://schemas.microsoft.com/office/drawing/2014/main" id="{83AA738A-121B-9446-BC76-ACA0223DC19D}"/>
              </a:ext>
            </a:extLst>
          </p:cNvPr>
          <p:cNvSpPr txBox="1"/>
          <p:nvPr/>
        </p:nvSpPr>
        <p:spPr>
          <a:xfrm>
            <a:off x="2771603" y="157655"/>
            <a:ext cx="6529352" cy="553998"/>
          </a:xfrm>
          <a:prstGeom prst="rect">
            <a:avLst/>
          </a:prstGeom>
          <a:noFill/>
        </p:spPr>
        <p:txBody>
          <a:bodyPr wrap="none" rtlCol="0">
            <a:spAutoFit/>
          </a:bodyPr>
          <a:lstStyle/>
          <a:p>
            <a:r>
              <a:rPr lang="en-US" sz="3000" b="1" dirty="0" err="1">
                <a:latin typeface="Courier New" panose="02070309020205020404" pitchFamily="49" charset="0"/>
                <a:cs typeface="Courier New" panose="02070309020205020404" pitchFamily="49" charset="0"/>
              </a:rPr>
              <a:t>re.search</a:t>
            </a:r>
            <a:r>
              <a:rPr lang="en-US" sz="3000" b="1" dirty="0">
                <a:latin typeface="Courier New" panose="02070309020205020404" pitchFamily="49" charset="0"/>
                <a:cs typeface="Courier New" panose="02070309020205020404" pitchFamily="49" charset="0"/>
              </a:rPr>
              <a:t> </a:t>
            </a:r>
            <a:r>
              <a:rPr lang="en-US" sz="3000" dirty="0">
                <a:latin typeface="Helvetica Light" panose="020B0403020202020204" pitchFamily="34" charset="0"/>
              </a:rPr>
              <a:t>example actions/syntax</a:t>
            </a:r>
            <a:endParaRPr lang="en-US" sz="3000" b="1" dirty="0">
              <a:latin typeface="Helvetica Light" panose="020B0403020202020204" pitchFamily="34" charset="0"/>
            </a:endParaRPr>
          </a:p>
        </p:txBody>
      </p:sp>
    </p:spTree>
    <p:extLst>
      <p:ext uri="{BB962C8B-B14F-4D97-AF65-F5344CB8AC3E}">
        <p14:creationId xmlns:p14="http://schemas.microsoft.com/office/powerpoint/2010/main" val="31957569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A3C5010-717B-2C4D-B3B5-874FBDD8744E}"/>
              </a:ext>
            </a:extLst>
          </p:cNvPr>
          <p:cNvSpPr txBox="1"/>
          <p:nvPr/>
        </p:nvSpPr>
        <p:spPr>
          <a:xfrm>
            <a:off x="2849758" y="531341"/>
            <a:ext cx="6492483" cy="584775"/>
          </a:xfrm>
          <a:prstGeom prst="rect">
            <a:avLst/>
          </a:prstGeom>
          <a:noFill/>
        </p:spPr>
        <p:txBody>
          <a:bodyPr wrap="none" rtlCol="0">
            <a:spAutoFit/>
          </a:bodyPr>
          <a:lstStyle/>
          <a:p>
            <a:r>
              <a:rPr lang="en-US" sz="3200" dirty="0">
                <a:latin typeface="Helvetica Light" panose="020B0403020202020204" pitchFamily="34" charset="0"/>
              </a:rPr>
              <a:t>List of Hints for assignment scripts</a:t>
            </a:r>
          </a:p>
        </p:txBody>
      </p:sp>
      <p:sp>
        <p:nvSpPr>
          <p:cNvPr id="3" name="TextBox 2">
            <a:extLst>
              <a:ext uri="{FF2B5EF4-FFF2-40B4-BE49-F238E27FC236}">
                <a16:creationId xmlns:a16="http://schemas.microsoft.com/office/drawing/2014/main" id="{546DD76A-D3C7-844A-BB27-655B907CA610}"/>
              </a:ext>
            </a:extLst>
          </p:cNvPr>
          <p:cNvSpPr txBox="1"/>
          <p:nvPr/>
        </p:nvSpPr>
        <p:spPr>
          <a:xfrm>
            <a:off x="560870" y="1555907"/>
            <a:ext cx="11312684" cy="892552"/>
          </a:xfrm>
          <a:prstGeom prst="rect">
            <a:avLst/>
          </a:prstGeom>
          <a:noFill/>
        </p:spPr>
        <p:txBody>
          <a:bodyPr wrap="square" rtlCol="0">
            <a:spAutoFit/>
          </a:bodyPr>
          <a:lstStyle/>
          <a:p>
            <a:r>
              <a:rPr lang="en-US" sz="2600" b="1" dirty="0">
                <a:latin typeface="Helvetica Light" panose="020B0403020202020204" pitchFamily="34" charset="0"/>
              </a:rPr>
              <a:t># 2. </a:t>
            </a:r>
            <a:r>
              <a:rPr lang="en-US" sz="2600" dirty="0">
                <a:latin typeface="Helvetica Light" panose="020B0403020202020204" pitchFamily="34" charset="0"/>
              </a:rPr>
              <a:t>Read file one line at a time, use if statement, and build list using .append() (Look at python_2_primer.ipynb, and python_3_primer.ipynb)</a:t>
            </a:r>
          </a:p>
        </p:txBody>
      </p:sp>
      <p:sp>
        <p:nvSpPr>
          <p:cNvPr id="4" name="TextBox 3">
            <a:extLst>
              <a:ext uri="{FF2B5EF4-FFF2-40B4-BE49-F238E27FC236}">
                <a16:creationId xmlns:a16="http://schemas.microsoft.com/office/drawing/2014/main" id="{B5B737DD-0BC5-404A-986A-3C05ED2CAADB}"/>
              </a:ext>
            </a:extLst>
          </p:cNvPr>
          <p:cNvSpPr txBox="1"/>
          <p:nvPr/>
        </p:nvSpPr>
        <p:spPr>
          <a:xfrm>
            <a:off x="560870" y="3100379"/>
            <a:ext cx="11312684" cy="3293209"/>
          </a:xfrm>
          <a:prstGeom prst="rect">
            <a:avLst/>
          </a:prstGeom>
          <a:noFill/>
        </p:spPr>
        <p:txBody>
          <a:bodyPr wrap="square" rtlCol="0">
            <a:spAutoFit/>
          </a:bodyPr>
          <a:lstStyle/>
          <a:p>
            <a:r>
              <a:rPr lang="en-US" sz="2600" b="1" dirty="0">
                <a:latin typeface="Helvetica Light" panose="020B0403020202020204" pitchFamily="34" charset="0"/>
              </a:rPr>
              <a:t># 3. </a:t>
            </a:r>
            <a:r>
              <a:rPr lang="en-US" sz="2600" dirty="0">
                <a:latin typeface="Helvetica Light" panose="020B0403020202020204" pitchFamily="34" charset="0"/>
              </a:rPr>
              <a:t>	</a:t>
            </a:r>
          </a:p>
          <a:p>
            <a:r>
              <a:rPr lang="en-US" sz="2600" dirty="0">
                <a:latin typeface="Helvetica Light" panose="020B0403020202020204" pitchFamily="34" charset="0"/>
              </a:rPr>
              <a:t>-   remember that </a:t>
            </a:r>
            <a:r>
              <a:rPr lang="en-US" sz="2600" dirty="0" err="1">
                <a:latin typeface="Helvetica Light" panose="020B0403020202020204" pitchFamily="34" charset="0"/>
              </a:rPr>
              <a:t>str.count</a:t>
            </a:r>
            <a:r>
              <a:rPr lang="en-US" sz="2600" dirty="0">
                <a:latin typeface="Helvetica Light" panose="020B0403020202020204" pitchFamily="34" charset="0"/>
              </a:rPr>
              <a:t>(‘C’) will count Cs in a string</a:t>
            </a:r>
          </a:p>
          <a:p>
            <a:pPr marL="457200" indent="-457200">
              <a:buFontTx/>
              <a:buChar char="-"/>
            </a:pPr>
            <a:r>
              <a:rPr lang="en-US" sz="2600" dirty="0">
                <a:latin typeface="Helvetica Light" panose="020B0403020202020204" pitchFamily="34" charset="0"/>
              </a:rPr>
              <a:t>to increment number of lines in loop, initialize variable to 1 outside loop</a:t>
            </a:r>
          </a:p>
          <a:p>
            <a:pPr marL="457200" indent="-457200">
              <a:buFontTx/>
              <a:buChar char="-"/>
            </a:pPr>
            <a:r>
              <a:rPr lang="en-US" sz="2600" dirty="0">
                <a:latin typeface="Helvetica Light" panose="020B0403020202020204" pitchFamily="34" charset="0"/>
              </a:rPr>
              <a:t>You can initialize an empty array outside of a loop: </a:t>
            </a:r>
            <a:r>
              <a:rPr lang="en-US" sz="2600" b="1" dirty="0" err="1">
                <a:latin typeface="Courier New" panose="02070309020205020404" pitchFamily="49" charset="0"/>
                <a:cs typeface="Courier New" panose="02070309020205020404" pitchFamily="49" charset="0"/>
              </a:rPr>
              <a:t>Nlist</a:t>
            </a:r>
            <a:r>
              <a:rPr lang="en-US" sz="2600" b="1" dirty="0">
                <a:latin typeface="Courier New" panose="02070309020205020404" pitchFamily="49" charset="0"/>
                <a:cs typeface="Courier New" panose="02070309020205020404" pitchFamily="49" charset="0"/>
              </a:rPr>
              <a:t>=[]</a:t>
            </a:r>
          </a:p>
          <a:p>
            <a:pPr marL="457200" indent="-457200">
              <a:buFontTx/>
              <a:buChar char="-"/>
            </a:pPr>
            <a:r>
              <a:rPr lang="en-US" sz="2600" dirty="0">
                <a:latin typeface="Helvetica Light" panose="020B0403020202020204" pitchFamily="34" charset="0"/>
                <a:cs typeface="Courier New" panose="02070309020205020404" pitchFamily="49" charset="0"/>
              </a:rPr>
              <a:t>Build running totals within a loop: </a:t>
            </a:r>
            <a:r>
              <a:rPr lang="en-US" sz="2600" b="1" dirty="0" err="1">
                <a:latin typeface="Courier New" panose="02070309020205020404" pitchFamily="49" charset="0"/>
                <a:cs typeface="Courier New" panose="02070309020205020404" pitchFamily="49" charset="0"/>
              </a:rPr>
              <a:t>TotalC</a:t>
            </a:r>
            <a:r>
              <a:rPr lang="en-US" sz="2600" b="1" dirty="0">
                <a:latin typeface="Courier New" panose="02070309020205020404" pitchFamily="49" charset="0"/>
                <a:cs typeface="Courier New" panose="02070309020205020404" pitchFamily="49" charset="0"/>
              </a:rPr>
              <a:t> += </a:t>
            </a:r>
            <a:r>
              <a:rPr lang="en-US" sz="2600" b="1" dirty="0" err="1">
                <a:latin typeface="Courier New" panose="02070309020205020404" pitchFamily="49" charset="0"/>
                <a:cs typeface="Courier New" panose="02070309020205020404" pitchFamily="49" charset="0"/>
              </a:rPr>
              <a:t>Ccount</a:t>
            </a:r>
            <a:endParaRPr lang="en-US" sz="2600" b="1" dirty="0">
              <a:latin typeface="Courier New" panose="02070309020205020404" pitchFamily="49" charset="0"/>
              <a:cs typeface="Courier New" panose="02070309020205020404" pitchFamily="49" charset="0"/>
            </a:endParaRPr>
          </a:p>
          <a:p>
            <a:pPr marL="457200" indent="-457200">
              <a:buFontTx/>
              <a:buChar char="-"/>
            </a:pPr>
            <a:r>
              <a:rPr lang="en-US" sz="2600" dirty="0">
                <a:latin typeface="Helvetica Light" panose="020B0403020202020204" pitchFamily="34" charset="0"/>
                <a:cs typeface="Courier New" panose="02070309020205020404" pitchFamily="49" charset="0"/>
              </a:rPr>
              <a:t>To calculate GC content for the entire file, you will want to use these running totals of C counts, G counts, and total sequence length, and perform this calculation </a:t>
            </a:r>
            <a:r>
              <a:rPr lang="en-US" sz="2600" b="1" i="1" dirty="0">
                <a:latin typeface="Helvetica Light" panose="020B0403020202020204" pitchFamily="34" charset="0"/>
                <a:cs typeface="Courier New" panose="02070309020205020404" pitchFamily="49" charset="0"/>
              </a:rPr>
              <a:t>outside</a:t>
            </a:r>
            <a:r>
              <a:rPr lang="en-US" sz="2600" dirty="0">
                <a:latin typeface="Helvetica Light" panose="020B0403020202020204" pitchFamily="34" charset="0"/>
                <a:cs typeface="Courier New" panose="02070309020205020404" pitchFamily="49" charset="0"/>
              </a:rPr>
              <a:t> your </a:t>
            </a:r>
            <a:r>
              <a:rPr lang="en-US" sz="2600" b="1" dirty="0">
                <a:latin typeface="Courier New" panose="02070309020205020404" pitchFamily="49" charset="0"/>
                <a:cs typeface="Courier New" panose="02070309020205020404" pitchFamily="49" charset="0"/>
              </a:rPr>
              <a:t>for</a:t>
            </a:r>
            <a:r>
              <a:rPr lang="en-US" sz="2600" dirty="0">
                <a:latin typeface="Helvetica Light" panose="020B0403020202020204" pitchFamily="34" charset="0"/>
                <a:cs typeface="Courier New" panose="02070309020205020404" pitchFamily="49" charset="0"/>
              </a:rPr>
              <a:t> loop.</a:t>
            </a:r>
          </a:p>
        </p:txBody>
      </p:sp>
    </p:spTree>
    <p:extLst>
      <p:ext uri="{BB962C8B-B14F-4D97-AF65-F5344CB8AC3E}">
        <p14:creationId xmlns:p14="http://schemas.microsoft.com/office/powerpoint/2010/main" val="32425996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618579B-6660-B240-98F5-B74E245BB00A}"/>
              </a:ext>
            </a:extLst>
          </p:cNvPr>
          <p:cNvSpPr/>
          <p:nvPr/>
        </p:nvSpPr>
        <p:spPr>
          <a:xfrm>
            <a:off x="543635" y="1175392"/>
            <a:ext cx="11104729" cy="2123658"/>
          </a:xfrm>
          <a:prstGeom prst="rect">
            <a:avLst/>
          </a:prstGeom>
        </p:spPr>
        <p:txBody>
          <a:bodyPr wrap="square">
            <a:spAutoFit/>
          </a:bodyPr>
          <a:lstStyle/>
          <a:p>
            <a:r>
              <a:rPr lang="en-US" sz="2200" dirty="0">
                <a:latin typeface="Menlo" panose="020B0609030804020204" pitchFamily="49" charset="0"/>
              </a:rPr>
              <a:t>&gt;AT1G68260.1_i1_204_CDS</a:t>
            </a:r>
          </a:p>
          <a:p>
            <a:r>
              <a:rPr lang="en-US" sz="2200" dirty="0">
                <a:latin typeface="Menlo" panose="020B0609030804020204" pitchFamily="49" charset="0"/>
              </a:rPr>
              <a:t>GTATACACATCTCTCTACTTTCATATTTTGCATCTCTAACGAAATCGGATTCCGTCGTTGTGAA&gt;AT1G68260.1_i2_457_CDS</a:t>
            </a:r>
          </a:p>
          <a:p>
            <a:r>
              <a:rPr lang="en-US" sz="2200" dirty="0">
                <a:latin typeface="Menlo" panose="020B0609030804020204" pitchFamily="49" charset="0"/>
              </a:rPr>
              <a:t>GTTAGTTTTCAATGTTGCTGCTTCTGATTGTTGAAAGTGTTCATACATTTGTGAATTTAGTTG&gt;&gt;AT1G68260.1_i3_1286_CDS</a:t>
            </a:r>
          </a:p>
          <a:p>
            <a:r>
              <a:rPr lang="en-US" sz="2200" dirty="0">
                <a:latin typeface="Menlo" panose="020B0609030804020204" pitchFamily="49" charset="0"/>
              </a:rPr>
              <a:t>GTAATAATAACGTCCCTCTTCTTCCTCAACTTAGTTCCTGTCCTCACATTATGCCATATATTC</a:t>
            </a:r>
          </a:p>
        </p:txBody>
      </p:sp>
      <p:sp>
        <p:nvSpPr>
          <p:cNvPr id="3" name="TextBox 2">
            <a:extLst>
              <a:ext uri="{FF2B5EF4-FFF2-40B4-BE49-F238E27FC236}">
                <a16:creationId xmlns:a16="http://schemas.microsoft.com/office/drawing/2014/main" id="{8B16D7EF-4073-6642-890C-7EF6C3625570}"/>
              </a:ext>
            </a:extLst>
          </p:cNvPr>
          <p:cNvSpPr txBox="1"/>
          <p:nvPr/>
        </p:nvSpPr>
        <p:spPr>
          <a:xfrm>
            <a:off x="7451677" y="719098"/>
            <a:ext cx="3999813" cy="738664"/>
          </a:xfrm>
          <a:prstGeom prst="rect">
            <a:avLst/>
          </a:prstGeom>
          <a:noFill/>
        </p:spPr>
        <p:txBody>
          <a:bodyPr wrap="none" rtlCol="0">
            <a:spAutoFit/>
          </a:bodyPr>
          <a:lstStyle/>
          <a:p>
            <a:r>
              <a:rPr lang="en-US" sz="2400" dirty="0">
                <a:latin typeface="Helvetica Light" panose="020B0403020202020204" pitchFamily="34" charset="0"/>
              </a:rPr>
              <a:t>no60_intron_IME_data.fasta</a:t>
            </a:r>
          </a:p>
          <a:p>
            <a:endParaRPr lang="en-US" dirty="0"/>
          </a:p>
        </p:txBody>
      </p:sp>
      <p:sp>
        <p:nvSpPr>
          <p:cNvPr id="6" name="TextBox 5">
            <a:extLst>
              <a:ext uri="{FF2B5EF4-FFF2-40B4-BE49-F238E27FC236}">
                <a16:creationId xmlns:a16="http://schemas.microsoft.com/office/drawing/2014/main" id="{1CD3AF72-BEA8-C144-9D2C-6071284A5CD5}"/>
              </a:ext>
            </a:extLst>
          </p:cNvPr>
          <p:cNvSpPr txBox="1"/>
          <p:nvPr/>
        </p:nvSpPr>
        <p:spPr>
          <a:xfrm>
            <a:off x="577050" y="3576049"/>
            <a:ext cx="11226150" cy="461665"/>
          </a:xfrm>
          <a:prstGeom prst="rect">
            <a:avLst/>
          </a:prstGeom>
          <a:noFill/>
        </p:spPr>
        <p:txBody>
          <a:bodyPr wrap="none" rtlCol="0">
            <a:spAutoFit/>
          </a:bodyPr>
          <a:lstStyle/>
          <a:p>
            <a:r>
              <a:rPr lang="en-US" sz="2400" b="1" dirty="0">
                <a:latin typeface="Helvetica Light" panose="020B0403020202020204" pitchFamily="34" charset="0"/>
              </a:rPr>
              <a:t>If</a:t>
            </a:r>
            <a:r>
              <a:rPr lang="en-US" sz="2400" dirty="0">
                <a:latin typeface="Helvetica Light" panose="020B0403020202020204" pitchFamily="34" charset="0"/>
              </a:rPr>
              <a:t> line matches </a:t>
            </a:r>
            <a:r>
              <a:rPr lang="en-US" sz="2400" b="1" dirty="0">
                <a:latin typeface="Courier New" panose="02070309020205020404" pitchFamily="49" charset="0"/>
                <a:cs typeface="Courier New" panose="02070309020205020404" pitchFamily="49" charset="0"/>
              </a:rPr>
              <a:t>^&gt;</a:t>
            </a:r>
            <a:r>
              <a:rPr lang="en-US" sz="2400" dirty="0">
                <a:latin typeface="Courier New" panose="02070309020205020404" pitchFamily="49" charset="0"/>
                <a:cs typeface="Courier New" panose="02070309020205020404" pitchFamily="49" charset="0"/>
              </a:rPr>
              <a:t> </a:t>
            </a:r>
            <a:r>
              <a:rPr lang="en-US" sz="2400" dirty="0">
                <a:latin typeface="Helvetica Light" panose="020B0403020202020204" pitchFamily="34" charset="0"/>
              </a:rPr>
              <a:t>do one thing, </a:t>
            </a:r>
            <a:r>
              <a:rPr lang="en-US" sz="2400" b="1" dirty="0" err="1">
                <a:latin typeface="Helvetica Light" panose="020B0403020202020204" pitchFamily="34" charset="0"/>
              </a:rPr>
              <a:t>elif</a:t>
            </a:r>
            <a:r>
              <a:rPr lang="en-US" sz="2400" dirty="0">
                <a:latin typeface="Helvetica Light" panose="020B0403020202020204" pitchFamily="34" charset="0"/>
              </a:rPr>
              <a:t> line matches </a:t>
            </a:r>
            <a:r>
              <a:rPr lang="en-US" sz="2400" b="1" dirty="0">
                <a:latin typeface="Courier New" panose="02070309020205020404" pitchFamily="49" charset="0"/>
                <a:cs typeface="Courier New" panose="02070309020205020404" pitchFamily="49" charset="0"/>
              </a:rPr>
              <a:t>[GCTA] </a:t>
            </a:r>
            <a:r>
              <a:rPr lang="en-US" sz="2400" dirty="0">
                <a:latin typeface="Helvetica Light" panose="020B0403020202020204" pitchFamily="34" charset="0"/>
              </a:rPr>
              <a:t>do something else</a:t>
            </a:r>
          </a:p>
        </p:txBody>
      </p:sp>
      <p:sp>
        <p:nvSpPr>
          <p:cNvPr id="7" name="Rectangle 6">
            <a:extLst>
              <a:ext uri="{FF2B5EF4-FFF2-40B4-BE49-F238E27FC236}">
                <a16:creationId xmlns:a16="http://schemas.microsoft.com/office/drawing/2014/main" id="{D980D080-0EAB-234B-ACD1-028F2B2D2D63}"/>
              </a:ext>
            </a:extLst>
          </p:cNvPr>
          <p:cNvSpPr/>
          <p:nvPr/>
        </p:nvSpPr>
        <p:spPr>
          <a:xfrm>
            <a:off x="1091820" y="5232672"/>
            <a:ext cx="10008357" cy="923330"/>
          </a:xfrm>
          <a:prstGeom prst="rect">
            <a:avLst/>
          </a:prstGeom>
        </p:spPr>
        <p:txBody>
          <a:bodyPr wrap="square">
            <a:spAutoFit/>
          </a:bodyPr>
          <a:lstStyle/>
          <a:p>
            <a:r>
              <a:rPr lang="en-US" dirty="0">
                <a:latin typeface="Menlo" panose="020B0609030804020204" pitchFamily="49" charset="0"/>
              </a:rPr>
              <a:t>&gt;AT1G68260.1_i1_204_CDS, Sequence length: 152, GC content: 0.355263 </a:t>
            </a:r>
          </a:p>
          <a:p>
            <a:r>
              <a:rPr lang="en-US" dirty="0">
                <a:latin typeface="Menlo" panose="020B0609030804020204" pitchFamily="49" charset="0"/>
              </a:rPr>
              <a:t>&gt;AT1G68260.1_i2_457_CDS, Sequence length: 719, GC content: 0.350487 </a:t>
            </a:r>
          </a:p>
          <a:p>
            <a:r>
              <a:rPr lang="en-US" dirty="0">
                <a:latin typeface="Menlo" panose="020B0609030804020204" pitchFamily="49" charset="0"/>
              </a:rPr>
              <a:t>&gt;AT1G68260.1_i3_1286_CDS, Sequence length: 82, GC content: 0.365854 </a:t>
            </a:r>
            <a:endParaRPr lang="en-US" dirty="0">
              <a:effectLst/>
              <a:latin typeface="Menlo" panose="020B0609030804020204" pitchFamily="49" charset="0"/>
            </a:endParaRPr>
          </a:p>
        </p:txBody>
      </p:sp>
      <p:sp>
        <p:nvSpPr>
          <p:cNvPr id="8" name="TextBox 7">
            <a:extLst>
              <a:ext uri="{FF2B5EF4-FFF2-40B4-BE49-F238E27FC236}">
                <a16:creationId xmlns:a16="http://schemas.microsoft.com/office/drawing/2014/main" id="{9A80FDF0-53C5-7B44-917C-57073608FE08}"/>
              </a:ext>
            </a:extLst>
          </p:cNvPr>
          <p:cNvSpPr txBox="1"/>
          <p:nvPr/>
        </p:nvSpPr>
        <p:spPr>
          <a:xfrm>
            <a:off x="543634" y="4494008"/>
            <a:ext cx="5848076" cy="461665"/>
          </a:xfrm>
          <a:prstGeom prst="rect">
            <a:avLst/>
          </a:prstGeom>
          <a:noFill/>
        </p:spPr>
        <p:txBody>
          <a:bodyPr wrap="none" rtlCol="0">
            <a:spAutoFit/>
          </a:bodyPr>
          <a:lstStyle/>
          <a:p>
            <a:r>
              <a:rPr lang="en-US" sz="2400" b="1" dirty="0">
                <a:latin typeface="Helvetica Light" panose="020B0403020202020204" pitchFamily="34" charset="0"/>
              </a:rPr>
              <a:t>Output should look something like below:</a:t>
            </a:r>
          </a:p>
        </p:txBody>
      </p:sp>
      <p:sp>
        <p:nvSpPr>
          <p:cNvPr id="9" name="TextBox 8">
            <a:extLst>
              <a:ext uri="{FF2B5EF4-FFF2-40B4-BE49-F238E27FC236}">
                <a16:creationId xmlns:a16="http://schemas.microsoft.com/office/drawing/2014/main" id="{B71E8611-8D95-A34A-A000-8B127C204642}"/>
              </a:ext>
            </a:extLst>
          </p:cNvPr>
          <p:cNvSpPr txBox="1"/>
          <p:nvPr/>
        </p:nvSpPr>
        <p:spPr>
          <a:xfrm>
            <a:off x="543634" y="332666"/>
            <a:ext cx="3382657" cy="738664"/>
          </a:xfrm>
          <a:prstGeom prst="rect">
            <a:avLst/>
          </a:prstGeom>
          <a:noFill/>
        </p:spPr>
        <p:txBody>
          <a:bodyPr wrap="none" rtlCol="0">
            <a:spAutoFit/>
          </a:bodyPr>
          <a:lstStyle/>
          <a:p>
            <a:r>
              <a:rPr lang="en-US" sz="2400" b="1" dirty="0">
                <a:latin typeface="Helvetica Light" panose="020B0403020202020204" pitchFamily="34" charset="0"/>
              </a:rPr>
              <a:t>Assignment problem 3:</a:t>
            </a:r>
          </a:p>
          <a:p>
            <a:endParaRPr lang="en-US" dirty="0"/>
          </a:p>
        </p:txBody>
      </p:sp>
    </p:spTree>
    <p:extLst>
      <p:ext uri="{BB962C8B-B14F-4D97-AF65-F5344CB8AC3E}">
        <p14:creationId xmlns:p14="http://schemas.microsoft.com/office/powerpoint/2010/main" val="690615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DA23610-0C33-6640-B8EE-C729216B0AB1}"/>
              </a:ext>
            </a:extLst>
          </p:cNvPr>
          <p:cNvSpPr txBox="1"/>
          <p:nvPr/>
        </p:nvSpPr>
        <p:spPr>
          <a:xfrm>
            <a:off x="4144183" y="216009"/>
            <a:ext cx="3903633" cy="600164"/>
          </a:xfrm>
          <a:prstGeom prst="rect">
            <a:avLst/>
          </a:prstGeom>
          <a:noFill/>
        </p:spPr>
        <p:txBody>
          <a:bodyPr wrap="none" rtlCol="0">
            <a:spAutoFit/>
          </a:bodyPr>
          <a:lstStyle/>
          <a:p>
            <a:r>
              <a:rPr lang="en-US" sz="3300" dirty="0">
                <a:latin typeface="Helvetica Light" panose="020B0403020202020204" pitchFamily="34" charset="0"/>
                <a:cs typeface="Courier New" panose="02070309020205020404" pitchFamily="49" charset="0"/>
              </a:rPr>
              <a:t>Initializing variables</a:t>
            </a:r>
            <a:endParaRPr lang="en-US" sz="3300" dirty="0">
              <a:latin typeface="Helvetica Light" panose="020B0403020202020204" pitchFamily="34" charset="0"/>
            </a:endParaRPr>
          </a:p>
        </p:txBody>
      </p:sp>
      <p:sp>
        <p:nvSpPr>
          <p:cNvPr id="3" name="TextBox 2">
            <a:extLst>
              <a:ext uri="{FF2B5EF4-FFF2-40B4-BE49-F238E27FC236}">
                <a16:creationId xmlns:a16="http://schemas.microsoft.com/office/drawing/2014/main" id="{86A6031A-1F47-1741-A772-CADB9AA79920}"/>
              </a:ext>
            </a:extLst>
          </p:cNvPr>
          <p:cNvSpPr txBox="1"/>
          <p:nvPr/>
        </p:nvSpPr>
        <p:spPr>
          <a:xfrm>
            <a:off x="797559" y="1159104"/>
            <a:ext cx="11293709" cy="954107"/>
          </a:xfrm>
          <a:prstGeom prst="rect">
            <a:avLst/>
          </a:prstGeom>
          <a:noFill/>
        </p:spPr>
        <p:txBody>
          <a:bodyPr wrap="square" rtlCol="0">
            <a:spAutoFit/>
          </a:bodyPr>
          <a:lstStyle/>
          <a:p>
            <a:r>
              <a:rPr lang="en-US" sz="2800" dirty="0">
                <a:latin typeface="Helvetica Light" panose="020B0403020202020204" pitchFamily="34" charset="0"/>
                <a:cs typeface="Courier New" panose="02070309020205020404" pitchFamily="49" charset="0"/>
              </a:rPr>
              <a:t>Variables that need to exist outside and within loops need to be </a:t>
            </a:r>
            <a:r>
              <a:rPr lang="en-US" sz="2800" b="1" dirty="0">
                <a:latin typeface="Helvetica Light" panose="020B0403020202020204" pitchFamily="34" charset="0"/>
                <a:cs typeface="Courier New" panose="02070309020205020404" pitchFamily="49" charset="0"/>
              </a:rPr>
              <a:t>initialized</a:t>
            </a:r>
            <a:r>
              <a:rPr lang="en-US" sz="2800" dirty="0">
                <a:latin typeface="Helvetica Light" panose="020B0403020202020204" pitchFamily="34" charset="0"/>
                <a:cs typeface="Courier New" panose="02070309020205020404" pitchFamily="49" charset="0"/>
              </a:rPr>
              <a:t> outside of the loop</a:t>
            </a:r>
            <a:endParaRPr lang="en-US" sz="2800" dirty="0">
              <a:latin typeface="Helvetica Light" panose="020B0403020202020204" pitchFamily="34" charset="0"/>
            </a:endParaRPr>
          </a:p>
        </p:txBody>
      </p:sp>
      <p:sp>
        <p:nvSpPr>
          <p:cNvPr id="4" name="Rectangle 3">
            <a:extLst>
              <a:ext uri="{FF2B5EF4-FFF2-40B4-BE49-F238E27FC236}">
                <a16:creationId xmlns:a16="http://schemas.microsoft.com/office/drawing/2014/main" id="{4BC21DE9-0EB1-154C-8376-B83768195ED7}"/>
              </a:ext>
            </a:extLst>
          </p:cNvPr>
          <p:cNvSpPr/>
          <p:nvPr/>
        </p:nvSpPr>
        <p:spPr>
          <a:xfrm>
            <a:off x="4794268" y="2456142"/>
            <a:ext cx="6051212" cy="2893100"/>
          </a:xfrm>
          <a:prstGeom prst="rect">
            <a:avLst/>
          </a:prstGeom>
          <a:ln>
            <a:solidFill>
              <a:schemeClr val="tx1"/>
            </a:solidFill>
          </a:ln>
        </p:spPr>
        <p:txBody>
          <a:bodyPr wrap="square">
            <a:spAutoFit/>
          </a:bodyPr>
          <a:lstStyle/>
          <a:p>
            <a:r>
              <a:rPr lang="en-US" sz="2600" b="1" dirty="0" err="1">
                <a:latin typeface="Courier New" panose="02070309020205020404" pitchFamily="49" charset="0"/>
                <a:cs typeface="Courier New" panose="02070309020205020404" pitchFamily="49" charset="0"/>
              </a:rPr>
              <a:t>SeqNo</a:t>
            </a:r>
            <a:r>
              <a:rPr lang="en-US" sz="2600" b="1" dirty="0">
                <a:latin typeface="Courier New" panose="02070309020205020404" pitchFamily="49" charset="0"/>
                <a:cs typeface="Courier New" panose="02070309020205020404" pitchFamily="49" charset="0"/>
              </a:rPr>
              <a:t> = 0</a:t>
            </a:r>
          </a:p>
          <a:p>
            <a:r>
              <a:rPr lang="en-US" sz="2600" b="1" dirty="0">
                <a:latin typeface="Courier New" panose="02070309020205020404" pitchFamily="49" charset="0"/>
                <a:cs typeface="Courier New" panose="02070309020205020404" pitchFamily="49" charset="0"/>
              </a:rPr>
              <a:t>TAT = 0</a:t>
            </a:r>
          </a:p>
          <a:p>
            <a:endParaRPr lang="en-US" sz="2600" b="1" dirty="0">
              <a:solidFill>
                <a:schemeClr val="tx1">
                  <a:lumMod val="65000"/>
                  <a:lumOff val="35000"/>
                </a:schemeClr>
              </a:solidFill>
              <a:latin typeface="Courier New" panose="02070309020205020404" pitchFamily="49" charset="0"/>
              <a:cs typeface="Courier New" panose="02070309020205020404" pitchFamily="49" charset="0"/>
            </a:endParaRPr>
          </a:p>
          <a:p>
            <a:r>
              <a:rPr lang="en-US" sz="2600" b="1" dirty="0">
                <a:latin typeface="Courier New" panose="02070309020205020404" pitchFamily="49" charset="0"/>
                <a:cs typeface="Courier New" panose="02070309020205020404" pitchFamily="49" charset="0"/>
              </a:rPr>
              <a:t>For Line in IN:</a:t>
            </a:r>
          </a:p>
          <a:p>
            <a:r>
              <a:rPr lang="en-US" sz="2600" b="1" dirty="0">
                <a:latin typeface="Courier New" panose="02070309020205020404" pitchFamily="49" charset="0"/>
                <a:cs typeface="Courier New" panose="02070309020205020404" pitchFamily="49" charset="0"/>
              </a:rPr>
              <a:t>	List = </a:t>
            </a:r>
            <a:r>
              <a:rPr lang="en-US" sz="2600" b="1" dirty="0" err="1">
                <a:latin typeface="Courier New" panose="02070309020205020404" pitchFamily="49" charset="0"/>
                <a:cs typeface="Courier New" panose="02070309020205020404" pitchFamily="49" charset="0"/>
              </a:rPr>
              <a:t>Line.split</a:t>
            </a:r>
            <a:r>
              <a:rPr lang="en-US" sz="2600" b="1" dirty="0">
                <a:latin typeface="Courier New" panose="02070309020205020404" pitchFamily="49" charset="0"/>
                <a:cs typeface="Courier New" panose="02070309020205020404" pitchFamily="49" charset="0"/>
              </a:rPr>
              <a:t>(“,“)</a:t>
            </a:r>
          </a:p>
          <a:p>
            <a:r>
              <a:rPr lang="en-US" sz="2600" b="1" dirty="0">
                <a:latin typeface="Courier New" panose="02070309020205020404" pitchFamily="49" charset="0"/>
                <a:cs typeface="Courier New" panose="02070309020205020404" pitchFamily="49" charset="0"/>
              </a:rPr>
              <a:t>	TAT += List[1]</a:t>
            </a:r>
          </a:p>
          <a:p>
            <a:r>
              <a:rPr lang="en-US" sz="2600" b="1" dirty="0">
                <a:latin typeface="Courier New" panose="02070309020205020404" pitchFamily="49" charset="0"/>
                <a:cs typeface="Courier New" panose="02070309020205020404" pitchFamily="49" charset="0"/>
              </a:rPr>
              <a:t>	</a:t>
            </a:r>
            <a:r>
              <a:rPr lang="en-US" sz="2600" b="1" dirty="0" err="1">
                <a:latin typeface="Courier New" panose="02070309020205020404" pitchFamily="49" charset="0"/>
                <a:cs typeface="Courier New" panose="02070309020205020404" pitchFamily="49" charset="0"/>
              </a:rPr>
              <a:t>SeqNo</a:t>
            </a:r>
            <a:r>
              <a:rPr lang="en-US" sz="2600" b="1" dirty="0">
                <a:latin typeface="Courier New" panose="02070309020205020404" pitchFamily="49" charset="0"/>
                <a:cs typeface="Courier New" panose="02070309020205020404" pitchFamily="49" charset="0"/>
              </a:rPr>
              <a:t> += 1</a:t>
            </a:r>
          </a:p>
        </p:txBody>
      </p:sp>
      <p:sp>
        <p:nvSpPr>
          <p:cNvPr id="5" name="TextBox 4">
            <a:extLst>
              <a:ext uri="{FF2B5EF4-FFF2-40B4-BE49-F238E27FC236}">
                <a16:creationId xmlns:a16="http://schemas.microsoft.com/office/drawing/2014/main" id="{A3DB8783-3ABF-1F4C-976B-61A869F43637}"/>
              </a:ext>
            </a:extLst>
          </p:cNvPr>
          <p:cNvSpPr txBox="1"/>
          <p:nvPr/>
        </p:nvSpPr>
        <p:spPr>
          <a:xfrm>
            <a:off x="696829" y="5848334"/>
            <a:ext cx="11293709" cy="523220"/>
          </a:xfrm>
          <a:prstGeom prst="rect">
            <a:avLst/>
          </a:prstGeom>
          <a:noFill/>
        </p:spPr>
        <p:txBody>
          <a:bodyPr wrap="square" rtlCol="0">
            <a:spAutoFit/>
          </a:bodyPr>
          <a:lstStyle/>
          <a:p>
            <a:r>
              <a:rPr lang="en-US" sz="2800" dirty="0">
                <a:latin typeface="Helvetica Light" panose="020B0403020202020204" pitchFamily="34" charset="0"/>
                <a:cs typeface="Courier New" panose="02070309020205020404" pitchFamily="49" charset="0"/>
              </a:rPr>
              <a:t>Variables assigned within the loop live and die within the loop</a:t>
            </a:r>
            <a:endParaRPr lang="en-US" sz="2800" dirty="0">
              <a:latin typeface="Helvetica Light" panose="020B0403020202020204" pitchFamily="34" charset="0"/>
            </a:endParaRPr>
          </a:p>
        </p:txBody>
      </p:sp>
      <p:cxnSp>
        <p:nvCxnSpPr>
          <p:cNvPr id="7" name="Straight Arrow Connector 6">
            <a:extLst>
              <a:ext uri="{FF2B5EF4-FFF2-40B4-BE49-F238E27FC236}">
                <a16:creationId xmlns:a16="http://schemas.microsoft.com/office/drawing/2014/main" id="{121D7742-3551-144C-97F1-E897491D0D9C}"/>
              </a:ext>
            </a:extLst>
          </p:cNvPr>
          <p:cNvCxnSpPr>
            <a:cxnSpLocks/>
          </p:cNvCxnSpPr>
          <p:nvPr/>
        </p:nvCxnSpPr>
        <p:spPr>
          <a:xfrm>
            <a:off x="3739243" y="3671906"/>
            <a:ext cx="1897628" cy="610728"/>
          </a:xfrm>
          <a:prstGeom prst="straightConnector1">
            <a:avLst/>
          </a:prstGeom>
          <a:ln w="25400">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93B0879B-E4CA-BE48-98D9-2D55B5806A5F}"/>
              </a:ext>
            </a:extLst>
          </p:cNvPr>
          <p:cNvSpPr txBox="1"/>
          <p:nvPr/>
        </p:nvSpPr>
        <p:spPr>
          <a:xfrm>
            <a:off x="2095638" y="2716532"/>
            <a:ext cx="1643605" cy="1015663"/>
          </a:xfrm>
          <a:prstGeom prst="rect">
            <a:avLst/>
          </a:prstGeom>
          <a:noFill/>
        </p:spPr>
        <p:txBody>
          <a:bodyPr wrap="square" rtlCol="0">
            <a:spAutoFit/>
          </a:bodyPr>
          <a:lstStyle/>
          <a:p>
            <a:r>
              <a:rPr lang="en-US" sz="2000" dirty="0">
                <a:latin typeface="Helvetica Light" panose="020B0403020202020204" pitchFamily="34" charset="0"/>
              </a:rPr>
              <a:t>Created new each time through loop</a:t>
            </a:r>
          </a:p>
        </p:txBody>
      </p:sp>
      <p:cxnSp>
        <p:nvCxnSpPr>
          <p:cNvPr id="15" name="Straight Arrow Connector 14">
            <a:extLst>
              <a:ext uri="{FF2B5EF4-FFF2-40B4-BE49-F238E27FC236}">
                <a16:creationId xmlns:a16="http://schemas.microsoft.com/office/drawing/2014/main" id="{D81B988D-2C41-1141-8685-1B4536E8926D}"/>
              </a:ext>
            </a:extLst>
          </p:cNvPr>
          <p:cNvCxnSpPr>
            <a:cxnSpLocks/>
          </p:cNvCxnSpPr>
          <p:nvPr/>
        </p:nvCxnSpPr>
        <p:spPr>
          <a:xfrm>
            <a:off x="3739243" y="4930929"/>
            <a:ext cx="1897628" cy="0"/>
          </a:xfrm>
          <a:prstGeom prst="straightConnector1">
            <a:avLst/>
          </a:prstGeom>
          <a:ln w="25400">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BC534085-C573-D344-B452-3CC7EEDA747C}"/>
              </a:ext>
            </a:extLst>
          </p:cNvPr>
          <p:cNvSpPr txBox="1"/>
          <p:nvPr/>
        </p:nvSpPr>
        <p:spPr>
          <a:xfrm>
            <a:off x="1568125" y="4423097"/>
            <a:ext cx="2775275" cy="1015663"/>
          </a:xfrm>
          <a:prstGeom prst="rect">
            <a:avLst/>
          </a:prstGeom>
          <a:noFill/>
        </p:spPr>
        <p:txBody>
          <a:bodyPr wrap="square" rtlCol="0">
            <a:spAutoFit/>
          </a:bodyPr>
          <a:lstStyle/>
          <a:p>
            <a:r>
              <a:rPr lang="en-US" sz="2000" dirty="0">
                <a:latin typeface="Helvetica Light" panose="020B0403020202020204" pitchFamily="34" charset="0"/>
              </a:rPr>
              <a:t>Initialized outside, grows each time through</a:t>
            </a:r>
          </a:p>
        </p:txBody>
      </p:sp>
    </p:spTree>
    <p:extLst>
      <p:ext uri="{BB962C8B-B14F-4D97-AF65-F5344CB8AC3E}">
        <p14:creationId xmlns:p14="http://schemas.microsoft.com/office/powerpoint/2010/main" val="2318550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08EFA14-657C-6645-A65E-C8CB45925376}"/>
              </a:ext>
            </a:extLst>
          </p:cNvPr>
          <p:cNvSpPr txBox="1"/>
          <p:nvPr/>
        </p:nvSpPr>
        <p:spPr>
          <a:xfrm>
            <a:off x="3638079" y="1413063"/>
            <a:ext cx="5828840" cy="4031873"/>
          </a:xfrm>
          <a:prstGeom prst="rect">
            <a:avLst/>
          </a:prstGeom>
          <a:noFill/>
        </p:spPr>
        <p:txBody>
          <a:bodyPr wrap="none" rtlCol="0">
            <a:spAutoFit/>
          </a:bodyPr>
          <a:lstStyle/>
          <a:p>
            <a:pPr marL="571500" indent="-571500">
              <a:buAutoNum type="romanUcPeriod"/>
            </a:pPr>
            <a:endParaRPr lang="en-US" sz="3200" dirty="0">
              <a:solidFill>
                <a:schemeClr val="tx1">
                  <a:lumMod val="95000"/>
                  <a:lumOff val="5000"/>
                </a:schemeClr>
              </a:solidFill>
              <a:latin typeface="Helvetica Light" panose="020B0403020202020204" pitchFamily="34" charset="0"/>
            </a:endParaRPr>
          </a:p>
          <a:p>
            <a:r>
              <a:rPr lang="en-US" sz="3200" dirty="0">
                <a:solidFill>
                  <a:schemeClr val="tx1">
                    <a:lumMod val="95000"/>
                    <a:lumOff val="5000"/>
                  </a:schemeClr>
                </a:solidFill>
                <a:latin typeface="Helvetica Light" panose="020B0403020202020204" pitchFamily="34" charset="0"/>
              </a:rPr>
              <a:t>I. </a:t>
            </a:r>
            <a:r>
              <a:rPr lang="en-US" sz="3200" dirty="0">
                <a:ln>
                  <a:solidFill>
                    <a:schemeClr val="tx1"/>
                  </a:solidFill>
                </a:ln>
                <a:solidFill>
                  <a:schemeClr val="tx1">
                    <a:lumMod val="95000"/>
                    <a:lumOff val="5000"/>
                  </a:schemeClr>
                </a:solidFill>
                <a:latin typeface="Helvetica Light" panose="020B0403020202020204" pitchFamily="34" charset="0"/>
                <a:cs typeface="Courier New" panose="02070309020205020404" pitchFamily="49" charset="0"/>
              </a:rPr>
              <a:t>python_3_primer.ipynb</a:t>
            </a:r>
          </a:p>
          <a:p>
            <a:endParaRPr lang="en-US" sz="3200" dirty="0">
              <a:solidFill>
                <a:schemeClr val="tx1">
                  <a:lumMod val="95000"/>
                  <a:lumOff val="5000"/>
                </a:schemeClr>
              </a:solidFill>
              <a:latin typeface="Helvetica Light" panose="020B0403020202020204" pitchFamily="34" charset="0"/>
              <a:cs typeface="Courier New" panose="02070309020205020404" pitchFamily="49" charset="0"/>
            </a:endParaRPr>
          </a:p>
          <a:p>
            <a:r>
              <a:rPr lang="en-US" sz="3200" dirty="0">
                <a:solidFill>
                  <a:schemeClr val="tx1">
                    <a:lumMod val="95000"/>
                    <a:lumOff val="5000"/>
                  </a:schemeClr>
                </a:solidFill>
                <a:latin typeface="Helvetica Light" panose="020B0403020202020204" pitchFamily="34" charset="0"/>
                <a:cs typeface="Courier New" panose="02070309020205020404" pitchFamily="49" charset="0"/>
              </a:rPr>
              <a:t>II. </a:t>
            </a:r>
            <a:r>
              <a:rPr lang="en-US" sz="3200" dirty="0">
                <a:ln>
                  <a:solidFill>
                    <a:schemeClr val="tx1"/>
                  </a:solidFill>
                </a:ln>
                <a:solidFill>
                  <a:schemeClr val="tx1">
                    <a:lumMod val="95000"/>
                    <a:lumOff val="5000"/>
                  </a:schemeClr>
                </a:solidFill>
                <a:latin typeface="Helvetica Light" panose="020B0403020202020204" pitchFamily="34" charset="0"/>
              </a:rPr>
              <a:t>assignment_python3.md</a:t>
            </a:r>
          </a:p>
          <a:p>
            <a:endParaRPr lang="en-US" sz="3200" dirty="0">
              <a:solidFill>
                <a:schemeClr val="tx1">
                  <a:lumMod val="95000"/>
                  <a:lumOff val="5000"/>
                </a:schemeClr>
              </a:solidFill>
              <a:latin typeface="Helvetica Light" panose="020B0403020202020204" pitchFamily="34" charset="0"/>
              <a:cs typeface="Courier New" panose="02070309020205020404" pitchFamily="49" charset="0"/>
            </a:endParaRPr>
          </a:p>
          <a:p>
            <a:r>
              <a:rPr lang="en-US" sz="3200" b="1" dirty="0">
                <a:solidFill>
                  <a:schemeClr val="tx1">
                    <a:lumMod val="95000"/>
                    <a:lumOff val="5000"/>
                  </a:schemeClr>
                </a:solidFill>
                <a:latin typeface="HELVETICA LIGHT" panose="020B0403020202020204" pitchFamily="34" charset="0"/>
                <a:cs typeface="Courier New" panose="02070309020205020404" pitchFamily="49" charset="0"/>
              </a:rPr>
              <a:t>III. Turn in script 3 only</a:t>
            </a:r>
          </a:p>
          <a:p>
            <a:endParaRPr lang="en-US" sz="3200" dirty="0">
              <a:solidFill>
                <a:schemeClr val="tx1">
                  <a:lumMod val="95000"/>
                  <a:lumOff val="5000"/>
                </a:schemeClr>
              </a:solidFill>
              <a:latin typeface="Helvetica Light" panose="020B0403020202020204" pitchFamily="34" charset="0"/>
              <a:cs typeface="Courier New" panose="02070309020205020404" pitchFamily="49" charset="0"/>
            </a:endParaRPr>
          </a:p>
          <a:p>
            <a:r>
              <a:rPr lang="en-US" sz="3200" b="1" dirty="0">
                <a:solidFill>
                  <a:schemeClr val="tx1">
                    <a:lumMod val="95000"/>
                    <a:lumOff val="5000"/>
                  </a:schemeClr>
                </a:solidFill>
                <a:latin typeface="HELVETICA LIGHT" panose="020B0403020202020204" pitchFamily="34" charset="0"/>
                <a:cs typeface="Courier New" panose="02070309020205020404" pitchFamily="49" charset="0"/>
              </a:rPr>
              <a:t>IV. Independent project outline</a:t>
            </a:r>
            <a:endParaRPr lang="en-US" sz="3200" b="1" dirty="0">
              <a:solidFill>
                <a:schemeClr val="tx1">
                  <a:lumMod val="95000"/>
                  <a:lumOff val="5000"/>
                </a:schemeClr>
              </a:solidFill>
              <a:latin typeface="HELVETICA LIGHT" panose="020B0403020202020204" pitchFamily="34" charset="0"/>
            </a:endParaRPr>
          </a:p>
        </p:txBody>
      </p:sp>
      <p:sp>
        <p:nvSpPr>
          <p:cNvPr id="6" name="TextBox 5">
            <a:extLst>
              <a:ext uri="{FF2B5EF4-FFF2-40B4-BE49-F238E27FC236}">
                <a16:creationId xmlns:a16="http://schemas.microsoft.com/office/drawing/2014/main" id="{9C186E08-8C57-D048-B2A8-4EC03A58BADC}"/>
              </a:ext>
            </a:extLst>
          </p:cNvPr>
          <p:cNvSpPr txBox="1"/>
          <p:nvPr/>
        </p:nvSpPr>
        <p:spPr>
          <a:xfrm>
            <a:off x="4872748" y="288627"/>
            <a:ext cx="2752677" cy="615553"/>
          </a:xfrm>
          <a:prstGeom prst="rect">
            <a:avLst/>
          </a:prstGeom>
          <a:noFill/>
        </p:spPr>
        <p:txBody>
          <a:bodyPr wrap="none" rtlCol="0">
            <a:spAutoFit/>
          </a:bodyPr>
          <a:lstStyle/>
          <a:p>
            <a:r>
              <a:rPr lang="en-US" sz="3400" b="1" dirty="0">
                <a:latin typeface="Helvetica Light" panose="020B0403020202020204" pitchFamily="34" charset="0"/>
              </a:rPr>
              <a:t>For this week</a:t>
            </a:r>
          </a:p>
        </p:txBody>
      </p:sp>
    </p:spTree>
    <p:extLst>
      <p:ext uri="{BB962C8B-B14F-4D97-AF65-F5344CB8AC3E}">
        <p14:creationId xmlns:p14="http://schemas.microsoft.com/office/powerpoint/2010/main" val="34693196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16713</TotalTime>
  <Words>1734</Words>
  <Application>Microsoft Macintosh PowerPoint</Application>
  <PresentationFormat>Widescreen</PresentationFormat>
  <Paragraphs>222</Paragraphs>
  <Slides>20</Slides>
  <Notes>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Arial</vt:lpstr>
      <vt:lpstr>Calibri</vt:lpstr>
      <vt:lpstr>Calibri Light</vt:lpstr>
      <vt:lpstr>Courier New</vt:lpstr>
      <vt:lpstr>HELVETICA LIGHT</vt:lpstr>
      <vt:lpstr>HELVETICA LIGHT</vt:lpstr>
      <vt:lpstr>Menlo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Thomas L Parchman</dc:creator>
  <cp:lastModifiedBy>Thomas L Parchman</cp:lastModifiedBy>
  <cp:revision>72</cp:revision>
  <cp:lastPrinted>2020-10-13T03:08:35Z</cp:lastPrinted>
  <dcterms:created xsi:type="dcterms:W3CDTF">2020-10-06T23:54:18Z</dcterms:created>
  <dcterms:modified xsi:type="dcterms:W3CDTF">2026-10-13T14:11:24Z</dcterms:modified>
</cp:coreProperties>
</file>