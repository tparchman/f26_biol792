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7" r:id="rId3"/>
    <p:sldId id="271" r:id="rId4"/>
    <p:sldId id="283" r:id="rId5"/>
    <p:sldId id="333" r:id="rId6"/>
    <p:sldId id="334" r:id="rId7"/>
    <p:sldId id="335" r:id="rId8"/>
    <p:sldId id="336" r:id="rId9"/>
    <p:sldId id="277" r:id="rId10"/>
    <p:sldId id="279" r:id="rId11"/>
    <p:sldId id="272" r:id="rId12"/>
    <p:sldId id="269" r:id="rId13"/>
    <p:sldId id="258" r:id="rId14"/>
    <p:sldId id="259" r:id="rId15"/>
    <p:sldId id="263" r:id="rId16"/>
    <p:sldId id="264" r:id="rId17"/>
    <p:sldId id="274" r:id="rId18"/>
    <p:sldId id="262" r:id="rId19"/>
    <p:sldId id="280" r:id="rId20"/>
    <p:sldId id="261" r:id="rId21"/>
    <p:sldId id="278" r:id="rId22"/>
    <p:sldId id="260" r:id="rId23"/>
    <p:sldId id="275" r:id="rId24"/>
    <p:sldId id="273" r:id="rId25"/>
    <p:sldId id="281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432"/>
    <p:restoredTop sz="95753" autoAdjust="0"/>
  </p:normalViewPr>
  <p:slideViewPr>
    <p:cSldViewPr snapToGrid="0" snapToObjects="1">
      <p:cViewPr varScale="1">
        <p:scale>
          <a:sx n="122" d="100"/>
          <a:sy n="122" d="100"/>
        </p:scale>
        <p:origin x="12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32C89-3CE2-794F-879C-0967E0975631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825DD8-7507-A24F-8B22-91BFF3EC7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84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25DD8-7507-A24F-8B22-91BFF3EC74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357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25DD8-7507-A24F-8B22-91BFF3EC74F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704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25DD8-7507-A24F-8B22-91BFF3EC74F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835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25DD8-7507-A24F-8B22-91BFF3EC74F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19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25DD8-7507-A24F-8B22-91BFF3EC74F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165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25DD8-7507-A24F-8B22-91BFF3EC74F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31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ACA4-847D-214F-8693-F6FBD8D9F22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B39D3-DA63-C740-A87F-E7A9E95B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89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ACA4-847D-214F-8693-F6FBD8D9F22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B39D3-DA63-C740-A87F-E7A9E95B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434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ACA4-847D-214F-8693-F6FBD8D9F22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B39D3-DA63-C740-A87F-E7A9E95B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186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ACA4-847D-214F-8693-F6FBD8D9F22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B39D3-DA63-C740-A87F-E7A9E95B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257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ACA4-847D-214F-8693-F6FBD8D9F22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B39D3-DA63-C740-A87F-E7A9E95B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8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ACA4-847D-214F-8693-F6FBD8D9F22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B39D3-DA63-C740-A87F-E7A9E95B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378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ACA4-847D-214F-8693-F6FBD8D9F22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B39D3-DA63-C740-A87F-E7A9E95B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009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ACA4-847D-214F-8693-F6FBD8D9F22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B39D3-DA63-C740-A87F-E7A9E95B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066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ACA4-847D-214F-8693-F6FBD8D9F22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B39D3-DA63-C740-A87F-E7A9E95B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231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ACA4-847D-214F-8693-F6FBD8D9F22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B39D3-DA63-C740-A87F-E7A9E95B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694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ACA4-847D-214F-8693-F6FBD8D9F22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B39D3-DA63-C740-A87F-E7A9E95B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83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9ACA4-847D-214F-8693-F6FBD8D9F22E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B39D3-DA63-C740-A87F-E7A9E95B3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54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38002" y="617250"/>
            <a:ext cx="150554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Helvetica Light" panose="020B0403020202020204" pitchFamily="34" charset="0"/>
              </a:rPr>
              <a:t>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3200" y="1690062"/>
            <a:ext cx="8940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200" dirty="0">
                <a:latin typeface="Helvetica Light" panose="020B0403020202020204" pitchFamily="34" charset="0"/>
              </a:rPr>
              <a:t>more Linux commands and command line arguments, </a:t>
            </a:r>
            <a:r>
              <a:rPr lang="en-US" sz="2200" b="1" dirty="0">
                <a:latin typeface="Helvetica Light" panose="020B0403020202020204" pitchFamily="34" charset="0"/>
              </a:rPr>
              <a:t>man </a:t>
            </a:r>
            <a:r>
              <a:rPr lang="en-US" sz="2200" dirty="0">
                <a:latin typeface="Helvetica Light" panose="020B0403020202020204" pitchFamily="34" charset="0"/>
              </a:rPr>
              <a:t>pages</a:t>
            </a:r>
          </a:p>
          <a:p>
            <a:pPr marL="285750" indent="-285750">
              <a:buFontTx/>
              <a:buChar char="-"/>
            </a:pPr>
            <a:endParaRPr lang="en-US" sz="2200" dirty="0">
              <a:latin typeface="Helvetica Light" panose="020B0403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2200" dirty="0">
                <a:latin typeface="Helvetica Light" panose="020B0403020202020204" pitchFamily="34" charset="0"/>
              </a:rPr>
              <a:t>Using </a:t>
            </a:r>
            <a:r>
              <a:rPr lang="en-US" sz="2200" b="1" dirty="0">
                <a:latin typeface="Helvetica Light" panose="020B0403020202020204" pitchFamily="34" charset="0"/>
              </a:rPr>
              <a:t>.</a:t>
            </a:r>
            <a:r>
              <a:rPr lang="en-US" sz="2200" b="1" dirty="0" err="1">
                <a:latin typeface="Helvetica Light" panose="020B0403020202020204" pitchFamily="34" charset="0"/>
              </a:rPr>
              <a:t>zshrc</a:t>
            </a:r>
            <a:r>
              <a:rPr lang="en-US" sz="2200" dirty="0">
                <a:latin typeface="Helvetica Light" panose="020B0403020202020204" pitchFamily="34" charset="0"/>
              </a:rPr>
              <a:t>, </a:t>
            </a:r>
            <a:r>
              <a:rPr lang="en-US" sz="2200" b="1" dirty="0">
                <a:latin typeface="Helvetica Light" panose="020B0403020202020204" pitchFamily="34" charset="0"/>
              </a:rPr>
              <a:t>.</a:t>
            </a:r>
            <a:r>
              <a:rPr lang="en-US" sz="2200" b="1" dirty="0" err="1">
                <a:latin typeface="Helvetica Light" panose="020B0403020202020204" pitchFamily="34" charset="0"/>
              </a:rPr>
              <a:t>bashrc</a:t>
            </a:r>
            <a:r>
              <a:rPr lang="en-US" sz="2200" dirty="0">
                <a:latin typeface="Helvetica Light" panose="020B0403020202020204" pitchFamily="34" charset="0"/>
              </a:rPr>
              <a:t>, or </a:t>
            </a:r>
            <a:r>
              <a:rPr lang="en-US" sz="2200" b="1" dirty="0">
                <a:latin typeface="Helvetica Light" panose="020B0403020202020204" pitchFamily="34" charset="0"/>
              </a:rPr>
              <a:t>.</a:t>
            </a:r>
            <a:r>
              <a:rPr lang="en-US" sz="2200" b="1" dirty="0" err="1">
                <a:latin typeface="Helvetica Light" panose="020B0403020202020204" pitchFamily="34" charset="0"/>
              </a:rPr>
              <a:t>bash_profile</a:t>
            </a:r>
            <a:r>
              <a:rPr lang="en-US" sz="2200" b="1" dirty="0">
                <a:latin typeface="Helvetica Light" panose="020B0403020202020204" pitchFamily="34" charset="0"/>
              </a:rPr>
              <a:t> </a:t>
            </a:r>
            <a:r>
              <a:rPr lang="en-US" sz="2200" dirty="0">
                <a:latin typeface="Helvetica Light" panose="020B0403020202020204" pitchFamily="34" charset="0"/>
              </a:rPr>
              <a:t>to control terminal behavior for protection and efficiency</a:t>
            </a:r>
          </a:p>
          <a:p>
            <a:pPr marL="285750" indent="-285750">
              <a:buFontTx/>
              <a:buChar char="-"/>
            </a:pPr>
            <a:endParaRPr lang="en-US" sz="2200" dirty="0">
              <a:latin typeface="Helvetica Light" panose="020B0403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2200" dirty="0">
                <a:latin typeface="Helvetica Light" panose="020B0403020202020204" pitchFamily="34" charset="0"/>
              </a:rPr>
              <a:t>Viewing and editing text files (</a:t>
            </a:r>
            <a:r>
              <a:rPr lang="en-US" sz="2200" b="1" dirty="0">
                <a:latin typeface="Helvetica Light" panose="020B0403020202020204" pitchFamily="34" charset="0"/>
              </a:rPr>
              <a:t>less</a:t>
            </a:r>
            <a:r>
              <a:rPr lang="en-US" sz="2200" dirty="0">
                <a:latin typeface="Helvetica Light" panose="020B0403020202020204" pitchFamily="34" charset="0"/>
              </a:rPr>
              <a:t> or </a:t>
            </a:r>
            <a:r>
              <a:rPr lang="en-US" sz="2200" b="1" dirty="0" err="1">
                <a:latin typeface="Helvetica Light" panose="020B0403020202020204" pitchFamily="34" charset="0"/>
              </a:rPr>
              <a:t>TextWrangler</a:t>
            </a:r>
            <a:r>
              <a:rPr lang="en-US" sz="2200" b="1" dirty="0">
                <a:latin typeface="Helvetica Light" panose="020B0403020202020204" pitchFamily="34" charset="0"/>
              </a:rPr>
              <a:t>/</a:t>
            </a:r>
            <a:r>
              <a:rPr lang="en-US" sz="2200" b="1" dirty="0" err="1">
                <a:latin typeface="Helvetica Light" panose="020B0403020202020204" pitchFamily="34" charset="0"/>
              </a:rPr>
              <a:t>VScode</a:t>
            </a:r>
            <a:r>
              <a:rPr lang="en-US" sz="2200" dirty="0">
                <a:latin typeface="Helvetica Light" panose="020B0403020202020204" pitchFamily="34" charset="0"/>
              </a:rPr>
              <a:t> or </a:t>
            </a:r>
            <a:r>
              <a:rPr lang="en-US" sz="2200" b="1" dirty="0">
                <a:latin typeface="Helvetica Light" panose="020B0403020202020204" pitchFamily="34" charset="0"/>
              </a:rPr>
              <a:t>nano</a:t>
            </a:r>
            <a:r>
              <a:rPr lang="en-US" sz="2200" dirty="0">
                <a:latin typeface="Helvetica Light" panose="020B0403020202020204" pitchFamily="34" charset="0"/>
              </a:rPr>
              <a:t>)</a:t>
            </a:r>
          </a:p>
          <a:p>
            <a:pPr marL="285750" indent="-285750">
              <a:buFontTx/>
              <a:buChar char="-"/>
            </a:pPr>
            <a:endParaRPr lang="en-US" sz="2200" dirty="0">
              <a:latin typeface="Helvetica Light" panose="020B0403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2200" dirty="0">
                <a:latin typeface="Helvetica Light" panose="020B0403020202020204" pitchFamily="34" charset="0"/>
              </a:rPr>
              <a:t>File compression, decompression</a:t>
            </a: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2200" dirty="0">
                <a:latin typeface="Helvetica Light" panose="020B0403020202020204" pitchFamily="34" charset="0"/>
              </a:rPr>
              <a:t>Using Linux tools to work with some DNA sequencing data</a:t>
            </a:r>
          </a:p>
        </p:txBody>
      </p:sp>
    </p:spTree>
    <p:extLst>
      <p:ext uri="{BB962C8B-B14F-4D97-AF65-F5344CB8AC3E}">
        <p14:creationId xmlns:p14="http://schemas.microsoft.com/office/powerpoint/2010/main" val="3054398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6C21450E-A16A-5C43-BCFC-883045E91F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476"/>
          <a:stretch/>
        </p:blipFill>
        <p:spPr>
          <a:xfrm>
            <a:off x="440224" y="0"/>
            <a:ext cx="3365019" cy="63838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225DEF-EA6E-E745-A632-C6968C14BF9A}"/>
              </a:ext>
            </a:extLst>
          </p:cNvPr>
          <p:cNvSpPr txBox="1"/>
          <p:nvPr/>
        </p:nvSpPr>
        <p:spPr>
          <a:xfrm>
            <a:off x="4362756" y="1545328"/>
            <a:ext cx="421719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- For this week, focus on </a:t>
            </a:r>
            <a:r>
              <a:rPr lang="en-US" sz="2600" b="1" dirty="0">
                <a:latin typeface="Helvetica Light" panose="020B0403020202020204" pitchFamily="34" charset="0"/>
              </a:rPr>
              <a:t>U10-U27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dirty="0">
                <a:latin typeface="Helvetica Light" panose="020B0403020202020204" pitchFamily="34" charset="0"/>
              </a:rPr>
              <a:t>- Go through all of</a:t>
            </a:r>
            <a:r>
              <a:rPr lang="en-US" sz="2600" b="1" dirty="0">
                <a:latin typeface="Helvetica Light" panose="020B0403020202020204" pitchFamily="34" charset="0"/>
              </a:rPr>
              <a:t> Unix Part 1</a:t>
            </a:r>
            <a:r>
              <a:rPr lang="en-US" sz="2600" dirty="0">
                <a:latin typeface="Helvetica Light" panose="020B0403020202020204" pitchFamily="34" charset="0"/>
              </a:rPr>
              <a:t> and be prepared for Unix Part 2 to be very helpful.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ABA92A-EAFF-4A47-ADD1-D6A9051D9E1B}"/>
              </a:ext>
            </a:extLst>
          </p:cNvPr>
          <p:cNvSpPr/>
          <p:nvPr/>
        </p:nvSpPr>
        <p:spPr>
          <a:xfrm>
            <a:off x="4047067" y="5112534"/>
            <a:ext cx="4848577" cy="1015663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Helvetica Light" panose="020B0403020202020204" pitchFamily="34" charset="0"/>
              </a:rPr>
              <a:t>Pdf of primer available under week2 on </a:t>
            </a:r>
            <a:r>
              <a:rPr lang="en-US" sz="2000" dirty="0" err="1">
                <a:latin typeface="Helvetica Light" panose="020B0403020202020204" pitchFamily="34" charset="0"/>
              </a:rPr>
              <a:t>github</a:t>
            </a:r>
            <a:r>
              <a:rPr lang="en-US" sz="2000" dirty="0">
                <a:latin typeface="Helvetica Light" panose="020B0403020202020204" pitchFamily="34" charset="0"/>
              </a:rPr>
              <a:t> page. It is quite good, please go through the </a:t>
            </a:r>
            <a:r>
              <a:rPr lang="en-US" sz="2000" b="1" dirty="0">
                <a:latin typeface="HELVETICA LIGHT" panose="020B0403020202020204" pitchFamily="34" charset="0"/>
              </a:rPr>
              <a:t>first 45 pages</a:t>
            </a:r>
            <a:r>
              <a:rPr lang="en-US" sz="2000" dirty="0">
                <a:latin typeface="Helvetica Light" panose="020B0403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169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1668" y="173793"/>
            <a:ext cx="70006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Helvetica Light" panose="020B0403020202020204" pitchFamily="34" charset="0"/>
              </a:rPr>
              <a:t>Changing command names with aliases is useful, but risky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97118" y="2066674"/>
            <a:ext cx="30171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$ alias ls =  “ls –l”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612386" y="2361659"/>
            <a:ext cx="1036116" cy="111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46597" y="2066674"/>
            <a:ext cx="3017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Changes the default behavior of </a:t>
            </a:r>
            <a:r>
              <a:rPr lang="en-US" b="1" dirty="0">
                <a:latin typeface="Helvetica Light" panose="020B0403020202020204" pitchFamily="34" charset="0"/>
              </a:rPr>
              <a:t>ls</a:t>
            </a:r>
            <a:r>
              <a:rPr lang="en-US" dirty="0">
                <a:latin typeface="Helvetica Light" panose="020B0403020202020204" pitchFamily="34" charset="0"/>
              </a:rPr>
              <a:t>, looks useful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404" y="3696961"/>
            <a:ext cx="30380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$ alias mv =  “cp”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4612386" y="4007442"/>
            <a:ext cx="1036116" cy="111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46597" y="3850849"/>
            <a:ext cx="2785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Potentially bad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467" y="5481314"/>
            <a:ext cx="756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**Store carefully thought-out aliases in </a:t>
            </a:r>
            <a:r>
              <a:rPr lang="en-US" sz="2200" b="1" dirty="0">
                <a:latin typeface="Helvetica Light" panose="020B0403020202020204" pitchFamily="34" charset="0"/>
              </a:rPr>
              <a:t>.</a:t>
            </a:r>
            <a:r>
              <a:rPr lang="en-US" sz="2200" b="1" dirty="0" err="1">
                <a:latin typeface="Helvetica Light" panose="020B0403020202020204" pitchFamily="34" charset="0"/>
              </a:rPr>
              <a:t>bash_profile</a:t>
            </a:r>
            <a:r>
              <a:rPr lang="en-US" sz="2200" b="1" dirty="0">
                <a:latin typeface="Helvetica Light" panose="020B0403020202020204" pitchFamily="34" charset="0"/>
              </a:rPr>
              <a:t>, .</a:t>
            </a:r>
            <a:r>
              <a:rPr lang="en-US" sz="2200" b="1" dirty="0" err="1">
                <a:latin typeface="Helvetica Light" panose="020B0403020202020204" pitchFamily="34" charset="0"/>
              </a:rPr>
              <a:t>zshrc</a:t>
            </a:r>
            <a:r>
              <a:rPr lang="en-US" sz="2200" b="1" dirty="0">
                <a:latin typeface="Helvetica Light" panose="020B0403020202020204" pitchFamily="34" charset="0"/>
              </a:rPr>
              <a:t>, </a:t>
            </a:r>
            <a:r>
              <a:rPr lang="en-US" sz="2200" dirty="0">
                <a:latin typeface="Helvetica Light" panose="020B0403020202020204" pitchFamily="34" charset="0"/>
              </a:rPr>
              <a:t>or similar profile files in your home directory</a:t>
            </a:r>
          </a:p>
        </p:txBody>
      </p:sp>
    </p:spTree>
    <p:extLst>
      <p:ext uri="{BB962C8B-B14F-4D97-AF65-F5344CB8AC3E}">
        <p14:creationId xmlns:p14="http://schemas.microsoft.com/office/powerpoint/2010/main" val="3620385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6379" y="380550"/>
            <a:ext cx="80249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Helvetica Light" panose="020B0403020202020204" pitchFamily="34" charset="0"/>
              </a:rPr>
              <a:t>Removing files or directories </a:t>
            </a:r>
            <a:r>
              <a:rPr lang="en-US" sz="2800" dirty="0">
                <a:solidFill>
                  <a:srgbClr val="FF0000"/>
                </a:solidFill>
                <a:latin typeface="Helvetica Light" panose="020B0403020202020204" pitchFamily="34" charset="0"/>
              </a:rPr>
              <a:t>(</a:t>
            </a:r>
            <a:r>
              <a:rPr lang="en-US" sz="2800" u="sng" dirty="0">
                <a:solidFill>
                  <a:srgbClr val="FF0000"/>
                </a:solidFill>
                <a:latin typeface="Helvetica Light" panose="020B0403020202020204" pitchFamily="34" charset="0"/>
              </a:rPr>
              <a:t>can be dangerous</a:t>
            </a:r>
            <a:r>
              <a:rPr lang="en-US" sz="2800" dirty="0">
                <a:solidFill>
                  <a:srgbClr val="FF0000"/>
                </a:solidFill>
                <a:latin typeface="Helvetica Light" panose="020B0403020202020204" pitchFamily="34" charset="0"/>
              </a:rPr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6454" y="1613221"/>
            <a:ext cx="20730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Helvetica Light" panose="020B0403020202020204" pitchFamily="34" charset="0"/>
              </a:rPr>
              <a:t>$ rm </a:t>
            </a:r>
            <a:r>
              <a:rPr lang="en-US" sz="3000" b="1" dirty="0" err="1">
                <a:latin typeface="Helvetica Light" panose="020B0403020202020204" pitchFamily="34" charset="0"/>
              </a:rPr>
              <a:t>file.txt</a:t>
            </a:r>
            <a:endParaRPr lang="en-US" sz="3000" b="1" dirty="0">
              <a:latin typeface="Helvetica Light" panose="020B0403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6454" y="2614351"/>
            <a:ext cx="81582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Will remove file. PERMANENTLY. FOREVER. 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EDF7D9-5AD5-8649-8147-904F0739D901}"/>
              </a:ext>
            </a:extLst>
          </p:cNvPr>
          <p:cNvSpPr/>
          <p:nvPr/>
        </p:nvSpPr>
        <p:spPr>
          <a:xfrm>
            <a:off x="302981" y="5940508"/>
            <a:ext cx="815827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Helvetica Light" panose="020B0403020202020204" pitchFamily="34" charset="0"/>
              </a:rPr>
              <a:t>Recommended</a:t>
            </a:r>
            <a:r>
              <a:rPr lang="en-US" sz="2200" dirty="0">
                <a:latin typeface="Helvetica Light" panose="020B0403020202020204" pitchFamily="34" charset="0"/>
              </a:rPr>
              <a:t>: alter your bash or </a:t>
            </a:r>
            <a:r>
              <a:rPr lang="en-US" sz="2200" dirty="0" err="1">
                <a:latin typeface="Helvetica Light" panose="020B0403020202020204" pitchFamily="34" charset="0"/>
              </a:rPr>
              <a:t>zsh</a:t>
            </a:r>
            <a:r>
              <a:rPr lang="en-US" sz="2200" dirty="0">
                <a:latin typeface="Helvetica Light" panose="020B0403020202020204" pitchFamily="34" charset="0"/>
              </a:rPr>
              <a:t> to always call  </a:t>
            </a:r>
            <a:r>
              <a:rPr lang="en-US" sz="2200" b="1" dirty="0">
                <a:latin typeface="Helvetica Light" panose="020B0403020202020204" pitchFamily="34" charset="0"/>
              </a:rPr>
              <a:t>rm –</a:t>
            </a:r>
            <a:r>
              <a:rPr lang="en-US" sz="2200" b="1" dirty="0" err="1">
                <a:latin typeface="Helvetica Light" panose="020B0403020202020204" pitchFamily="34" charset="0"/>
              </a:rPr>
              <a:t>i</a:t>
            </a:r>
            <a:r>
              <a:rPr lang="en-US" sz="2200" b="1" dirty="0">
                <a:latin typeface="Helvetica Light" panose="020B0403020202020204" pitchFamily="34" charset="0"/>
              </a:rPr>
              <a:t> </a:t>
            </a:r>
            <a:r>
              <a:rPr lang="en-US" sz="2200" dirty="0">
                <a:latin typeface="Helvetica Light" panose="020B0403020202020204" pitchFamily="34" charset="0"/>
              </a:rPr>
              <a:t>when typing </a:t>
            </a:r>
            <a:r>
              <a:rPr lang="en-US" sz="2200" b="1" dirty="0">
                <a:latin typeface="Helvetica Light" panose="020B0403020202020204" pitchFamily="34" charset="0"/>
              </a:rPr>
              <a:t>rm</a:t>
            </a:r>
            <a:r>
              <a:rPr lang="en-US" sz="2200" dirty="0">
                <a:latin typeface="Helvetica Light" panose="020B0403020202020204" pitchFamily="34" charset="0"/>
              </a:rPr>
              <a:t> at the command prompt, using an alias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734734-0D21-724A-8021-7EEEDB275539}"/>
              </a:ext>
            </a:extLst>
          </p:cNvPr>
          <p:cNvSpPr/>
          <p:nvPr/>
        </p:nvSpPr>
        <p:spPr>
          <a:xfrm>
            <a:off x="516454" y="4354374"/>
            <a:ext cx="2601994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$ rm –</a:t>
            </a:r>
            <a:r>
              <a:rPr lang="en-US" sz="2800" b="1" dirty="0" err="1">
                <a:latin typeface="Helvetica Light" panose="020B0403020202020204" pitchFamily="34" charset="0"/>
              </a:rPr>
              <a:t>i</a:t>
            </a:r>
            <a:r>
              <a:rPr lang="en-US" sz="2800" b="1" dirty="0">
                <a:latin typeface="Helvetica Light" panose="020B0403020202020204" pitchFamily="34" charset="0"/>
              </a:rPr>
              <a:t> </a:t>
            </a:r>
            <a:r>
              <a:rPr lang="en-US" sz="2800" b="1" dirty="0" err="1">
                <a:latin typeface="Helvetica Light" panose="020B0403020202020204" pitchFamily="34" charset="0"/>
              </a:rPr>
              <a:t>file.txt</a:t>
            </a:r>
            <a:endParaRPr lang="en-US" sz="2800" b="1" dirty="0">
              <a:latin typeface="Helvetica Light" panose="020B0403020202020204" pitchFamily="34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</a:rPr>
              <a:t>remove </a:t>
            </a:r>
            <a:r>
              <a:rPr lang="en-US" sz="2800" b="1" dirty="0" err="1">
                <a:latin typeface="Helvetica Light" panose="020B0403020202020204" pitchFamily="34" charset="0"/>
              </a:rPr>
              <a:t>file.txt</a:t>
            </a:r>
            <a:r>
              <a:rPr lang="en-US" sz="2800" b="1" dirty="0">
                <a:latin typeface="Helvetica Light" panose="020B0403020202020204" pitchFamily="34" charset="0"/>
              </a:rPr>
              <a:t>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6E3557-AFEB-6C42-B6DB-0BB5D5A43611}"/>
              </a:ext>
            </a:extLst>
          </p:cNvPr>
          <p:cNvSpPr/>
          <p:nvPr/>
        </p:nvSpPr>
        <p:spPr>
          <a:xfrm>
            <a:off x="451435" y="3779942"/>
            <a:ext cx="43781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Use the </a:t>
            </a:r>
            <a:r>
              <a:rPr lang="en-US" sz="2400" b="1" dirty="0">
                <a:latin typeface="Helvetica Light" panose="020B0403020202020204" pitchFamily="34" charset="0"/>
              </a:rPr>
              <a:t>–</a:t>
            </a:r>
            <a:r>
              <a:rPr lang="en-US" sz="2400" b="1" dirty="0" err="1">
                <a:latin typeface="Helvetica Light" panose="020B0403020202020204" pitchFamily="34" charset="0"/>
              </a:rPr>
              <a:t>i</a:t>
            </a:r>
            <a:r>
              <a:rPr lang="en-US" sz="2400" b="1" dirty="0">
                <a:latin typeface="Helvetica Light" panose="020B0403020202020204" pitchFamily="34" charset="0"/>
              </a:rPr>
              <a:t> </a:t>
            </a:r>
            <a:r>
              <a:rPr lang="en-US" sz="2400" dirty="0">
                <a:latin typeface="Helvetica Light" panose="020B0403020202020204" pitchFamily="34" charset="0"/>
              </a:rPr>
              <a:t>option as protection</a:t>
            </a:r>
          </a:p>
        </p:txBody>
      </p:sp>
    </p:spTree>
    <p:extLst>
      <p:ext uri="{BB962C8B-B14F-4D97-AF65-F5344CB8AC3E}">
        <p14:creationId xmlns:p14="http://schemas.microsoft.com/office/powerpoint/2010/main" val="351427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41022" y="430286"/>
            <a:ext cx="38619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.</a:t>
            </a:r>
            <a:r>
              <a:rPr lang="en-US" sz="2800" b="1" dirty="0" err="1">
                <a:latin typeface="Helvetica Light" panose="020B0403020202020204" pitchFamily="34" charset="0"/>
              </a:rPr>
              <a:t>zshrc</a:t>
            </a:r>
            <a:r>
              <a:rPr lang="en-US" sz="2800" b="1" dirty="0">
                <a:latin typeface="Helvetica Light" panose="020B0403020202020204" pitchFamily="34" charset="0"/>
              </a:rPr>
              <a:t> </a:t>
            </a:r>
            <a:r>
              <a:rPr lang="en-US" sz="2800" dirty="0">
                <a:latin typeface="Helvetica Light" panose="020B0403020202020204" pitchFamily="34" charset="0"/>
              </a:rPr>
              <a:t>or</a:t>
            </a:r>
            <a:r>
              <a:rPr lang="en-US" sz="2800" b="1" dirty="0">
                <a:latin typeface="Helvetica Light" panose="020B0403020202020204" pitchFamily="34" charset="0"/>
              </a:rPr>
              <a:t> .</a:t>
            </a:r>
            <a:r>
              <a:rPr lang="en-US" sz="2800" b="1" dirty="0" err="1">
                <a:latin typeface="Helvetica Light" panose="020B0403020202020204" pitchFamily="34" charset="0"/>
              </a:rPr>
              <a:t>bash_profile</a:t>
            </a:r>
            <a:endParaRPr lang="en-US" sz="2800" b="1" dirty="0">
              <a:latin typeface="Helvetica Light" panose="020B0403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7472" y="1649062"/>
            <a:ext cx="857460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- Contains specifications that control the way the terminal works</a:t>
            </a:r>
          </a:p>
          <a:p>
            <a:pPr marL="285750" indent="-285750">
              <a:buFontTx/>
              <a:buChar char="-"/>
            </a:pPr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- Aliases allow you to create a customized name for a command, or a set of commands with specified options</a:t>
            </a:r>
          </a:p>
          <a:p>
            <a:pPr marL="285750" indent="-285750">
              <a:buFontTx/>
              <a:buChar char="-"/>
            </a:pPr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- Aliases can be set in </a:t>
            </a:r>
            <a:r>
              <a:rPr lang="en-US" sz="2200" b="1" dirty="0">
                <a:latin typeface="Helvetica Light" panose="020B0403020202020204" pitchFamily="34" charset="0"/>
              </a:rPr>
              <a:t>.</a:t>
            </a:r>
            <a:r>
              <a:rPr lang="en-US" sz="2200" b="1" dirty="0" err="1">
                <a:latin typeface="Helvetica Light" panose="020B0403020202020204" pitchFamily="34" charset="0"/>
              </a:rPr>
              <a:t>bash_profile</a:t>
            </a:r>
            <a:r>
              <a:rPr lang="en-US" sz="2200" b="1" dirty="0">
                <a:latin typeface="Helvetica Light" panose="020B0403020202020204" pitchFamily="34" charset="0"/>
              </a:rPr>
              <a:t> </a:t>
            </a:r>
            <a:r>
              <a:rPr lang="en-US" sz="2200" dirty="0">
                <a:latin typeface="Helvetica Light" panose="020B0403020202020204" pitchFamily="34" charset="0"/>
              </a:rPr>
              <a:t>or</a:t>
            </a:r>
            <a:r>
              <a:rPr lang="en-US" sz="2200" b="1" dirty="0">
                <a:latin typeface="Helvetica Light" panose="020B0403020202020204" pitchFamily="34" charset="0"/>
              </a:rPr>
              <a:t> .</a:t>
            </a:r>
            <a:r>
              <a:rPr lang="en-US" sz="2200" b="1" dirty="0" err="1">
                <a:latin typeface="Helvetica Light" panose="020B0403020202020204" pitchFamily="34" charset="0"/>
              </a:rPr>
              <a:t>zshrc</a:t>
            </a:r>
            <a:r>
              <a:rPr lang="en-US" sz="2200" b="1" dirty="0">
                <a:latin typeface="Helvetica Light" panose="020B0403020202020204" pitchFamily="34" charset="0"/>
              </a:rPr>
              <a:t> </a:t>
            </a:r>
            <a:r>
              <a:rPr lang="en-US" sz="2200" dirty="0">
                <a:latin typeface="Helvetica Light" panose="020B0403020202020204" pitchFamily="34" charset="0"/>
              </a:rPr>
              <a:t>(depending on terminal used by your system) to improve efficiency and safeguard against bad consequences.</a:t>
            </a: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- As most of you are using new apple mac computers, you will be using the </a:t>
            </a:r>
            <a:r>
              <a:rPr lang="en-US" sz="2200" dirty="0" err="1">
                <a:latin typeface="Helvetica Light" panose="020B0403020202020204" pitchFamily="34" charset="0"/>
              </a:rPr>
              <a:t>zsh</a:t>
            </a:r>
            <a:r>
              <a:rPr lang="en-US" sz="2200" dirty="0">
                <a:latin typeface="Helvetica Light" panose="020B0403020202020204" pitchFamily="34" charset="0"/>
              </a:rPr>
              <a:t> terminal and hence this file will be called </a:t>
            </a:r>
            <a:r>
              <a:rPr lang="en-US" sz="2200" b="1" dirty="0">
                <a:latin typeface="Helvetica Light" panose="020B0403020202020204" pitchFamily="34" charset="0"/>
              </a:rPr>
              <a:t>.</a:t>
            </a:r>
            <a:r>
              <a:rPr lang="en-US" sz="2200" b="1" dirty="0" err="1">
                <a:latin typeface="Helvetica Light" panose="020B0403020202020204" pitchFamily="34" charset="0"/>
              </a:rPr>
              <a:t>zshrc</a:t>
            </a:r>
            <a:endParaRPr lang="en-US" sz="2200" b="1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45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1076" y="256401"/>
            <a:ext cx="8239857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.</a:t>
            </a:r>
            <a:r>
              <a:rPr lang="en-US" sz="2600" b="1" dirty="0" err="1">
                <a:latin typeface="Helvetica Light" panose="020B0403020202020204" pitchFamily="34" charset="0"/>
              </a:rPr>
              <a:t>zshrc</a:t>
            </a:r>
            <a:r>
              <a:rPr lang="en-US" sz="2600" b="1" dirty="0">
                <a:latin typeface="Helvetica Light" panose="020B0403020202020204" pitchFamily="34" charset="0"/>
              </a:rPr>
              <a:t>:</a:t>
            </a: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This file resides in your home directory. It is a “hidden” file. The “.” in front of such a file prevents it from being normally listed with </a:t>
            </a:r>
            <a:r>
              <a:rPr lang="en-US" sz="2200" b="1" dirty="0" err="1">
                <a:latin typeface="Helvetica Light" panose="020B0403020202020204" pitchFamily="34" charset="0"/>
              </a:rPr>
              <a:t>ls</a:t>
            </a:r>
            <a:endParaRPr lang="en-US" sz="2200" b="1" dirty="0">
              <a:latin typeface="Helvetica Light" panose="020B0403020202020204" pitchFamily="34" charset="0"/>
            </a:endParaRP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$ less .</a:t>
            </a:r>
            <a:r>
              <a:rPr lang="en-US" sz="2600" b="1" dirty="0" err="1">
                <a:latin typeface="Helvetica Light" panose="020B0403020202020204" pitchFamily="34" charset="0"/>
              </a:rPr>
              <a:t>zshrc</a:t>
            </a:r>
            <a:endParaRPr lang="en-US" sz="2600" b="1" dirty="0">
              <a:latin typeface="Helvetica Light" panose="020B04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ACC732-E97E-8648-9475-DD78F944A939}"/>
              </a:ext>
            </a:extLst>
          </p:cNvPr>
          <p:cNvSpPr txBox="1"/>
          <p:nvPr/>
        </p:nvSpPr>
        <p:spPr>
          <a:xfrm>
            <a:off x="260288" y="5216604"/>
            <a:ext cx="86214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Helvetica Light" panose="020B0403020202020204" pitchFamily="34" charset="0"/>
              </a:rPr>
              <a:t>We want to add </a:t>
            </a:r>
            <a:r>
              <a:rPr lang="en-US" sz="2100" b="1" dirty="0">
                <a:latin typeface="Helvetica Light" panose="020B0403020202020204" pitchFamily="34" charset="0"/>
              </a:rPr>
              <a:t>alias</a:t>
            </a:r>
            <a:r>
              <a:rPr lang="en-US" sz="2100" dirty="0">
                <a:latin typeface="Helvetica Light" panose="020B0403020202020204" pitchFamily="34" charset="0"/>
              </a:rPr>
              <a:t> commands to this file in order to make your shell safer and perhaps more useful.</a:t>
            </a:r>
          </a:p>
          <a:p>
            <a:endParaRPr lang="en-US" sz="2100" dirty="0">
              <a:latin typeface="Helvetica Light" panose="020B0403020202020204" pitchFamily="34" charset="0"/>
            </a:endParaRPr>
          </a:p>
          <a:p>
            <a:r>
              <a:rPr lang="en-US" sz="2100" dirty="0">
                <a:latin typeface="Helvetica Light" panose="020B0403020202020204" pitchFamily="34" charset="0"/>
              </a:rPr>
              <a:t>	-for e.g., </a:t>
            </a:r>
            <a:r>
              <a:rPr lang="en-US" sz="2100" b="1" dirty="0">
                <a:latin typeface="Helvetica Light" panose="020B0403020202020204" pitchFamily="34" charset="0"/>
              </a:rPr>
              <a:t>rm</a:t>
            </a:r>
            <a:r>
              <a:rPr lang="en-US" sz="2100" dirty="0">
                <a:latin typeface="Helvetica Light" panose="020B0403020202020204" pitchFamily="34" charset="0"/>
              </a:rPr>
              <a:t> is dangerous with its default behavior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74828E30-6E1D-1B4D-A24D-6EF6A2E91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68" y="2997050"/>
            <a:ext cx="3975832" cy="183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653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7EC60E-BE65-784F-96EC-1F19765E2BF7}"/>
              </a:ext>
            </a:extLst>
          </p:cNvPr>
          <p:cNvSpPr txBox="1"/>
          <p:nvPr/>
        </p:nvSpPr>
        <p:spPr>
          <a:xfrm>
            <a:off x="2354431" y="335196"/>
            <a:ext cx="40030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.</a:t>
            </a:r>
            <a:r>
              <a:rPr lang="en-US" sz="2800" b="1" dirty="0" err="1">
                <a:latin typeface="Helvetica Light" panose="020B0403020202020204" pitchFamily="34" charset="0"/>
              </a:rPr>
              <a:t>zshrc</a:t>
            </a:r>
            <a:r>
              <a:rPr lang="en-US" sz="2800" b="1" dirty="0">
                <a:latin typeface="Helvetica Light" panose="020B0403020202020204" pitchFamily="34" charset="0"/>
              </a:rPr>
              <a:t> (or .</a:t>
            </a:r>
            <a:r>
              <a:rPr lang="en-US" sz="2800" b="1" dirty="0" err="1">
                <a:latin typeface="Helvetica Light" panose="020B0403020202020204" pitchFamily="34" charset="0"/>
              </a:rPr>
              <a:t>bash_profile</a:t>
            </a:r>
            <a:r>
              <a:rPr lang="en-US" sz="2800" b="1" dirty="0">
                <a:latin typeface="Helvetica Light" panose="020B0403020202020204" pitchFamily="34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4E04C9-4DA9-FF4C-B2FA-9D1262C51290}"/>
              </a:ext>
            </a:extLst>
          </p:cNvPr>
          <p:cNvSpPr txBox="1"/>
          <p:nvPr/>
        </p:nvSpPr>
        <p:spPr>
          <a:xfrm>
            <a:off x="284197" y="1467564"/>
            <a:ext cx="86214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Go to the profile section of </a:t>
            </a:r>
            <a:r>
              <a:rPr lang="en-US" sz="2200" b="1" dirty="0" err="1">
                <a:latin typeface="Helvetica Light" panose="020B0403020202020204" pitchFamily="34" charset="0"/>
              </a:rPr>
              <a:t>unixII_primer.md</a:t>
            </a:r>
            <a:r>
              <a:rPr lang="en-US" sz="2200" dirty="0">
                <a:latin typeface="Helvetica Light" panose="020B0403020202020204" pitchFamily="34" charset="0"/>
              </a:rPr>
              <a:t>, follow closely to understand and alter </a:t>
            </a:r>
            <a:r>
              <a:rPr lang="en-US" sz="2200" b="1" dirty="0">
                <a:latin typeface="Helvetica Light" panose="020B0403020202020204" pitchFamily="34" charset="0"/>
              </a:rPr>
              <a:t>.</a:t>
            </a:r>
            <a:r>
              <a:rPr lang="en-US" sz="2200" b="1" dirty="0" err="1">
                <a:latin typeface="Helvetica Light" panose="020B0403020202020204" pitchFamily="34" charset="0"/>
              </a:rPr>
              <a:t>zshrc</a:t>
            </a:r>
            <a:r>
              <a:rPr lang="en-US" sz="2200" b="1" dirty="0">
                <a:latin typeface="Helvetica Light" panose="020B0403020202020204" pitchFamily="34" charset="0"/>
              </a:rPr>
              <a:t>, .</a:t>
            </a:r>
            <a:r>
              <a:rPr lang="en-US" sz="2200" b="1" dirty="0" err="1">
                <a:latin typeface="Helvetica Light" panose="020B0403020202020204" pitchFamily="34" charset="0"/>
              </a:rPr>
              <a:t>bash_profile</a:t>
            </a:r>
            <a:r>
              <a:rPr lang="en-US" sz="2200" b="1" dirty="0">
                <a:latin typeface="Helvetica Light" panose="020B0403020202020204" pitchFamily="34" charset="0"/>
              </a:rPr>
              <a:t>, .</a:t>
            </a:r>
            <a:r>
              <a:rPr lang="en-US" sz="2200" b="1" dirty="0" err="1">
                <a:latin typeface="Helvetica Light" panose="020B0403020202020204" pitchFamily="34" charset="0"/>
              </a:rPr>
              <a:t>bashrc</a:t>
            </a:r>
            <a:r>
              <a:rPr lang="en-US" sz="2200" b="1" dirty="0">
                <a:latin typeface="Helvetica Light" panose="020B0403020202020204" pitchFamily="34" charset="0"/>
              </a:rPr>
              <a:t> </a:t>
            </a:r>
            <a:r>
              <a:rPr lang="en-US" sz="2200" dirty="0">
                <a:latin typeface="Helvetica Light" panose="020B0403020202020204" pitchFamily="34" charset="0"/>
              </a:rPr>
              <a:t>or whatever your system calls for</a:t>
            </a:r>
            <a:r>
              <a:rPr lang="en-US" sz="2200" b="1" dirty="0">
                <a:latin typeface="Helvetica Light" panose="020B0403020202020204" pitchFamily="34" charset="0"/>
              </a:rPr>
              <a:t>.</a:t>
            </a:r>
          </a:p>
          <a:p>
            <a:endParaRPr lang="en-US" sz="2200" b="1" dirty="0">
              <a:latin typeface="Helvetica Light" panose="020B04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624E2A-C2DE-7D47-96A6-AEFF47C7FC67}"/>
              </a:ext>
            </a:extLst>
          </p:cNvPr>
          <p:cNvSpPr txBox="1"/>
          <p:nvPr/>
        </p:nvSpPr>
        <p:spPr>
          <a:xfrm>
            <a:off x="284197" y="3096833"/>
            <a:ext cx="84838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We are going to walk through modifying profile settings in class today so that we can safeguard against accidents (even though those accidents are a vivid way to learn Linux and its powers).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CED70D-236A-3F48-B598-1994699887DC}"/>
              </a:ext>
            </a:extLst>
          </p:cNvPr>
          <p:cNvSpPr txBox="1"/>
          <p:nvPr/>
        </p:nvSpPr>
        <p:spPr>
          <a:xfrm>
            <a:off x="284197" y="5284559"/>
            <a:ext cx="848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To activate, restart terminal application</a:t>
            </a:r>
          </a:p>
        </p:txBody>
      </p:sp>
    </p:spTree>
    <p:extLst>
      <p:ext uri="{BB962C8B-B14F-4D97-AF65-F5344CB8AC3E}">
        <p14:creationId xmlns:p14="http://schemas.microsoft.com/office/powerpoint/2010/main" val="1566984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64B4E75B-965F-7B7E-B1C0-9B8A65735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56" y="392960"/>
            <a:ext cx="8703487" cy="43595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96039C-4078-E898-F4F8-C6262D415FBE}"/>
              </a:ext>
            </a:extLst>
          </p:cNvPr>
          <p:cNvSpPr txBox="1"/>
          <p:nvPr/>
        </p:nvSpPr>
        <p:spPr>
          <a:xfrm>
            <a:off x="220256" y="6295763"/>
            <a:ext cx="8525091" cy="32316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Helvetica Light" panose="020B0403020202020204" pitchFamily="34" charset="0"/>
              </a:rPr>
              <a:t>$ </a:t>
            </a:r>
            <a:r>
              <a:rPr lang="en-US" sz="1500" dirty="0" err="1">
                <a:latin typeface="Helvetica Light" panose="020B0403020202020204" pitchFamily="34" charset="0"/>
              </a:rPr>
              <a:t>sh</a:t>
            </a:r>
            <a:r>
              <a:rPr lang="en-US" sz="1500" dirty="0">
                <a:latin typeface="Helvetica Light" panose="020B0403020202020204" pitchFamily="34" charset="0"/>
              </a:rPr>
              <a:t> -c "$(curl -</a:t>
            </a:r>
            <a:r>
              <a:rPr lang="en-US" sz="1500" dirty="0" err="1">
                <a:latin typeface="Helvetica Light" panose="020B0403020202020204" pitchFamily="34" charset="0"/>
              </a:rPr>
              <a:t>fsSL</a:t>
            </a:r>
            <a:r>
              <a:rPr lang="en-US" sz="1500" dirty="0">
                <a:latin typeface="Helvetica Light" panose="020B0403020202020204" pitchFamily="34" charset="0"/>
              </a:rPr>
              <a:t> https://</a:t>
            </a:r>
            <a:r>
              <a:rPr lang="en-US" sz="1500" dirty="0" err="1">
                <a:latin typeface="Helvetica Light" panose="020B0403020202020204" pitchFamily="34" charset="0"/>
              </a:rPr>
              <a:t>raw.githubusercontent.com</a:t>
            </a:r>
            <a:r>
              <a:rPr lang="en-US" sz="1500" dirty="0">
                <a:latin typeface="Helvetica Light" panose="020B0403020202020204" pitchFamily="34" charset="0"/>
              </a:rPr>
              <a:t>/</a:t>
            </a:r>
            <a:r>
              <a:rPr lang="en-US" sz="1500" dirty="0" err="1">
                <a:latin typeface="Helvetica Light" panose="020B0403020202020204" pitchFamily="34" charset="0"/>
              </a:rPr>
              <a:t>ohmyzsh</a:t>
            </a:r>
            <a:r>
              <a:rPr lang="en-US" sz="1500" dirty="0">
                <a:latin typeface="Helvetica Light" panose="020B0403020202020204" pitchFamily="34" charset="0"/>
              </a:rPr>
              <a:t>/</a:t>
            </a:r>
            <a:r>
              <a:rPr lang="en-US" sz="1500" dirty="0" err="1">
                <a:latin typeface="Helvetica Light" panose="020B0403020202020204" pitchFamily="34" charset="0"/>
              </a:rPr>
              <a:t>ohmyzsh</a:t>
            </a:r>
            <a:r>
              <a:rPr lang="en-US" sz="1500" dirty="0">
                <a:latin typeface="Helvetica Light" panose="020B0403020202020204" pitchFamily="34" charset="0"/>
              </a:rPr>
              <a:t>/master/tools/</a:t>
            </a:r>
            <a:r>
              <a:rPr lang="en-US" sz="1500" dirty="0" err="1">
                <a:latin typeface="Helvetica Light" panose="020B0403020202020204" pitchFamily="34" charset="0"/>
              </a:rPr>
              <a:t>install.sh</a:t>
            </a:r>
            <a:r>
              <a:rPr lang="en-US" sz="1500" dirty="0">
                <a:latin typeface="Helvetica Light" panose="020B0403020202020204" pitchFamily="34" charset="0"/>
              </a:rPr>
              <a:t>)"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64C546-6535-1C3B-D0BA-F52867FCE469}"/>
              </a:ext>
            </a:extLst>
          </p:cNvPr>
          <p:cNvSpPr txBox="1"/>
          <p:nvPr/>
        </p:nvSpPr>
        <p:spPr>
          <a:xfrm>
            <a:off x="661736" y="5139398"/>
            <a:ext cx="78205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A</a:t>
            </a:r>
            <a:r>
              <a:rPr lang="en-US" sz="2200" dirty="0">
                <a:effectLst/>
                <a:latin typeface="Helvetica Light" panose="020B0403020202020204" pitchFamily="34" charset="0"/>
              </a:rPr>
              <a:t>n open source, community-driven framework for managing your </a:t>
            </a:r>
            <a:r>
              <a:rPr lang="en-US" sz="2200" dirty="0" err="1">
                <a:effectLst/>
                <a:latin typeface="Helvetica Light" panose="020B0403020202020204" pitchFamily="34" charset="0"/>
              </a:rPr>
              <a:t>zsh</a:t>
            </a:r>
            <a:r>
              <a:rPr lang="en-US" sz="2200" dirty="0">
                <a:effectLst/>
                <a:latin typeface="Helvetica Light" panose="020B0403020202020204" pitchFamily="34" charset="0"/>
              </a:rPr>
              <a:t>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582929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34909"/>
            <a:ext cx="7560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Linux tools to get a good handle on this week: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6646" y="1083777"/>
            <a:ext cx="6386005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Helvetica Light" panose="020B0403020202020204" pitchFamily="34" charset="0"/>
              </a:rPr>
              <a:t>wc</a:t>
            </a:r>
            <a:endParaRPr lang="en-US" b="1" dirty="0">
              <a:latin typeface="Helvetica Light" panose="020B0403020202020204" pitchFamily="34" charset="0"/>
            </a:endParaRPr>
          </a:p>
          <a:p>
            <a:r>
              <a:rPr lang="en-US" b="1" dirty="0">
                <a:latin typeface="Helvetica Light" panose="020B0403020202020204" pitchFamily="34" charset="0"/>
              </a:rPr>
              <a:t>grep</a:t>
            </a:r>
          </a:p>
          <a:p>
            <a:r>
              <a:rPr lang="en-US" b="1" dirty="0">
                <a:latin typeface="Helvetica Light" panose="020B0403020202020204" pitchFamily="34" charset="0"/>
              </a:rPr>
              <a:t>less</a:t>
            </a:r>
          </a:p>
          <a:p>
            <a:r>
              <a:rPr lang="en-US" b="1" dirty="0" err="1">
                <a:latin typeface="Helvetica Light" panose="020B0403020202020204" pitchFamily="34" charset="0"/>
              </a:rPr>
              <a:t>ps</a:t>
            </a:r>
            <a:endParaRPr lang="en-US" b="1" dirty="0">
              <a:latin typeface="Helvetica Light" panose="020B0403020202020204" pitchFamily="34" charset="0"/>
            </a:endParaRPr>
          </a:p>
          <a:p>
            <a:r>
              <a:rPr lang="en-US" b="1" dirty="0">
                <a:latin typeface="Helvetica Light" panose="020B0403020202020204" pitchFamily="34" charset="0"/>
              </a:rPr>
              <a:t>history</a:t>
            </a:r>
          </a:p>
          <a:p>
            <a:r>
              <a:rPr lang="en-US" b="1" dirty="0">
                <a:latin typeface="Helvetica Light" panose="020B0403020202020204" pitchFamily="34" charset="0"/>
              </a:rPr>
              <a:t>cat</a:t>
            </a:r>
          </a:p>
          <a:p>
            <a:r>
              <a:rPr lang="en-US" b="1" dirty="0" err="1">
                <a:latin typeface="Helvetica Light" panose="020B0403020202020204" pitchFamily="34" charset="0"/>
              </a:rPr>
              <a:t>gzip</a:t>
            </a:r>
            <a:endParaRPr lang="en-US" b="1" dirty="0">
              <a:latin typeface="Helvetica Light" panose="020B0403020202020204" pitchFamily="34" charset="0"/>
            </a:endParaRPr>
          </a:p>
          <a:p>
            <a:r>
              <a:rPr lang="en-US" b="1" dirty="0" err="1">
                <a:latin typeface="Helvetica Light" panose="020B0403020202020204" pitchFamily="34" charset="0"/>
              </a:rPr>
              <a:t>gunzip</a:t>
            </a:r>
            <a:endParaRPr lang="en-US" b="1" dirty="0">
              <a:latin typeface="Helvetica Light" panose="020B0403020202020204" pitchFamily="34" charset="0"/>
            </a:endParaRPr>
          </a:p>
          <a:p>
            <a:r>
              <a:rPr lang="en-US" b="1" dirty="0">
                <a:latin typeface="Helvetica Light" panose="020B0403020202020204" pitchFamily="34" charset="0"/>
              </a:rPr>
              <a:t>top</a:t>
            </a:r>
          </a:p>
          <a:p>
            <a:r>
              <a:rPr lang="en-US" b="1" dirty="0">
                <a:latin typeface="Helvetica Light" panose="020B0403020202020204" pitchFamily="34" charset="0"/>
              </a:rPr>
              <a:t>kill</a:t>
            </a:r>
          </a:p>
          <a:p>
            <a:r>
              <a:rPr lang="en-US" b="1" dirty="0">
                <a:latin typeface="Helvetica Light" panose="020B0403020202020204" pitchFamily="34" charset="0"/>
              </a:rPr>
              <a:t>cut</a:t>
            </a:r>
          </a:p>
          <a:p>
            <a:r>
              <a:rPr lang="en-US" b="1" dirty="0">
                <a:latin typeface="Helvetica Light" panose="020B0403020202020204" pitchFamily="34" charset="0"/>
              </a:rPr>
              <a:t>paste</a:t>
            </a:r>
          </a:p>
          <a:p>
            <a:r>
              <a:rPr lang="en-US" b="1" dirty="0">
                <a:latin typeface="Helvetica Light" panose="020B0403020202020204" pitchFamily="34" charset="0"/>
              </a:rPr>
              <a:t>grep</a:t>
            </a:r>
          </a:p>
          <a:p>
            <a:r>
              <a:rPr lang="en-US" b="1" dirty="0">
                <a:latin typeface="Helvetica Light" panose="020B0403020202020204" pitchFamily="34" charset="0"/>
              </a:rPr>
              <a:t>&amp;</a:t>
            </a:r>
          </a:p>
          <a:p>
            <a:r>
              <a:rPr lang="en-US" b="1" dirty="0">
                <a:latin typeface="Helvetica Light" panose="020B0403020202020204" pitchFamily="34" charset="0"/>
              </a:rPr>
              <a:t>*</a:t>
            </a:r>
          </a:p>
          <a:p>
            <a:r>
              <a:rPr lang="en-US" b="1" dirty="0">
                <a:latin typeface="Helvetica Light" panose="020B0403020202020204" pitchFamily="34" charset="0"/>
              </a:rPr>
              <a:t>&gt;</a:t>
            </a:r>
          </a:p>
          <a:p>
            <a:r>
              <a:rPr lang="en-US" b="1" dirty="0">
                <a:latin typeface="Helvetica Light" panose="020B0403020202020204" pitchFamily="34" charset="0"/>
              </a:rPr>
              <a:t>|</a:t>
            </a:r>
          </a:p>
          <a:p>
            <a:r>
              <a:rPr lang="en-US" dirty="0">
                <a:latin typeface="Helvetica Light" panose="020B0403020202020204" pitchFamily="34" charset="0"/>
              </a:rPr>
              <a:t>**everything related to moving, copying or syncing files:</a:t>
            </a:r>
          </a:p>
          <a:p>
            <a:r>
              <a:rPr lang="en-US" b="1" dirty="0">
                <a:latin typeface="Helvetica Light" panose="020B0403020202020204" pitchFamily="34" charset="0"/>
              </a:rPr>
              <a:t>cp</a:t>
            </a:r>
            <a:r>
              <a:rPr lang="en-US" dirty="0">
                <a:latin typeface="Helvetica Light" panose="020B0403020202020204" pitchFamily="34" charset="0"/>
              </a:rPr>
              <a:t>, </a:t>
            </a:r>
            <a:r>
              <a:rPr lang="en-US" b="1" dirty="0">
                <a:latin typeface="Helvetica Light" panose="020B0403020202020204" pitchFamily="34" charset="0"/>
              </a:rPr>
              <a:t>mv</a:t>
            </a:r>
            <a:r>
              <a:rPr lang="en-US" dirty="0">
                <a:latin typeface="Helvetica Light" panose="020B0403020202020204" pitchFamily="34" charset="0"/>
              </a:rPr>
              <a:t>, </a:t>
            </a:r>
            <a:r>
              <a:rPr lang="en-US" b="1" dirty="0" err="1">
                <a:latin typeface="Helvetica Light" panose="020B0403020202020204" pitchFamily="34" charset="0"/>
              </a:rPr>
              <a:t>mkdir</a:t>
            </a:r>
            <a:r>
              <a:rPr lang="en-US" dirty="0">
                <a:latin typeface="Helvetica Light" panose="020B0403020202020204" pitchFamily="34" charset="0"/>
              </a:rPr>
              <a:t>, </a:t>
            </a:r>
            <a:r>
              <a:rPr lang="en-US" b="1" dirty="0" err="1">
                <a:latin typeface="Helvetica Light" panose="020B0403020202020204" pitchFamily="34" charset="0"/>
              </a:rPr>
              <a:t>rmdir</a:t>
            </a:r>
            <a:r>
              <a:rPr lang="en-US" dirty="0">
                <a:latin typeface="Helvetica Light" panose="020B0403020202020204" pitchFamily="34" charset="0"/>
              </a:rPr>
              <a:t>, </a:t>
            </a:r>
            <a:r>
              <a:rPr lang="en-US" b="1" dirty="0">
                <a:latin typeface="Helvetica Light" panose="020B0403020202020204" pitchFamily="34" charset="0"/>
              </a:rPr>
              <a:t>rm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31644" y="1803400"/>
            <a:ext cx="3342739" cy="2215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latin typeface="Helvetica Light" panose="020B0403020202020204" pitchFamily="34" charset="0"/>
              </a:rPr>
              <a:t>rsync</a:t>
            </a:r>
            <a:r>
              <a:rPr lang="en-US" sz="2400" b="1" dirty="0">
                <a:latin typeface="Helvetica Light" panose="020B0403020202020204" pitchFamily="34" charset="0"/>
              </a:rPr>
              <a:t> 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This one is important: read man page, and try out on some test directories before next week</a:t>
            </a:r>
          </a:p>
          <a:p>
            <a:endParaRPr lang="en-US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320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5-09-09 at 1.56.3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370" y="64714"/>
            <a:ext cx="5117630" cy="67274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9778" y="827852"/>
            <a:ext cx="33607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Unix cheat sheet on course webpage under “</a:t>
            </a:r>
            <a:r>
              <a:rPr lang="en-US" dirty="0" err="1">
                <a:latin typeface="Helvetica Light" panose="020B0403020202020204" pitchFamily="34" charset="0"/>
              </a:rPr>
              <a:t>unix_resources</a:t>
            </a:r>
            <a:r>
              <a:rPr lang="en-US" dirty="0">
                <a:latin typeface="Helvetica Light" panose="020B0403020202020204" pitchFamily="34" charset="0"/>
              </a:rPr>
              <a:t>”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I suggest keeping his on hand for now, but being comfortable with most of these commands before working on any computing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9778" y="4412074"/>
            <a:ext cx="30668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There is a similar python cheat sheet in the same location</a:t>
            </a:r>
          </a:p>
        </p:txBody>
      </p:sp>
    </p:spTree>
    <p:extLst>
      <p:ext uri="{BB962C8B-B14F-4D97-AF65-F5344CB8AC3E}">
        <p14:creationId xmlns:p14="http://schemas.microsoft.com/office/powerpoint/2010/main" val="206669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1838" y="587826"/>
            <a:ext cx="72603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When to use a text viewer rather than editor: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135" y="1935176"/>
            <a:ext cx="835172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200" dirty="0">
                <a:latin typeface="Helvetica Light" panose="020B0403020202020204" pitchFamily="34" charset="0"/>
              </a:rPr>
              <a:t>You might not know which program your computer would ‘automatically’ use to open that file</a:t>
            </a:r>
          </a:p>
          <a:p>
            <a:pPr marL="342900" indent="-342900">
              <a:buAutoNum type="arabicPeriod"/>
            </a:pPr>
            <a:endParaRPr lang="en-US" sz="2200" dirty="0">
              <a:latin typeface="Helvetica Light" panose="020B0403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2200" dirty="0">
                <a:latin typeface="Helvetica Light" panose="020B0403020202020204" pitchFamily="34" charset="0"/>
              </a:rPr>
              <a:t>You don</a:t>
            </a:r>
            <a:r>
              <a:rPr lang="fr-FR" sz="2200" dirty="0">
                <a:latin typeface="Helvetica Light" panose="020B0403020202020204" pitchFamily="34" charset="0"/>
              </a:rPr>
              <a:t>’</a:t>
            </a:r>
            <a:r>
              <a:rPr lang="en-US" sz="2200" dirty="0">
                <a:latin typeface="Helvetica Light" panose="020B0403020202020204" pitchFamily="34" charset="0"/>
              </a:rPr>
              <a:t>t know the size of the file. Big data will typically be too big to open with one of your text editing programs.</a:t>
            </a:r>
          </a:p>
          <a:p>
            <a:pPr marL="342900" indent="-342900">
              <a:buAutoNum type="arabicPeriod"/>
            </a:pPr>
            <a:endParaRPr lang="en-US" sz="2200" dirty="0">
              <a:latin typeface="Helvetica Light" panose="020B0403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2200" dirty="0">
                <a:latin typeface="Helvetica Light" panose="020B0403020202020204" pitchFamily="34" charset="0"/>
              </a:rPr>
              <a:t>Sometimes you just want to look, and want to make sure you don</a:t>
            </a:r>
            <a:r>
              <a:rPr lang="fr-FR" sz="2200" dirty="0">
                <a:latin typeface="Helvetica Light" panose="020B0403020202020204" pitchFamily="34" charset="0"/>
              </a:rPr>
              <a:t>’</a:t>
            </a:r>
            <a:r>
              <a:rPr lang="en-US" sz="2200" dirty="0">
                <a:latin typeface="Helvetica Light" panose="020B0403020202020204" pitchFamily="34" charset="0"/>
              </a:rPr>
              <a:t>t accidentally edit a file (such as a complicated program)</a:t>
            </a:r>
          </a:p>
        </p:txBody>
      </p:sp>
    </p:spTree>
    <p:extLst>
      <p:ext uri="{BB962C8B-B14F-4D97-AF65-F5344CB8AC3E}">
        <p14:creationId xmlns:p14="http://schemas.microsoft.com/office/powerpoint/2010/main" val="2239268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4661" y="176345"/>
            <a:ext cx="494077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Viewing files (but not editing):</a:t>
            </a:r>
          </a:p>
          <a:p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$ less </a:t>
            </a:r>
            <a:r>
              <a:rPr lang="en-US" sz="2600" b="1" dirty="0" err="1">
                <a:latin typeface="Helvetica Light" panose="020B0403020202020204" pitchFamily="34" charset="0"/>
              </a:rPr>
              <a:t>data.fastq</a:t>
            </a:r>
            <a:endParaRPr lang="en-US" sz="2600" b="1" dirty="0">
              <a:latin typeface="Helvetica Light" panose="020B0403020202020204" pitchFamily="34" charset="0"/>
            </a:endParaRPr>
          </a:p>
        </p:txBody>
      </p:sp>
      <p:pic>
        <p:nvPicPr>
          <p:cNvPr id="3" name="Picture 2" descr="Screen Shot 2014-08-13 at 11.00.27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626" y="1561340"/>
            <a:ext cx="6485920" cy="4238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4661" y="5942477"/>
            <a:ext cx="8040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 Light" panose="020B0403020202020204" pitchFamily="34" charset="0"/>
              </a:rPr>
              <a:t>q</a:t>
            </a:r>
            <a:r>
              <a:rPr lang="en-US" dirty="0">
                <a:latin typeface="Helvetica Light" panose="020B0403020202020204" pitchFamily="34" charset="0"/>
              </a:rPr>
              <a:t> exits, “</a:t>
            </a:r>
            <a:r>
              <a:rPr lang="en-US" b="1" dirty="0">
                <a:latin typeface="Helvetica Light" panose="020B0403020202020204" pitchFamily="34" charset="0"/>
              </a:rPr>
              <a:t>/</a:t>
            </a:r>
            <a:r>
              <a:rPr lang="en-US" dirty="0">
                <a:latin typeface="Helvetica Light" panose="020B0403020202020204" pitchFamily="34" charset="0"/>
              </a:rPr>
              <a:t>” allows you to search for a pattern, </a:t>
            </a:r>
            <a:r>
              <a:rPr lang="en-US" b="1" dirty="0">
                <a:latin typeface="Helvetica Light" panose="020B0403020202020204" pitchFamily="34" charset="0"/>
              </a:rPr>
              <a:t>space bar </a:t>
            </a:r>
            <a:r>
              <a:rPr lang="en-US" dirty="0">
                <a:latin typeface="Helvetica Light" panose="020B0403020202020204" pitchFamily="34" charset="0"/>
              </a:rPr>
              <a:t>scrolls down a page, </a:t>
            </a:r>
            <a:r>
              <a:rPr lang="en-US" b="1" dirty="0">
                <a:latin typeface="Helvetica Light" panose="020B0403020202020204" pitchFamily="34" charset="0"/>
              </a:rPr>
              <a:t>b</a:t>
            </a:r>
            <a:r>
              <a:rPr lang="en-US" dirty="0">
                <a:latin typeface="Helvetica Light" panose="020B0403020202020204" pitchFamily="34" charset="0"/>
              </a:rPr>
              <a:t> goes up a page. See </a:t>
            </a:r>
            <a:r>
              <a:rPr lang="en-US" b="1" dirty="0">
                <a:latin typeface="Helvetica Light" panose="020B0403020202020204" pitchFamily="34" charset="0"/>
              </a:rPr>
              <a:t>$ man less</a:t>
            </a:r>
          </a:p>
        </p:txBody>
      </p:sp>
    </p:spTree>
    <p:extLst>
      <p:ext uri="{BB962C8B-B14F-4D97-AF65-F5344CB8AC3E}">
        <p14:creationId xmlns:p14="http://schemas.microsoft.com/office/powerpoint/2010/main" val="2663644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44308" y="410340"/>
            <a:ext cx="6378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Editing text files outside of the terminal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2818" y="1065456"/>
            <a:ext cx="8058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 Light" panose="020B0403020202020204" pitchFamily="34" charset="0"/>
              </a:rPr>
              <a:t>Text Editors (</a:t>
            </a:r>
            <a:r>
              <a:rPr lang="en-US" b="1" dirty="0" err="1">
                <a:latin typeface="Helvetica Light" panose="020B0403020202020204" pitchFamily="34" charset="0"/>
              </a:rPr>
              <a:t>bbedit</a:t>
            </a:r>
            <a:r>
              <a:rPr lang="en-US" b="1" dirty="0">
                <a:latin typeface="Helvetica Light" panose="020B0403020202020204" pitchFamily="34" charset="0"/>
              </a:rPr>
              <a:t>, VIM, </a:t>
            </a:r>
            <a:r>
              <a:rPr lang="en-US" b="1" dirty="0" err="1">
                <a:latin typeface="Helvetica Light" panose="020B0403020202020204" pitchFamily="34" charset="0"/>
              </a:rPr>
              <a:t>VScode</a:t>
            </a:r>
            <a:r>
              <a:rPr lang="en-US" b="1" dirty="0">
                <a:latin typeface="Helvetica Light" panose="020B0403020202020204" pitchFamily="34" charset="0"/>
              </a:rPr>
              <a:t>)</a:t>
            </a:r>
            <a:r>
              <a:rPr lang="en-US" dirty="0">
                <a:latin typeface="Helvetica Light" panose="020B0403020202020204" pitchFamily="34" charset="0"/>
              </a:rPr>
              <a:t>: good for working on code because they have syntax recognition.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2818" y="5251061"/>
            <a:ext cx="8220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b="1" dirty="0">
                <a:latin typeface="Helvetica Light" panose="020B0403020202020204" pitchFamily="34" charset="0"/>
              </a:rPr>
              <a:t>$ open </a:t>
            </a:r>
            <a:r>
              <a:rPr lang="en-US" b="1" dirty="0" err="1">
                <a:latin typeface="Helvetica Light" panose="020B0403020202020204" pitchFamily="34" charset="0"/>
              </a:rPr>
              <a:t>logger.py</a:t>
            </a:r>
            <a:r>
              <a:rPr lang="en-US" b="1" dirty="0">
                <a:latin typeface="Helvetica Light" panose="020B0403020202020204" pitchFamily="34" charset="0"/>
              </a:rPr>
              <a:t> 			</a:t>
            </a:r>
            <a:r>
              <a:rPr lang="en-US" dirty="0">
                <a:latin typeface="Helvetica Light" panose="020B0403020202020204" pitchFamily="34" charset="0"/>
              </a:rPr>
              <a:t>OR              </a:t>
            </a:r>
            <a:r>
              <a:rPr lang="en-US" b="1" dirty="0">
                <a:latin typeface="Helvetica Light" panose="020B0403020202020204" pitchFamily="34" charset="0"/>
              </a:rPr>
              <a:t>$ open –a </a:t>
            </a:r>
            <a:r>
              <a:rPr lang="en-US" b="1" dirty="0" err="1">
                <a:latin typeface="Helvetica Light" panose="020B0403020202020204" pitchFamily="34" charset="0"/>
              </a:rPr>
              <a:t>VScode</a:t>
            </a:r>
            <a:r>
              <a:rPr lang="en-US" b="1" dirty="0">
                <a:latin typeface="Helvetica Light" panose="020B0403020202020204" pitchFamily="34" charset="0"/>
              </a:rPr>
              <a:t> </a:t>
            </a:r>
            <a:r>
              <a:rPr lang="en-US" b="1" dirty="0" err="1">
                <a:latin typeface="Helvetica Light" panose="020B0403020202020204" pitchFamily="34" charset="0"/>
              </a:rPr>
              <a:t>simple.sh</a:t>
            </a:r>
            <a:endParaRPr lang="en-US" b="1" dirty="0">
              <a:latin typeface="Helvetica Light" panose="020B0403020202020204" pitchFamily="34" charset="0"/>
            </a:endParaRPr>
          </a:p>
          <a:p>
            <a:endParaRPr lang="en-US" dirty="0">
              <a:latin typeface="Helvetica Light" panose="020B0403020202020204" pitchFamily="34" charset="0"/>
            </a:endParaRPr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F1C3FC20-112E-B240-A795-B59CA1FE1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08" y="1889467"/>
            <a:ext cx="7233958" cy="32710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6F8B94-4AA0-3196-E37F-8D1AB7488C30}"/>
              </a:ext>
            </a:extLst>
          </p:cNvPr>
          <p:cNvSpPr txBox="1"/>
          <p:nvPr/>
        </p:nvSpPr>
        <p:spPr>
          <a:xfrm>
            <a:off x="117066" y="6029901"/>
            <a:ext cx="8909868" cy="646331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I suggest setting whichever text editor you choose as the default for opening .txt files on your machine</a:t>
            </a:r>
          </a:p>
        </p:txBody>
      </p:sp>
    </p:spTree>
    <p:extLst>
      <p:ext uri="{BB962C8B-B14F-4D97-AF65-F5344CB8AC3E}">
        <p14:creationId xmlns:p14="http://schemas.microsoft.com/office/powerpoint/2010/main" val="3191739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1053" y="362632"/>
            <a:ext cx="50209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Editing text inside the terminal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4404" y="1139844"/>
            <a:ext cx="81569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Sometimes it will be easier to edit text files from within the terminal (e.g., when you are connected to a remote server or HPC system)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4407" y="1943411"/>
            <a:ext cx="69926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>
                <a:latin typeface="Helvetica Light" panose="020B0403020202020204" pitchFamily="34" charset="0"/>
              </a:rPr>
              <a:t>nano</a:t>
            </a:r>
            <a:r>
              <a:rPr lang="en-US" sz="2000" dirty="0">
                <a:latin typeface="Helvetica Light" panose="020B0403020202020204" pitchFamily="34" charset="0"/>
              </a:rPr>
              <a:t>: A simple </a:t>
            </a:r>
            <a:r>
              <a:rPr lang="en-US" sz="2000" dirty="0" err="1">
                <a:latin typeface="Helvetica Light" panose="020B0403020202020204" pitchFamily="34" charset="0"/>
              </a:rPr>
              <a:t>unix</a:t>
            </a:r>
            <a:r>
              <a:rPr lang="en-US" sz="2000" dirty="0">
                <a:latin typeface="Helvetica Light" panose="020B0403020202020204" pitchFamily="34" charset="0"/>
              </a:rPr>
              <a:t> text editing program. Learn the basics.</a:t>
            </a:r>
          </a:p>
        </p:txBody>
      </p:sp>
      <p:pic>
        <p:nvPicPr>
          <p:cNvPr id="5" name="Picture 4" descr="Screen Shot 2014-08-13 at 11.17.04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734" y="2598833"/>
            <a:ext cx="5400270" cy="370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254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5743" y="393054"/>
            <a:ext cx="8500534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A word on line endings: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200" dirty="0">
                <a:latin typeface="Helvetica Light" panose="020B0403020202020204" pitchFamily="34" charset="0"/>
              </a:rPr>
              <a:t>While working in Linux, Python, and other data processing languages you will quickly realize that line endings are themselves characters, although they are hidden</a:t>
            </a:r>
          </a:p>
          <a:p>
            <a:pPr marL="457200" indent="-457200">
              <a:buAutoNum type="arabicPeriod"/>
            </a:pPr>
            <a:endParaRPr lang="en-US" sz="2200" dirty="0">
              <a:latin typeface="Helvetica Light" panose="020B0403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200" dirty="0">
                <a:latin typeface="Helvetica Light" panose="020B0403020202020204" pitchFamily="34" charset="0"/>
              </a:rPr>
              <a:t>You nearly always want to use Linux line endings.</a:t>
            </a:r>
          </a:p>
        </p:txBody>
      </p:sp>
      <p:pic>
        <p:nvPicPr>
          <p:cNvPr id="3" name="Picture 2" descr="Screen Shot 2014-09-08 at 11.43.57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165" y="3110947"/>
            <a:ext cx="5312349" cy="3599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743" y="3977381"/>
            <a:ext cx="2151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Text file with Unix line endings, viewed with less</a:t>
            </a:r>
          </a:p>
        </p:txBody>
      </p:sp>
    </p:spTree>
    <p:extLst>
      <p:ext uri="{BB962C8B-B14F-4D97-AF65-F5344CB8AC3E}">
        <p14:creationId xmlns:p14="http://schemas.microsoft.com/office/powerpoint/2010/main" val="2509535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9715" y="394206"/>
            <a:ext cx="8031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Same file with but with Mac line endings, viewed with </a:t>
            </a:r>
            <a:r>
              <a:rPr lang="en-US" sz="2400" b="1" dirty="0">
                <a:latin typeface="Helvetica Light" panose="020B0403020202020204" pitchFamily="34" charset="0"/>
              </a:rPr>
              <a:t>less</a:t>
            </a:r>
          </a:p>
        </p:txBody>
      </p:sp>
      <p:pic>
        <p:nvPicPr>
          <p:cNvPr id="3" name="Picture 2" descr="Screen Shot 2014-09-08 at 11.44.1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46" y="1506762"/>
            <a:ext cx="7003884" cy="482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50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4-09-08 at 5.19.2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703747"/>
            <a:ext cx="6832600" cy="3733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55700" y="5204079"/>
            <a:ext cx="78576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You can change line endings simply in Text Wrangler/</a:t>
            </a:r>
            <a:r>
              <a:rPr lang="en-US" dirty="0" err="1">
                <a:latin typeface="Helvetica Light" panose="020B0403020202020204" pitchFamily="34" charset="0"/>
              </a:rPr>
              <a:t>Bbedit</a:t>
            </a:r>
            <a:r>
              <a:rPr lang="en-US" dirty="0">
                <a:latin typeface="Helvetica Light" panose="020B0403020202020204" pitchFamily="34" charset="0"/>
              </a:rPr>
              <a:t>/</a:t>
            </a:r>
            <a:r>
              <a:rPr lang="en-US" dirty="0" err="1">
                <a:latin typeface="Helvetica Light" panose="020B0403020202020204" pitchFamily="34" charset="0"/>
              </a:rPr>
              <a:t>Vscode</a:t>
            </a:r>
            <a:r>
              <a:rPr lang="en-US" dirty="0">
                <a:latin typeface="Helvetica Light" panose="020B0403020202020204" pitchFamily="34" charset="0"/>
              </a:rPr>
              <a:t> or other editors. </a:t>
            </a:r>
          </a:p>
          <a:p>
            <a:endParaRPr lang="en-US" dirty="0">
              <a:latin typeface="Helvetica Light" panose="020B0403020202020204" pitchFamily="34" charset="0"/>
            </a:endParaRPr>
          </a:p>
          <a:p>
            <a:r>
              <a:rPr lang="en-US" dirty="0">
                <a:latin typeface="Helvetica Light" panose="020B0403020202020204" pitchFamily="34" charset="0"/>
              </a:rPr>
              <a:t>- Later we will write a shell script to do this automatically 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950489" y="4538685"/>
            <a:ext cx="517391" cy="6653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445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42277" y="463070"/>
            <a:ext cx="55258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File compression/decompression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5767" y="1747044"/>
            <a:ext cx="45784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gzip</a:t>
            </a:r>
            <a:r>
              <a:rPr lang="en-US" sz="2400" b="1" dirty="0">
                <a:latin typeface="Helvetica Light" panose="020B0403020202020204" pitchFamily="34" charset="0"/>
              </a:rPr>
              <a:t> </a:t>
            </a:r>
            <a:r>
              <a:rPr lang="en-US" sz="2400" b="1" dirty="0" err="1">
                <a:latin typeface="Helvetica Light" panose="020B0403020202020204" pitchFamily="34" charset="0"/>
              </a:rPr>
              <a:t>sample_passerina.fastq</a:t>
            </a:r>
            <a:r>
              <a:rPr lang="en-US" sz="2400" b="1" dirty="0">
                <a:latin typeface="Helvetica Light" panose="020B0403020202020204" pitchFamily="34" charset="0"/>
              </a:rPr>
              <a:t>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0437" y="4259405"/>
            <a:ext cx="53479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gunzip</a:t>
            </a:r>
            <a:r>
              <a:rPr lang="en-US" sz="2400" b="1" dirty="0">
                <a:latin typeface="Helvetica Light" panose="020B0403020202020204" pitchFamily="34" charset="0"/>
              </a:rPr>
              <a:t> </a:t>
            </a:r>
            <a:r>
              <a:rPr lang="en-US" sz="2400" b="1" dirty="0" err="1">
                <a:latin typeface="Helvetica Light" panose="020B0403020202020204" pitchFamily="34" charset="0"/>
              </a:rPr>
              <a:t>sample_passerina.fastq.gz</a:t>
            </a:r>
            <a:r>
              <a:rPr lang="en-US" sz="2400" b="1" dirty="0">
                <a:latin typeface="Helvetica Light" panose="020B0403020202020204" pitchFamily="34" charset="0"/>
              </a:rPr>
              <a:t>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910" y="2614786"/>
            <a:ext cx="7189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This will compress </a:t>
            </a:r>
            <a:r>
              <a:rPr lang="en-US" b="1" dirty="0" err="1">
                <a:latin typeface="Helvetica Light" panose="020B0403020202020204" pitchFamily="34" charset="0"/>
              </a:rPr>
              <a:t>sample_passerina.fastq</a:t>
            </a:r>
            <a:r>
              <a:rPr lang="en-US" b="1" dirty="0">
                <a:latin typeface="Helvetica Light" panose="020B0403020202020204" pitchFamily="34" charset="0"/>
              </a:rPr>
              <a:t> </a:t>
            </a:r>
            <a:r>
              <a:rPr lang="en-US" dirty="0">
                <a:latin typeface="Helvetica Light" panose="020B0403020202020204" pitchFamily="34" charset="0"/>
              </a:rPr>
              <a:t>and rename it </a:t>
            </a:r>
            <a:r>
              <a:rPr lang="en-US" b="1" dirty="0" err="1">
                <a:latin typeface="Helvetica Light" panose="020B0403020202020204" pitchFamily="34" charset="0"/>
              </a:rPr>
              <a:t>sample_passerina.fastq.gz</a:t>
            </a:r>
            <a:endParaRPr lang="en-US" b="1" dirty="0">
              <a:latin typeface="Helvetica Light" panose="020B0403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54909" y="5350026"/>
            <a:ext cx="7189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This will decompress </a:t>
            </a:r>
            <a:r>
              <a:rPr lang="en-US" dirty="0" err="1">
                <a:latin typeface="Helvetica Light" panose="020B0403020202020204" pitchFamily="34" charset="0"/>
              </a:rPr>
              <a:t>sample_passerina.fastq.gz</a:t>
            </a:r>
            <a:endParaRPr lang="en-US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508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16296" y="451556"/>
            <a:ext cx="30604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What is STDOUT?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4479" y="1542829"/>
            <a:ext cx="817082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When you execute a </a:t>
            </a:r>
            <a:r>
              <a:rPr lang="en-US" sz="2000" dirty="0" err="1">
                <a:latin typeface="Helvetica Light" panose="020B0403020202020204" pitchFamily="34" charset="0"/>
              </a:rPr>
              <a:t>unix</a:t>
            </a:r>
            <a:r>
              <a:rPr lang="en-US" sz="2000" dirty="0">
                <a:latin typeface="Helvetica Light" panose="020B0403020202020204" pitchFamily="34" charset="0"/>
              </a:rPr>
              <a:t> command, this is what prints to the terminal.</a:t>
            </a: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r>
              <a:rPr lang="en-US" sz="2000" dirty="0">
                <a:latin typeface="Helvetica Light" panose="020B0403020202020204" pitchFamily="34" charset="0"/>
              </a:rPr>
              <a:t>For example:</a:t>
            </a: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r>
              <a:rPr lang="en-US" sz="2000" b="1" dirty="0">
                <a:latin typeface="Helvetica Light" panose="020B0403020202020204" pitchFamily="34" charset="0"/>
              </a:rPr>
              <a:t>$ </a:t>
            </a:r>
            <a:r>
              <a:rPr lang="en-US" sz="2000" b="1" dirty="0" err="1">
                <a:latin typeface="Helvetica Light" panose="020B0403020202020204" pitchFamily="34" charset="0"/>
              </a:rPr>
              <a:t>ls</a:t>
            </a:r>
            <a:r>
              <a:rPr lang="en-US" sz="2000" b="1" dirty="0">
                <a:latin typeface="Helvetica Light" panose="020B0403020202020204" pitchFamily="34" charset="0"/>
              </a:rPr>
              <a:t> 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-STDOUT is the printout of directory contents</a:t>
            </a: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r>
              <a:rPr lang="en-US" sz="2000" b="1" dirty="0">
                <a:latin typeface="Helvetica Light" panose="020B0403020202020204" pitchFamily="34" charset="0"/>
              </a:rPr>
              <a:t>$ tail </a:t>
            </a:r>
            <a:r>
              <a:rPr lang="en-US" sz="2000" b="1" dirty="0" err="1">
                <a:latin typeface="Helvetica Light" panose="020B0403020202020204" pitchFamily="34" charset="0"/>
              </a:rPr>
              <a:t>file.txt</a:t>
            </a:r>
            <a:endParaRPr lang="en-US" sz="2000" b="1" dirty="0">
              <a:latin typeface="Helvetica Light" panose="020B0403020202020204" pitchFamily="34" charset="0"/>
            </a:endParaRPr>
          </a:p>
          <a:p>
            <a:r>
              <a:rPr lang="en-US" sz="2000" dirty="0">
                <a:latin typeface="Helvetica Light" panose="020B0403020202020204" pitchFamily="34" charset="0"/>
              </a:rPr>
              <a:t>-STDOUT will be the last part of that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4479" y="5172380"/>
            <a:ext cx="69332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</a:rPr>
              <a:t>We will often want to “</a:t>
            </a:r>
            <a:r>
              <a:rPr lang="en-US" sz="2200" b="1" dirty="0">
                <a:latin typeface="Helvetica Light" panose="020B0403020202020204" pitchFamily="34" charset="0"/>
              </a:rPr>
              <a:t>redirect</a:t>
            </a:r>
            <a:r>
              <a:rPr lang="en-US" sz="2200" dirty="0">
                <a:latin typeface="Helvetica Light" panose="020B0403020202020204" pitchFamily="34" charset="0"/>
              </a:rPr>
              <a:t>” (</a:t>
            </a:r>
            <a:r>
              <a:rPr lang="en-US" sz="2200" b="1" dirty="0">
                <a:latin typeface="Helvetica Light" panose="020B0403020202020204" pitchFamily="34" charset="0"/>
              </a:rPr>
              <a:t>&gt;,&gt;&gt;</a:t>
            </a:r>
            <a:r>
              <a:rPr lang="en-US" sz="2200" dirty="0">
                <a:latin typeface="Helvetica Light" panose="020B0403020202020204" pitchFamily="34" charset="0"/>
              </a:rPr>
              <a:t>) that output to another file or “</a:t>
            </a:r>
            <a:r>
              <a:rPr lang="en-US" sz="2200" b="1" dirty="0">
                <a:latin typeface="Helvetica Light" panose="020B0403020202020204" pitchFamily="34" charset="0"/>
              </a:rPr>
              <a:t>pipe</a:t>
            </a:r>
            <a:r>
              <a:rPr lang="en-US" sz="2200" dirty="0">
                <a:latin typeface="Helvetica Light" panose="020B0403020202020204" pitchFamily="34" charset="0"/>
              </a:rPr>
              <a:t>” (</a:t>
            </a:r>
            <a:r>
              <a:rPr lang="en-US" sz="2200" b="1" dirty="0">
                <a:latin typeface="Helvetica Light" panose="020B0403020202020204" pitchFamily="34" charset="0"/>
              </a:rPr>
              <a:t>|</a:t>
            </a:r>
            <a:r>
              <a:rPr lang="en-US" sz="2200" dirty="0">
                <a:latin typeface="Helvetica Light" panose="020B0403020202020204" pitchFamily="34" charset="0"/>
              </a:rPr>
              <a:t>) it into another program</a:t>
            </a:r>
          </a:p>
        </p:txBody>
      </p:sp>
    </p:spTree>
    <p:extLst>
      <p:ext uri="{BB962C8B-B14F-4D97-AF65-F5344CB8AC3E}">
        <p14:creationId xmlns:p14="http://schemas.microsoft.com/office/powerpoint/2010/main" val="4268717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792" y="640990"/>
            <a:ext cx="71955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Redirection (&gt;,&gt;&gt;)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5260" y="3306552"/>
            <a:ext cx="5516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cat *</a:t>
            </a:r>
            <a:r>
              <a:rPr lang="en-US" sz="2400" b="1" dirty="0" err="1">
                <a:latin typeface="Helvetica Light" panose="020B0403020202020204" pitchFamily="34" charset="0"/>
              </a:rPr>
              <a:t>data.txt</a:t>
            </a:r>
            <a:r>
              <a:rPr lang="en-US" sz="2400" b="1" dirty="0">
                <a:latin typeface="Helvetica Light" panose="020B0403020202020204" pitchFamily="34" charset="0"/>
              </a:rPr>
              <a:t> &gt; </a:t>
            </a:r>
            <a:r>
              <a:rPr lang="en-US" sz="2400" b="1" dirty="0" err="1">
                <a:latin typeface="Helvetica Light" panose="020B0403020202020204" pitchFamily="34" charset="0"/>
              </a:rPr>
              <a:t>loggerdata_alldays.txt</a:t>
            </a:r>
            <a:endParaRPr lang="en-US" sz="2400" b="1" dirty="0">
              <a:latin typeface="Helvetica Light" panose="020B0403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55260" y="4574750"/>
            <a:ext cx="61654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cat </a:t>
            </a:r>
            <a:r>
              <a:rPr lang="en-US" sz="2400" b="1" dirty="0" err="1">
                <a:latin typeface="Helvetica Light" panose="020B0403020202020204" pitchFamily="34" charset="0"/>
              </a:rPr>
              <a:t>newdata.txt</a:t>
            </a:r>
            <a:r>
              <a:rPr lang="en-US" sz="2400" b="1" dirty="0">
                <a:latin typeface="Helvetica Light" panose="020B0403020202020204" pitchFamily="34" charset="0"/>
              </a:rPr>
              <a:t> &gt;&gt; </a:t>
            </a:r>
            <a:r>
              <a:rPr lang="en-US" sz="2400" b="1" dirty="0" err="1">
                <a:latin typeface="Helvetica Light" panose="020B0403020202020204" pitchFamily="34" charset="0"/>
              </a:rPr>
              <a:t>loggerdata_alldays.txt</a:t>
            </a:r>
            <a:endParaRPr lang="en-US" sz="2400" b="1" dirty="0">
              <a:latin typeface="Helvetica Light" panose="020B04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81945" y="1963308"/>
            <a:ext cx="39966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 Light" panose="020B0403020202020204" pitchFamily="34" charset="0"/>
              </a:rPr>
              <a:t>$ </a:t>
            </a:r>
            <a:r>
              <a:rPr lang="en-US" sz="2400" b="1" dirty="0" err="1">
                <a:latin typeface="Helvetica Light" panose="020B0403020202020204" pitchFamily="34" charset="0"/>
              </a:rPr>
              <a:t>ls</a:t>
            </a:r>
            <a:r>
              <a:rPr lang="en-US" sz="2400" b="1" dirty="0">
                <a:latin typeface="Helvetica Light" panose="020B0403020202020204" pitchFamily="34" charset="0"/>
              </a:rPr>
              <a:t> &gt; </a:t>
            </a:r>
            <a:r>
              <a:rPr lang="en-US" sz="2400" b="1" dirty="0" err="1">
                <a:latin typeface="Helvetica Light" panose="020B0403020202020204" pitchFamily="34" charset="0"/>
              </a:rPr>
              <a:t>directory_contents.txt</a:t>
            </a:r>
            <a:endParaRPr lang="en-US" sz="2400" b="1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535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2727" y="328280"/>
            <a:ext cx="60773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Other tools for working with text files: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2465" y="1303867"/>
            <a:ext cx="8691412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Helvetica Light" panose="020B0403020202020204" pitchFamily="34" charset="0"/>
            </a:endParaRP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r>
              <a:rPr lang="en-US" sz="2000" b="1" dirty="0">
                <a:latin typeface="HELVETICA LIGHT" panose="020B0403020202020204" pitchFamily="34" charset="0"/>
              </a:rPr>
              <a:t>$ cat </a:t>
            </a:r>
            <a:r>
              <a:rPr lang="en-US" sz="2000" b="1" dirty="0" err="1">
                <a:latin typeface="HELVETICA LIGHT" panose="020B0403020202020204" pitchFamily="34" charset="0"/>
              </a:rPr>
              <a:t>sample_passerina.fastq</a:t>
            </a:r>
            <a:r>
              <a:rPr lang="en-US" sz="2000" dirty="0">
                <a:latin typeface="Helvetica Light" panose="020B0403020202020204" pitchFamily="34" charset="0"/>
              </a:rPr>
              <a:t>			</a:t>
            </a:r>
            <a:r>
              <a:rPr lang="en-US" dirty="0">
                <a:latin typeface="Helvetica Light" panose="020B0403020202020204" pitchFamily="34" charset="0"/>
              </a:rPr>
              <a:t>#prints entire contents to shell</a:t>
            </a: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r>
              <a:rPr lang="en-US" sz="2000" b="1" dirty="0">
                <a:latin typeface="HELVETICA LIGHT" panose="020B0403020202020204" pitchFamily="34" charset="0"/>
              </a:rPr>
              <a:t>$ cat </a:t>
            </a:r>
            <a:r>
              <a:rPr lang="en-US" sz="2000" b="1" dirty="0" err="1">
                <a:latin typeface="HELVETICA LIGHT" panose="020B0403020202020204" pitchFamily="34" charset="0"/>
              </a:rPr>
              <a:t>sample_passerina.fastq</a:t>
            </a:r>
            <a:r>
              <a:rPr lang="en-US" sz="2000" b="1" dirty="0">
                <a:latin typeface="HELVETICA LIGHT" panose="020B0403020202020204" pitchFamily="34" charset="0"/>
              </a:rPr>
              <a:t> | less  </a:t>
            </a:r>
            <a:r>
              <a:rPr lang="en-US" sz="2000" dirty="0">
                <a:latin typeface="Helvetica Light" panose="020B0403020202020204" pitchFamily="34" charset="0"/>
              </a:rPr>
              <a:t>	</a:t>
            </a:r>
            <a:r>
              <a:rPr lang="en-US" dirty="0">
                <a:latin typeface="Helvetica Light" panose="020B0403020202020204" pitchFamily="34" charset="0"/>
              </a:rPr>
              <a:t>#pipes output to </a:t>
            </a:r>
            <a:r>
              <a:rPr lang="en-US" dirty="0">
                <a:latin typeface="Helvetica Light" panose="020B0403020202020204" pitchFamily="34" charset="0"/>
                <a:cs typeface="Courier"/>
              </a:rPr>
              <a:t>less (so you see 1 page at a time)</a:t>
            </a: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r>
              <a:rPr lang="en-US" sz="2000" b="1" dirty="0">
                <a:latin typeface="HELVETICA LIGHT" panose="020B0403020202020204" pitchFamily="34" charset="0"/>
              </a:rPr>
              <a:t>$ head –n 1000 </a:t>
            </a:r>
            <a:r>
              <a:rPr lang="en-US" sz="2000" b="1" dirty="0" err="1">
                <a:latin typeface="HELVETICA LIGHT" panose="020B0403020202020204" pitchFamily="34" charset="0"/>
              </a:rPr>
              <a:t>sample_passerina.fastq</a:t>
            </a:r>
            <a:r>
              <a:rPr lang="en-US" sz="2000" dirty="0">
                <a:latin typeface="Helvetica Light" panose="020B0403020202020204" pitchFamily="34" charset="0"/>
              </a:rPr>
              <a:t>		</a:t>
            </a:r>
            <a:r>
              <a:rPr lang="en-US" dirty="0">
                <a:latin typeface="Helvetica Light" panose="020B0403020202020204" pitchFamily="34" charset="0"/>
              </a:rPr>
              <a:t>#prints first 1000 lines to shell</a:t>
            </a: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r>
              <a:rPr lang="en-US" sz="2000" b="1" dirty="0">
                <a:latin typeface="HELVETICA LIGHT" panose="020B0403020202020204" pitchFamily="34" charset="0"/>
              </a:rPr>
              <a:t>$ head –n 1000 </a:t>
            </a:r>
            <a:r>
              <a:rPr lang="en-US" sz="2000" b="1" dirty="0" err="1">
                <a:latin typeface="HELVETICA LIGHT" panose="020B0403020202020204" pitchFamily="34" charset="0"/>
              </a:rPr>
              <a:t>sample_passerina.fastq</a:t>
            </a:r>
            <a:r>
              <a:rPr lang="en-US" sz="2000" b="1" dirty="0">
                <a:latin typeface="HELVETICA LIGHT" panose="020B0403020202020204" pitchFamily="34" charset="0"/>
              </a:rPr>
              <a:t> &gt; 10000lines.fastq	</a:t>
            </a:r>
          </a:p>
          <a:p>
            <a:r>
              <a:rPr lang="en-US" dirty="0">
                <a:latin typeface="Helvetica Light" panose="020B0403020202020204" pitchFamily="34" charset="0"/>
              </a:rPr>
              <a:t>#writes the first 1000 lines to a new file</a:t>
            </a:r>
          </a:p>
        </p:txBody>
      </p:sp>
    </p:spTree>
    <p:extLst>
      <p:ext uri="{BB962C8B-B14F-4D97-AF65-F5344CB8AC3E}">
        <p14:creationId xmlns:p14="http://schemas.microsoft.com/office/powerpoint/2010/main" val="201460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9086" y="578056"/>
            <a:ext cx="839176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grep</a:t>
            </a:r>
            <a:r>
              <a:rPr lang="en-US" sz="2800" dirty="0">
                <a:latin typeface="Helvetica Light" panose="020B0403020202020204" pitchFamily="34" charset="0"/>
              </a:rPr>
              <a:t>: regular expression engine, text extraction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dirty="0">
                <a:latin typeface="Helvetica Light" panose="020B0403020202020204" pitchFamily="34" charset="0"/>
              </a:rPr>
              <a:t>-   </a:t>
            </a:r>
            <a:r>
              <a:rPr lang="en-US" sz="2200" dirty="0">
                <a:latin typeface="Helvetica Light" panose="020B0403020202020204" pitchFamily="34" charset="0"/>
              </a:rPr>
              <a:t>Among the most widely used </a:t>
            </a:r>
            <a:r>
              <a:rPr lang="en-US" sz="2200" dirty="0" err="1">
                <a:latin typeface="Helvetica Light" panose="020B0403020202020204" pitchFamily="34" charset="0"/>
              </a:rPr>
              <a:t>linux</a:t>
            </a:r>
            <a:r>
              <a:rPr lang="en-US" sz="2200" dirty="0">
                <a:latin typeface="Helvetica Light" panose="020B0403020202020204" pitchFamily="34" charset="0"/>
              </a:rPr>
              <a:t> commands in data science</a:t>
            </a: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200" dirty="0">
                <a:latin typeface="Helvetica Light" panose="020B0403020202020204" pitchFamily="34" charset="0"/>
              </a:rPr>
              <a:t>Works one line at a time for a given file, fast</a:t>
            </a:r>
          </a:p>
          <a:p>
            <a:pPr marL="342900" indent="-342900">
              <a:buFontTx/>
              <a:buChar char="-"/>
            </a:pPr>
            <a:endParaRPr lang="en-US" sz="2200" dirty="0">
              <a:latin typeface="Helvetica Light" panose="020B0403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200" dirty="0">
                <a:latin typeface="Helvetica Light" panose="020B0403020202020204" pitchFamily="34" charset="0"/>
              </a:rPr>
              <a:t>Returns lines containing pattern matches</a:t>
            </a:r>
          </a:p>
          <a:p>
            <a:pPr marL="800100" lvl="1" indent="-342900">
              <a:buFontTx/>
              <a:buChar char="-"/>
            </a:pPr>
            <a:r>
              <a:rPr lang="en-US" sz="2000" dirty="0">
                <a:latin typeface="Helvetica Light" panose="020B0403020202020204" pitchFamily="34" charset="0"/>
              </a:rPr>
              <a:t>The pattern can be an exact pattern, or a flexible regular expression, which we will learn about A LOT more when we start learning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9086" y="5008034"/>
            <a:ext cx="2544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 Light" panose="020B0403020202020204" pitchFamily="34" charset="0"/>
              </a:rPr>
              <a:t>$ </a:t>
            </a:r>
            <a:r>
              <a:rPr lang="en-US" b="1" dirty="0" err="1">
                <a:latin typeface="Helvetica Light" panose="020B0403020202020204" pitchFamily="34" charset="0"/>
              </a:rPr>
              <a:t>grep</a:t>
            </a:r>
            <a:r>
              <a:rPr lang="en-US" b="1" dirty="0">
                <a:latin typeface="Helvetica Light" panose="020B0403020202020204" pitchFamily="34" charset="0"/>
              </a:rPr>
              <a:t> apple </a:t>
            </a:r>
            <a:r>
              <a:rPr lang="en-US" b="1" dirty="0" err="1">
                <a:latin typeface="Helvetica Light" panose="020B0403020202020204" pitchFamily="34" charset="0"/>
              </a:rPr>
              <a:t>fruitlist.txt</a:t>
            </a:r>
            <a:endParaRPr lang="en-US" b="1" dirty="0">
              <a:latin typeface="Helvetica Light" panose="020B0403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9855" y="5654835"/>
            <a:ext cx="24104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Will return all lines containing the pattern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2368" y="4543781"/>
            <a:ext cx="2223686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applesauce</a:t>
            </a:r>
          </a:p>
          <a:p>
            <a:r>
              <a:rPr lang="en-US" dirty="0">
                <a:latin typeface="Helvetica Light" panose="020B0403020202020204" pitchFamily="34" charset="0"/>
              </a:rPr>
              <a:t>apple fritters</a:t>
            </a:r>
          </a:p>
          <a:p>
            <a:r>
              <a:rPr lang="en-US" dirty="0">
                <a:latin typeface="Helvetica Light" panose="020B0403020202020204" pitchFamily="34" charset="0"/>
              </a:rPr>
              <a:t>peach ice cream</a:t>
            </a:r>
          </a:p>
          <a:p>
            <a:r>
              <a:rPr lang="en-US" dirty="0">
                <a:latin typeface="Helvetica Light" panose="020B0403020202020204" pitchFamily="34" charset="0"/>
              </a:rPr>
              <a:t>Squash is not a fruit</a:t>
            </a:r>
          </a:p>
          <a:p>
            <a:r>
              <a:rPr lang="en-US" dirty="0">
                <a:latin typeface="Helvetica Light" panose="020B0403020202020204" pitchFamily="34" charset="0"/>
              </a:rPr>
              <a:t>banana</a:t>
            </a:r>
          </a:p>
          <a:p>
            <a:r>
              <a:rPr lang="en-US" dirty="0">
                <a:latin typeface="Helvetica Light" panose="020B0403020202020204" pitchFamily="34" charset="0"/>
              </a:rPr>
              <a:t>scrapple</a:t>
            </a:r>
          </a:p>
          <a:p>
            <a:r>
              <a:rPr lang="en-US" dirty="0">
                <a:latin typeface="Helvetica Light" panose="020B0403020202020204" pitchFamily="34" charset="0"/>
              </a:rPr>
              <a:t>strawberry</a:t>
            </a:r>
          </a:p>
          <a:p>
            <a:r>
              <a:rPr lang="en-US" dirty="0">
                <a:latin typeface="Helvetica Light" panose="020B0403020202020204" pitchFamily="34" charset="0"/>
              </a:rPr>
              <a:t>Apple festival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20074" y="4152152"/>
            <a:ext cx="2544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File contents of </a:t>
            </a:r>
            <a:r>
              <a:rPr lang="en-US" b="1" dirty="0" err="1">
                <a:latin typeface="Helvetica Light" panose="020B0403020202020204" pitchFamily="34" charset="0"/>
              </a:rPr>
              <a:t>fruitlist</a:t>
            </a:r>
            <a:r>
              <a:rPr lang="en-US" b="1" dirty="0">
                <a:latin typeface="Helvetica Light" panose="020B0403020202020204" pitchFamily="34" charset="0"/>
              </a:rPr>
              <a:t>: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3659481" y="4769556"/>
            <a:ext cx="1382887" cy="338667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3659481" y="5008034"/>
            <a:ext cx="1382887" cy="22248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659481" y="5444067"/>
            <a:ext cx="1260593" cy="642526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650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3416" y="3250993"/>
            <a:ext cx="31758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Helvetica Light" panose="020B0403020202020204" pitchFamily="34" charset="0"/>
              </a:rPr>
              <a:t>$ </a:t>
            </a:r>
            <a:r>
              <a:rPr lang="en-US" sz="2000" b="1" dirty="0" err="1">
                <a:latin typeface="Helvetica Light" panose="020B0403020202020204" pitchFamily="34" charset="0"/>
              </a:rPr>
              <a:t>grep</a:t>
            </a:r>
            <a:r>
              <a:rPr lang="en-US" sz="2000" b="1" dirty="0">
                <a:latin typeface="Helvetica Light" panose="020B0403020202020204" pitchFamily="34" charset="0"/>
              </a:rPr>
              <a:t> –c apple </a:t>
            </a:r>
            <a:r>
              <a:rPr lang="en-US" sz="2000" b="1" dirty="0" err="1">
                <a:latin typeface="Helvetica Light" panose="020B0403020202020204" pitchFamily="34" charset="0"/>
              </a:rPr>
              <a:t>fruitlist.txt</a:t>
            </a:r>
            <a:endParaRPr lang="en-US" sz="2000" b="1" dirty="0">
              <a:latin typeface="Helvetica Light" panose="020B0403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73535" y="3995919"/>
            <a:ext cx="8415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#Will return the COUNT of the number of lines containing the pattern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9559" y="1560651"/>
            <a:ext cx="46778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Helvetica Light" panose="020B0403020202020204" pitchFamily="34" charset="0"/>
              </a:rPr>
              <a:t>$ </a:t>
            </a:r>
            <a:r>
              <a:rPr lang="en-US" sz="2000" b="1" dirty="0" err="1">
                <a:latin typeface="Helvetica Light" panose="020B0403020202020204" pitchFamily="34" charset="0"/>
              </a:rPr>
              <a:t>grep</a:t>
            </a:r>
            <a:r>
              <a:rPr lang="en-US" sz="2000" b="1" dirty="0">
                <a:latin typeface="Helvetica Light" panose="020B0403020202020204" pitchFamily="34" charset="0"/>
              </a:rPr>
              <a:t> apple </a:t>
            </a:r>
            <a:r>
              <a:rPr lang="en-US" sz="2000" b="1" dirty="0" err="1">
                <a:latin typeface="Helvetica Light" panose="020B0403020202020204" pitchFamily="34" charset="0"/>
              </a:rPr>
              <a:t>fruitlist.txt</a:t>
            </a:r>
            <a:r>
              <a:rPr lang="en-US" sz="2000" b="1" dirty="0">
                <a:latin typeface="Helvetica Light" panose="020B0403020202020204" pitchFamily="34" charset="0"/>
              </a:rPr>
              <a:t> &gt; </a:t>
            </a:r>
            <a:r>
              <a:rPr lang="en-US" sz="2000" b="1" dirty="0" err="1">
                <a:latin typeface="Helvetica Light" panose="020B0403020202020204" pitchFamily="34" charset="0"/>
              </a:rPr>
              <a:t>applelines.txt</a:t>
            </a:r>
            <a:endParaRPr lang="en-US" sz="2000" b="1" dirty="0">
              <a:latin typeface="Helvetica Light" panose="020B0403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73535" y="2144497"/>
            <a:ext cx="8188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#Will write the lines containing the pattern match to the file “</a:t>
            </a:r>
            <a:r>
              <a:rPr lang="en-US" dirty="0" err="1">
                <a:latin typeface="Helvetica Light" panose="020B0403020202020204" pitchFamily="34" charset="0"/>
              </a:rPr>
              <a:t>applelines.txt</a:t>
            </a:r>
            <a:r>
              <a:rPr lang="en-US" dirty="0">
                <a:latin typeface="Helvetica Light" panose="020B0403020202020204" pitchFamily="34" charset="0"/>
              </a:rPr>
              <a:t>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7788" y="649637"/>
            <a:ext cx="55114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$ </a:t>
            </a:r>
            <a:r>
              <a:rPr lang="en-US" sz="2800" dirty="0" err="1">
                <a:latin typeface="Helvetica Light" panose="020B0403020202020204" pitchFamily="34" charset="0"/>
              </a:rPr>
              <a:t>grep</a:t>
            </a:r>
            <a:r>
              <a:rPr lang="en-US" sz="2800" dirty="0">
                <a:latin typeface="Helvetica Light" panose="020B0403020202020204" pitchFamily="34" charset="0"/>
              </a:rPr>
              <a:t> [options] &lt;pattern&gt; &lt;file&gt;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16" y="4978998"/>
            <a:ext cx="3190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Helvetica Light" panose="020B0403020202020204" pitchFamily="34" charset="0"/>
              </a:rPr>
              <a:t>$ </a:t>
            </a:r>
            <a:r>
              <a:rPr lang="en-US" sz="2000" b="1" dirty="0" err="1">
                <a:latin typeface="Helvetica Light" panose="020B0403020202020204" pitchFamily="34" charset="0"/>
              </a:rPr>
              <a:t>grep</a:t>
            </a:r>
            <a:r>
              <a:rPr lang="en-US" sz="2000" b="1" dirty="0">
                <a:latin typeface="Helvetica Light" panose="020B0403020202020204" pitchFamily="34" charset="0"/>
              </a:rPr>
              <a:t> –V apple </a:t>
            </a:r>
            <a:r>
              <a:rPr lang="en-US" sz="2000" b="1" dirty="0" err="1">
                <a:latin typeface="Helvetica Light" panose="020B0403020202020204" pitchFamily="34" charset="0"/>
              </a:rPr>
              <a:t>fruitlist.txt</a:t>
            </a:r>
            <a:endParaRPr lang="en-US" sz="2000" b="1" dirty="0">
              <a:latin typeface="Helvetica Light" panose="020B0403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3535" y="5693146"/>
            <a:ext cx="7660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#Will return the lines that DON</a:t>
            </a:r>
            <a:r>
              <a:rPr lang="fr-FR" dirty="0">
                <a:latin typeface="Helvetica Light" panose="020B0403020202020204" pitchFamily="34" charset="0"/>
              </a:rPr>
              <a:t>’</a:t>
            </a:r>
            <a:r>
              <a:rPr lang="en-US" dirty="0">
                <a:latin typeface="Helvetica Light" panose="020B0403020202020204" pitchFamily="34" charset="0"/>
              </a:rPr>
              <a:t>T match the pattern</a:t>
            </a:r>
          </a:p>
        </p:txBody>
      </p:sp>
    </p:spTree>
    <p:extLst>
      <p:ext uri="{BB962C8B-B14F-4D97-AF65-F5344CB8AC3E}">
        <p14:creationId xmlns:p14="http://schemas.microsoft.com/office/powerpoint/2010/main" val="15791326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74843" y="259047"/>
            <a:ext cx="3055645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900" dirty="0">
                <a:latin typeface="Helvetica Light" panose="020B0403020202020204" pitchFamily="34" charset="0"/>
              </a:rPr>
              <a:t>Before next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133" y="1228252"/>
            <a:ext cx="8111067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200" dirty="0">
                <a:latin typeface="Helvetica Light" panose="020B0403020202020204" pitchFamily="34" charset="0"/>
              </a:rPr>
              <a:t>Make sure you have at least looked at, if not gone through all of the examples in the </a:t>
            </a:r>
            <a:r>
              <a:rPr lang="en-US" sz="2200" dirty="0" err="1">
                <a:latin typeface="Helvetica Light" panose="020B0403020202020204" pitchFamily="34" charset="0"/>
              </a:rPr>
              <a:t>Bradnam</a:t>
            </a:r>
            <a:r>
              <a:rPr lang="en-US" sz="2200" dirty="0">
                <a:latin typeface="Helvetica Light" panose="020B0403020202020204" pitchFamily="34" charset="0"/>
              </a:rPr>
              <a:t> and Korf primer through U27 </a:t>
            </a:r>
            <a:r>
              <a:rPr lang="en-US" sz="1600" dirty="0">
                <a:latin typeface="Helvetica Light" panose="020B0403020202020204" pitchFamily="34" charset="0"/>
              </a:rPr>
              <a:t>(http://</a:t>
            </a:r>
            <a:r>
              <a:rPr lang="en-US" sz="1600" dirty="0" err="1">
                <a:latin typeface="Helvetica Light" panose="020B0403020202020204" pitchFamily="34" charset="0"/>
              </a:rPr>
              <a:t>korflab.ucdavis.edu</a:t>
            </a:r>
            <a:r>
              <a:rPr lang="en-US" sz="1600" dirty="0">
                <a:latin typeface="Helvetica Light" panose="020B0403020202020204" pitchFamily="34" charset="0"/>
              </a:rPr>
              <a:t>/</a:t>
            </a:r>
            <a:r>
              <a:rPr lang="en-US" sz="1600" dirty="0" err="1">
                <a:latin typeface="Helvetica Light" panose="020B0403020202020204" pitchFamily="34" charset="0"/>
              </a:rPr>
              <a:t>Unix_and_Perl</a:t>
            </a:r>
            <a:r>
              <a:rPr lang="en-US" sz="1600" dirty="0">
                <a:latin typeface="Helvetica Light" panose="020B0403020202020204" pitchFamily="34" charset="0"/>
              </a:rPr>
              <a:t>/current.html#part1). </a:t>
            </a: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2. Feel solid about content in chapters 4 and 5 in Haddock and Dunn, consider having a peek at Chapter 16.</a:t>
            </a:r>
          </a:p>
          <a:p>
            <a:pPr marL="342900" indent="-342900">
              <a:buAutoNum type="arabicPeriod"/>
            </a:pPr>
            <a:endParaRPr lang="en-US" sz="2200" dirty="0">
              <a:latin typeface="Helvetica Light" panose="020B0403020202020204" pitchFamily="34" charset="0"/>
            </a:endParaRPr>
          </a:p>
          <a:p>
            <a:pPr marL="342900" indent="-342900">
              <a:buAutoNum type="arabicPeriod"/>
            </a:pPr>
            <a:endParaRPr lang="en-US" sz="2200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3. Go thoroughly through </a:t>
            </a:r>
            <a:r>
              <a:rPr lang="en-US" sz="2200" dirty="0" err="1">
                <a:latin typeface="Helvetica Light" panose="020B0403020202020204" pitchFamily="34" charset="0"/>
              </a:rPr>
              <a:t>unixII_primer.md</a:t>
            </a:r>
            <a:r>
              <a:rPr lang="en-US" sz="2200" dirty="0">
                <a:latin typeface="Helvetica Light" panose="020B0403020202020204" pitchFamily="34" charset="0"/>
              </a:rPr>
              <a:t>, and</a:t>
            </a:r>
          </a:p>
          <a:p>
            <a:r>
              <a:rPr lang="en-US" sz="2200" dirty="0">
                <a:latin typeface="Helvetica Light" panose="020B0403020202020204" pitchFamily="34" charset="0"/>
              </a:rPr>
              <a:t>    unix_assignment_2.md.</a:t>
            </a:r>
          </a:p>
          <a:p>
            <a:r>
              <a:rPr lang="en-US" sz="2200" dirty="0">
                <a:latin typeface="Helvetica Light" panose="020B0403020202020204" pitchFamily="34" charset="0"/>
              </a:rPr>
              <a:t>	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**Note, I won’t ask you to turn anything in this week but may starting next week.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40114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7335" y="1149421"/>
            <a:ext cx="8033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Helvetica Light" panose="020B0403020202020204" pitchFamily="34" charset="0"/>
            </a:endParaRPr>
          </a:p>
          <a:p>
            <a:endParaRPr lang="en-US" dirty="0">
              <a:latin typeface="Helvetica Light" panose="020B0403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1470" y="533868"/>
            <a:ext cx="754565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dirty="0">
                <a:latin typeface="Helvetica Light" panose="020B0403020202020204" pitchFamily="34" charset="0"/>
              </a:rPr>
              <a:t>Independent project idea discussion?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2620" y="2296518"/>
            <a:ext cx="73942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Could be as simple as writing python scripts for everyone in the class to have for really simple things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dirty="0">
                <a:latin typeface="Helvetica Light" panose="020B0403020202020204" pitchFamily="34" charset="0"/>
              </a:rPr>
              <a:t>OR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dirty="0">
                <a:latin typeface="Helvetica Light" panose="020B0403020202020204" pitchFamily="34" charset="0"/>
              </a:rPr>
              <a:t>As complex as genome assembly and analysis pipeline.</a:t>
            </a:r>
          </a:p>
        </p:txBody>
      </p:sp>
    </p:spTree>
    <p:extLst>
      <p:ext uri="{BB962C8B-B14F-4D97-AF65-F5344CB8AC3E}">
        <p14:creationId xmlns:p14="http://schemas.microsoft.com/office/powerpoint/2010/main" val="2994961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37962</TotalTime>
  <Words>1548</Words>
  <Application>Microsoft Macintosh PowerPoint</Application>
  <PresentationFormat>On-screen Show (4:3)</PresentationFormat>
  <Paragraphs>187</Paragraphs>
  <Slides>25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Helvetica Light</vt:lpstr>
      <vt:lpstr>Helvetica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Nevada Reno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Parchman</dc:creator>
  <cp:lastModifiedBy>Thomas L Parchman</cp:lastModifiedBy>
  <cp:revision>162</cp:revision>
  <dcterms:created xsi:type="dcterms:W3CDTF">2014-08-13T00:20:10Z</dcterms:created>
  <dcterms:modified xsi:type="dcterms:W3CDTF">2026-09-01T01:08:26Z</dcterms:modified>
</cp:coreProperties>
</file>